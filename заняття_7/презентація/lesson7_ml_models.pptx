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5"/>
    <p:restoredTop sz="96842"/>
  </p:normalViewPr>
  <p:slideViewPr>
    <p:cSldViewPr snapToGrid="0" snapToObjects="1">
      <p:cViewPr varScale="1">
        <p:scale>
          <a:sx n="193" d="100"/>
          <a:sy n="193" d="100"/>
        </p:scale>
        <p:origin x="3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1351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9144000" cy="36576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8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АІ додатків з </a:t>
            </a:r>
            <a:r>
              <a:rPr lang="en-US" sz="18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Порівняння моделей ML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A3350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572768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A3350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2606040" y="15727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572768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A3350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754880" y="15727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1572768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A3350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903720" y="15727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Порівнюємо підходи — від лінійних моделей до ансамблів і метрик класифікації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scikit-learn · XGBoost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заняття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 не один алгоритм — а порівняння підходів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73936" y="1978807"/>
            <a:ext cx="310896" cy="274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02336" y="1521607"/>
            <a:ext cx="1600200" cy="2651760"/>
          </a:xfrm>
          <a:prstGeom prst="rect">
            <a:avLst/>
          </a:prstGeom>
          <a:solidFill>
            <a:srgbClr val="112233"/>
          </a:solidFill>
          <a:ln w="12700">
            <a:solidFill>
              <a:srgbClr val="3B9EE8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02336" y="1521607"/>
            <a:ext cx="1600200" cy="34747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02336" y="1521607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" y="1951375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335423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PolynomialFeatures, train vs test R²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56432" y="1978807"/>
            <a:ext cx="310896" cy="274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2084832" y="1521607"/>
            <a:ext cx="1600200" cy="2651760"/>
          </a:xfrm>
          <a:prstGeom prst="rect">
            <a:avLst/>
          </a:prstGeom>
          <a:solidFill>
            <a:srgbClr val="112233"/>
          </a:solidFill>
          <a:ln w="12700">
            <a:solidFill>
              <a:srgbClr val="F97316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2084832" y="1521607"/>
            <a:ext cx="160020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2084832" y="1521607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57984" y="1951375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57984" y="2335423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Lasso, Ridge, L1 vs L2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38928" y="1978807"/>
            <a:ext cx="310896" cy="274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3767328" y="1521607"/>
            <a:ext cx="1600200" cy="2651760"/>
          </a:xfrm>
          <a:prstGeom prst="rect">
            <a:avLst/>
          </a:prstGeom>
          <a:solidFill>
            <a:srgbClr val="112233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3767328" y="1521607"/>
            <a:ext cx="160020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3767328" y="1521607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0" y="1951375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2335423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DecisionTreeRegressor, feature importances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21424" y="1978807"/>
            <a:ext cx="310896" cy="274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5449824" y="1521607"/>
            <a:ext cx="1600200" cy="2651760"/>
          </a:xfrm>
          <a:prstGeom prst="rect">
            <a:avLst/>
          </a:prstGeom>
          <a:solidFill>
            <a:srgbClr val="112233"/>
          </a:solidFill>
          <a:ln w="12700">
            <a:solidFill>
              <a:srgbClr val="FACC15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5449824" y="1521607"/>
            <a:ext cx="1600200" cy="34747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5449824" y="1521607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22976" y="1951375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22976" y="2335423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RandomForest, XGBoost, зведена таблиця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32320" y="1521607"/>
            <a:ext cx="1600200" cy="2651760"/>
          </a:xfrm>
          <a:prstGeom prst="rect">
            <a:avLst/>
          </a:prstGeom>
          <a:solidFill>
            <a:srgbClr val="112233"/>
          </a:solidFill>
          <a:ln w="12700">
            <a:solidFill>
              <a:srgbClr val="EF4444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7132320" y="1521607"/>
            <a:ext cx="16002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7132320" y="1521607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05472" y="1951375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05472" y="2335423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LogisticRegression, confusion matrix, F1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Поліноміальні ознаки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стає гнучкішою — але де межа?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559052"/>
            <a:ext cx="4023360" cy="210312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16322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9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Ідея PolynomialFeatures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0162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Маємо ознаку  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2905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degree=2  →  додаємо  x²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648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degree=3  →  додаємо  x², x³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8392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degree=n  →  додаємо  всі ступені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1135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310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однієї ознаки → багато нових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559052"/>
            <a:ext cx="4023360" cy="210312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800600" y="16322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9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 змінюється апроксимація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2016252"/>
            <a:ext cx="91440" cy="23774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956048" y="20162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degree=1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99632" y="20162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Пряма лінія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400300"/>
            <a:ext cx="91440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956048" y="24003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degree=2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9632" y="24003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Парабола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784348"/>
            <a:ext cx="91440" cy="23774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956048" y="27843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degree=5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99632" y="27843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Починає згинатись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168396"/>
            <a:ext cx="9144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956048" y="31683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degree=10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9632" y="31683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Хаотичні коливання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799332"/>
            <a:ext cx="8321040" cy="594360"/>
          </a:xfrm>
          <a:prstGeom prst="rect">
            <a:avLst/>
          </a:prstGeom>
          <a:solidFill>
            <a:srgbClr val="1A2F4A"/>
          </a:solidFill>
          <a:ln w="12700">
            <a:solidFill>
              <a:srgbClr val="F97316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48640" y="38907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Висока точність на train — ще не гарантія корисної моделі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Degree 1 → 10: від недонавчання до overfitting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011680" cy="3474720"/>
          </a:xfrm>
          <a:prstGeom prst="rect">
            <a:avLst/>
          </a:prstGeom>
          <a:solidFill>
            <a:srgbClr val="162840"/>
          </a:solidFill>
          <a:ln w="12700">
            <a:solidFill>
              <a:srgbClr val="8899AA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011680" cy="38404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degree=1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99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Недонавчання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 лінія не вловлює закономірності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737360" cy="50292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21208" y="25786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  </a:t>
            </a: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  </a:t>
            </a:r>
            <a:r>
              <a:rPr lang="en-US" sz="10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2011680" cy="3474720"/>
          </a:xfrm>
          <a:prstGeom prst="rect">
            <a:avLst/>
          </a:prstGeom>
          <a:solidFill>
            <a:srgbClr val="162840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2468880" y="960120"/>
            <a:ext cx="201168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2468880" y="960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degree=2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Добре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вловлює основну форму даних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06040" y="2514600"/>
            <a:ext cx="1737360" cy="50292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2670048" y="25786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  </a:t>
            </a: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  </a:t>
            </a: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960120"/>
            <a:ext cx="2011680" cy="3474720"/>
          </a:xfrm>
          <a:prstGeom prst="rect">
            <a:avLst/>
          </a:prstGeom>
          <a:solidFill>
            <a:srgbClr val="162840"/>
          </a:solidFill>
          <a:ln w="12700">
            <a:solidFill>
              <a:srgbClr val="FACC15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617720" y="960120"/>
            <a:ext cx="2011680" cy="384048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617720" y="960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degree=5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Починається перефіт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зростає, test починає падати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514600"/>
            <a:ext cx="1737360" cy="50292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818888" y="25786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  </a:t>
            </a: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  </a:t>
            </a:r>
            <a:r>
              <a:rPr lang="en-US" sz="10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960120"/>
            <a:ext cx="2011680" cy="3474720"/>
          </a:xfrm>
          <a:prstGeom prst="rect">
            <a:avLst/>
          </a:prstGeom>
          <a:solidFill>
            <a:srgbClr val="162840"/>
          </a:solidFill>
          <a:ln w="12700">
            <a:solidFill>
              <a:srgbClr val="EF4444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6766560" y="960120"/>
            <a:ext cx="201168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766560" y="960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degree=10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запам'ятала шум замість патерну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903720" y="2514600"/>
            <a:ext cx="1737360" cy="50292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6967728" y="25786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  </a:t>
            </a: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  </a:t>
            </a:r>
            <a:r>
              <a:rPr lang="en-US" sz="10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3B9EE8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train R² завжди зростає з degree. Орієнтуємось на test R²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vs Test R²: де модель ламається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Висока оцінка на train не означає корисну модель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193825"/>
              </p:ext>
            </p:extLst>
          </p:nvPr>
        </p:nvGraphicFramePr>
        <p:xfrm>
          <a:off x="731520" y="1216152"/>
          <a:ext cx="7680960" cy="2057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Degree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Висновок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Недонавчання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Баланс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Починається перефіт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411480" y="3520440"/>
            <a:ext cx="8321040" cy="1280160"/>
          </a:xfrm>
          <a:prstGeom prst="rect">
            <a:avLst/>
          </a:prstGeom>
          <a:solidFill>
            <a:srgbClr val="112233"/>
          </a:solidFill>
          <a:ln w="12700">
            <a:solidFill>
              <a:srgbClr val="F97316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594360" y="3611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Чому це важливо?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395020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Модель з degree=10 «знає» відповіді на тренувальні дані напам'ять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418795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На нових даних — катастрофа. Test R²=0.12 гірший за просте середнє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4425696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Завжди оцінюємо модель на даних, яких вона не бачила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регуляризація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5394960" cy="192024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9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Аналогія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5029200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Уявіть штраф за перевищення швидкості.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Чим швидше їдеш - тим більший штраф.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хоче «їхати швидко» (підганяти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кожну точку), але ми штрафуємо за це.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3063240"/>
            <a:ext cx="5394960" cy="96012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94360" y="31272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 штрафу: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4015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</a:t>
            </a:r>
            <a:r>
              <a:rPr lang="en-US" sz="15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</a:t>
            </a:r>
            <a:r>
              <a:rPr lang="en-US" sz="1500" dirty="0">
                <a:solidFill>
                  <a:srgbClr val="3B9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</a:t>
            </a:r>
            <a:r>
              <a:rPr lang="en-US" sz="15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α *  </a:t>
            </a:r>
            <a:r>
              <a:rPr lang="en-US" sz="15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penalty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89320" y="1005840"/>
            <a:ext cx="2743200" cy="301752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172200" y="10789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9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 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463040"/>
            <a:ext cx="2560320" cy="50292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144768" y="1508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=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67728" y="15087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штрафу → звичайна регресія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2057400"/>
            <a:ext cx="2560320" cy="50292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6144768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мале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67728" y="21031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Слабкий штраф, невелика регуляризація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2651760"/>
            <a:ext cx="2560320" cy="50292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144768" y="26974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велике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67728" y="26974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Сильний штраф, проста модель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3246120"/>
            <a:ext cx="2560320" cy="50292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6144768" y="32918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→ </a:t>
            </a:r>
            <a:r>
              <a:rPr lang="en-US" sz="14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∞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67728" y="3291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коефіцієнти → 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vs Lasso: поведінка коефіцієнтів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різних штрафи — два різних результати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60642"/>
            <a:ext cx="4023360" cy="3291840"/>
          </a:xfrm>
          <a:prstGeom prst="rect">
            <a:avLst/>
          </a:prstGeom>
          <a:solidFill>
            <a:srgbClr val="162840"/>
          </a:solidFill>
          <a:ln w="12700">
            <a:solidFill>
              <a:srgbClr val="3B9EE8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1360642"/>
            <a:ext cx="4023360" cy="384048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02920" y="136064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 (L2 penalty)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4527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9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penalty = Σ wᵢ²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24761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Штрафує суму квадратів коефіцієнтів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64080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Усі коефіцієнти зменшуються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07608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Жоден не стає точно нулем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357477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Корисно: всі ознаки важливі,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потрібно лише зменшити вплив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149562"/>
            <a:ext cx="384048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94360" y="418613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9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Ridge(alpha=1.0)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360642"/>
            <a:ext cx="4023360" cy="3291840"/>
          </a:xfrm>
          <a:prstGeom prst="rect">
            <a:avLst/>
          </a:prstGeom>
          <a:solidFill>
            <a:srgbClr val="162840"/>
          </a:solidFill>
          <a:ln w="12700">
            <a:solidFill>
              <a:srgbClr val="F97316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709160" y="1360642"/>
            <a:ext cx="402336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800600" y="136064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 (L1 penalty)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84527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penalty = Σ |wᵢ|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24761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Штрафує суму модулів коефіцієнтів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264080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Частина коефіцієнтів стає точно 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307608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Автоматичний відбір ознак!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3574849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Корисно: є нерелевантні ознаки,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хочемо спростити модель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00600" y="4149562"/>
            <a:ext cx="3840480" cy="365760"/>
          </a:xfrm>
          <a:prstGeom prst="rect">
            <a:avLst/>
          </a:prstGeom>
          <a:solidFill>
            <a:srgbClr val="2A1A0A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892040" y="418613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Lasso(alpha=0.1)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 і результати: три моделі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411480" y="1147572"/>
            <a:ext cx="5120640" cy="324612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02920" y="1440180"/>
            <a:ext cx="4937760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sklearn.linear_model </a:t>
            </a: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LinearRegression, Lasso, Ridge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'Linear'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LinearRegression(),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'Lasso'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Lasso(</a:t>
            </a:r>
            <a:r>
              <a:rPr lang="en-US" sz="1100" dirty="0">
                <a:solidFill>
                  <a:srgbClr val="3B9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</a:t>
            </a: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'Ridge'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Ridge(</a:t>
            </a:r>
            <a:r>
              <a:rPr lang="en-US" sz="1100" dirty="0">
                <a:solidFill>
                  <a:srgbClr val="3B9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</a:t>
            </a: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name, model </a:t>
            </a: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models.items():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model.fit(X_train, y_train)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    train_r2 = model.score(X_train, y_train)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    test_r2  = model.score(X_test, y_test)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cs typeface="Courier New" pitchFamily="34" charset="-120"/>
              </a:rPr>
              <a:t>    nonzero  = np.sum(model.coef_ </a:t>
            </a:r>
            <a:r>
              <a:rPr lang="en-US" sz="1100" dirty="0">
                <a:solidFill>
                  <a:srgbClr val="F97316"/>
                </a:solidFill>
                <a:latin typeface="Courier New" pitchFamily="34" charset="0"/>
                <a:cs typeface="Courier New" pitchFamily="34" charset="-120"/>
              </a:rPr>
              <a:t>!=</a:t>
            </a: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534168"/>
              </p:ext>
            </p:extLst>
          </p:nvPr>
        </p:nvGraphicFramePr>
        <p:xfrm>
          <a:off x="5669280" y="1193292"/>
          <a:ext cx="3063240" cy="1688592"/>
        </p:xfrm>
        <a:graphic>
          <a:graphicData uri="http://schemas.openxmlformats.org/drawingml/2006/table">
            <a:tbl>
              <a:tblPr/>
              <a:tblGrid>
                <a:gridCol w="950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5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Модель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Train R²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 R²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Ненульових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LinearRegression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 / 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Lasso(0.1)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ACC1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/ 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B9E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Ridge(1.0)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 / 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669280" y="3204972"/>
            <a:ext cx="3063240" cy="1188720"/>
          </a:xfrm>
          <a:prstGeom prst="rect">
            <a:avLst/>
          </a:prstGeom>
          <a:solidFill>
            <a:srgbClr val="112233"/>
          </a:solidFill>
          <a:ln w="12700">
            <a:solidFill>
              <a:srgbClr val="3B9EE8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5806440" y="32781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9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занулив 5 з 8 ознак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06440" y="357987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модель автоматично відібрала найважливіші ознаки, не втративши якість</a:t>
            </a:r>
            <a:endParaRPr lang="en-US" sz="105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C7E8045A-6EFE-249A-8FEF-370C3133CFF2}"/>
              </a:ext>
            </a:extLst>
          </p:cNvPr>
          <p:cNvSpPr/>
          <p:nvPr/>
        </p:nvSpPr>
        <p:spPr>
          <a:xfrm>
            <a:off x="502920" y="123901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C11BE464-A2EE-7329-5C16-41EC3E7270FB}"/>
              </a:ext>
            </a:extLst>
          </p:cNvPr>
          <p:cNvSpPr/>
          <p:nvPr/>
        </p:nvSpPr>
        <p:spPr>
          <a:xfrm>
            <a:off x="704088" y="123901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5D65B8D3-464A-F141-3AF2-A7DCE8D98A46}"/>
              </a:ext>
            </a:extLst>
          </p:cNvPr>
          <p:cNvSpPr/>
          <p:nvPr/>
        </p:nvSpPr>
        <p:spPr>
          <a:xfrm>
            <a:off x="905256" y="123901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Дерево рішень: як це працює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гра у 20 запитань — кожен вузол ставить питання до даних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66160" y="118464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1A3A5C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566160" y="11846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MedInc &gt; 5.0 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flipH="1">
            <a:off x="3108960" y="1660128"/>
            <a:ext cx="1463040" cy="493776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4572000" y="1660128"/>
            <a:ext cx="1463040" cy="512064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3383280" y="17867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77840" y="17972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2" y="216304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1A3A5C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2011682" y="21630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&gt; 4 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37762" y="216304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1A3A5C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937762" y="21630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&lt; 34 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flipH="1">
            <a:off x="1586974" y="2647680"/>
            <a:ext cx="1405609" cy="676656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2992586" y="2647680"/>
            <a:ext cx="573564" cy="676656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 flipH="1">
            <a:off x="5404042" y="2638536"/>
            <a:ext cx="573564" cy="676656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5977606" y="2638536"/>
            <a:ext cx="1579419" cy="681228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674842" y="3324336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112233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674842" y="33243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Ціна висока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29844" y="3324336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112233"/>
          </a:solidFill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2629844" y="33243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Ціна середня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328908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112233"/>
          </a:solidFill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572000" y="33289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Ціна середня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27002" y="3324336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112233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6527002" y="33243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Ціна низька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931919"/>
            <a:ext cx="8321040" cy="1033045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94360" y="40233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Кожен вузол ділить дані за однією умовою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" y="43159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Листки (leaf nodes) — фінальні передбачення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4360" y="460857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max_depth контролює глибину — захищає від overfitting</a:t>
            </a:r>
            <a:endParaRPr lang="en-US" sz="115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D7BEB02F-027C-0046-C56D-505E9A5C89BA}"/>
              </a:ext>
            </a:extLst>
          </p:cNvPr>
          <p:cNvSpPr/>
          <p:nvPr/>
        </p:nvSpPr>
        <p:spPr>
          <a:xfrm>
            <a:off x="2032839" y="28143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</a:t>
            </a:r>
            <a:endParaRPr lang="en-US" sz="100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80B232AF-9A02-BCB2-FC15-49C207F40184}"/>
              </a:ext>
            </a:extLst>
          </p:cNvPr>
          <p:cNvSpPr/>
          <p:nvPr/>
        </p:nvSpPr>
        <p:spPr>
          <a:xfrm>
            <a:off x="5404039" y="283562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</a:t>
            </a:r>
            <a:endParaRPr lang="en-US" sz="1000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9A425833-A8A6-FE76-DBD3-5CBEC93E342D}"/>
              </a:ext>
            </a:extLst>
          </p:cNvPr>
          <p:cNvSpPr/>
          <p:nvPr/>
        </p:nvSpPr>
        <p:spPr>
          <a:xfrm>
            <a:off x="6923001" y="28143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00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789041C8-C400-BF16-8452-86724D6D084D}"/>
              </a:ext>
            </a:extLst>
          </p:cNvPr>
          <p:cNvSpPr/>
          <p:nvPr/>
        </p:nvSpPr>
        <p:spPr>
          <a:xfrm>
            <a:off x="3337547" y="2814311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DecisionTreeRegressor: код і результати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5029200" cy="274320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02920" y="1252728"/>
            <a:ext cx="48463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sklearn.datasets </a:t>
            </a: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fetch_california_housing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sklearn.tree </a:t>
            </a: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DecisionTreeRegressor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fetch_california_housing(return_X_y=</a:t>
            </a: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DecisionTreeRegressor(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max_depth=</a:t>
            </a: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random_state=</a:t>
            </a: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154680" cy="384048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715000" y="1024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9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50992" y="14173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MedInc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1444752"/>
            <a:ext cx="1283818" cy="23774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8013802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50992" y="1920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Latitude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1947672"/>
            <a:ext cx="444398" cy="23774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7174382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50992" y="24231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Longitude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2450592"/>
            <a:ext cx="296266" cy="23774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7026250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50992" y="29260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AveRooms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2953512"/>
            <a:ext cx="222199" cy="23774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6952183" y="2926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50992" y="34290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3456432"/>
            <a:ext cx="148133" cy="23774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6878117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50992" y="3931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75120" y="3959352"/>
            <a:ext cx="74066" cy="237744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6804050" y="3931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3657600"/>
            <a:ext cx="5029200" cy="114300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640080" y="3767328"/>
            <a:ext cx="4572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R²  </a:t>
            </a: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R²   </a:t>
            </a:r>
            <a:r>
              <a:rPr lang="en-US" sz="13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0.74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max_depth=5 стримує overfitting</a:t>
            </a:r>
            <a:endParaRPr lang="en-US" sz="12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AB186829-9DE9-C1C7-A23C-04AD0E17F815}"/>
              </a:ext>
            </a:extLst>
          </p:cNvPr>
          <p:cNvSpPr/>
          <p:nvPr/>
        </p:nvSpPr>
        <p:spPr>
          <a:xfrm>
            <a:off x="502920" y="106070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849B3E3F-BFFE-1FC7-5A50-429D876A66FC}"/>
              </a:ext>
            </a:extLst>
          </p:cNvPr>
          <p:cNvSpPr/>
          <p:nvPr/>
        </p:nvSpPr>
        <p:spPr>
          <a:xfrm>
            <a:off x="704088" y="106070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C6CDE380-FCEA-E46B-6BD2-746CB8D19F9C}"/>
              </a:ext>
            </a:extLst>
          </p:cNvPr>
          <p:cNvSpPr/>
          <p:nvPr/>
        </p:nvSpPr>
        <p:spPr>
          <a:xfrm>
            <a:off x="905256" y="106070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Forest: рада з 100 експертів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3474720" cy="1705394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9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Аналогія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2930" y="1108691"/>
            <a:ext cx="32004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Одне дерево — один експерт.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Його думка може бути упередженою.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рада з 100 експертів.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бачить частину картини.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— середнє їхніх думок.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96012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62840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114800" y="9601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9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49140" y="1307592"/>
            <a:ext cx="0" cy="32004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160520" y="1627632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0A111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160520" y="16276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0" y="96012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120640" y="9601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9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54980" y="1307592"/>
            <a:ext cx="0" cy="32004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5166360" y="1627632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0A111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166360" y="16276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96012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62840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6126480" y="9601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9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60820" y="1307592"/>
            <a:ext cx="0" cy="32004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6172200" y="1627632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0A111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6172200" y="16276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32320" y="96012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62840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7132320" y="9601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9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66660" y="1307592"/>
            <a:ext cx="0" cy="32004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7178040" y="1627632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0A111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7178040" y="16276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0" y="2029968"/>
            <a:ext cx="3931920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4937760" y="2212848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4937760" y="22128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Середнє → фінал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2743200"/>
            <a:ext cx="4572000" cy="219456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502920" y="3035808"/>
            <a:ext cx="438912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sklearn.ensemble </a:t>
            </a: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RandomForestRegressor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RandomForestRegressor(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n_estimators=</a:t>
            </a: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</a:t>
            </a: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rf.fit(X_train, y_train)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66360" y="2743200"/>
            <a:ext cx="3566160" cy="219456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6" name="Text 34"/>
          <p:cNvSpPr/>
          <p:nvPr/>
        </p:nvSpPr>
        <p:spPr>
          <a:xfrm>
            <a:off x="5321808" y="28163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9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Порівняння</a:t>
            </a:r>
            <a:endParaRPr lang="en-US" sz="13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3154680"/>
          <a:ext cx="3429000" cy="13716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Модель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Train R²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 R²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DecisionTree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ACC1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ACC1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RandomForest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" name="Shape 9">
            <a:extLst>
              <a:ext uri="{FF2B5EF4-FFF2-40B4-BE49-F238E27FC236}">
                <a16:creationId xmlns:a16="http://schemas.microsoft.com/office/drawing/2014/main" id="{B55AA58D-4CAB-8F4A-8E21-AF094D6A743B}"/>
              </a:ext>
            </a:extLst>
          </p:cNvPr>
          <p:cNvSpPr/>
          <p:nvPr/>
        </p:nvSpPr>
        <p:spPr>
          <a:xfrm>
            <a:off x="502920" y="284839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AE0A206A-EDB8-4BA6-7A42-41B6B646B0EC}"/>
              </a:ext>
            </a:extLst>
          </p:cNvPr>
          <p:cNvSpPr/>
          <p:nvPr/>
        </p:nvSpPr>
        <p:spPr>
          <a:xfrm>
            <a:off x="704088" y="284839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7410B676-8D30-B4B2-458F-8BC3D617EA7C}"/>
              </a:ext>
            </a:extLst>
          </p:cNvPr>
          <p:cNvSpPr/>
          <p:nvPr/>
        </p:nvSpPr>
        <p:spPr>
          <a:xfrm>
            <a:off x="905256" y="284839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XGBoost: boosting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5029200" cy="1257295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Ідея Boosting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18415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100 дерев незалежно, потім середнє.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кожне наступне дерево виправляє помилки попереднього.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студент, що після кожного іспиту вивчає саме те, де помилився.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441447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0A111A"/>
          </a:solidFill>
          <a:ln w="1905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02920" y="2441447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(базова)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74520" y="2761487"/>
            <a:ext cx="6858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2057400" y="2441447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0A111A"/>
          </a:solidFill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2057400" y="2441447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(+помилки T1)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29000" y="2761487"/>
            <a:ext cx="6858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657600" y="2441447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0A111A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3657600" y="2441447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3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(+помилки T2)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0" y="2761487"/>
            <a:ext cx="6858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257800" y="2441447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0A111A"/>
          </a:solidFill>
          <a:ln w="1905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257800" y="2441447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2761487"/>
            <a:ext cx="0" cy="0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6858000" y="2441447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112233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6858000" y="2441447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Фінал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(сума всіх)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264407"/>
            <a:ext cx="8321040" cy="1563617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02920" y="3557015"/>
            <a:ext cx="8138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Варіант 1: якщо xgboost встановлено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xgboost </a:t>
            </a: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XGBRegressor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XGBRegressor(n_estimators=</a:t>
            </a: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random_state=</a:t>
            </a: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Варіант 2: fallback через sklearn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sklearn.ensemble </a:t>
            </a: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GradientBoostingRegressor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GradientBoostingRegressor(n_estimators=</a:t>
            </a: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B156D283-3613-C6FD-129B-C93D15940E4A}"/>
              </a:ext>
            </a:extLst>
          </p:cNvPr>
          <p:cNvSpPr/>
          <p:nvPr/>
        </p:nvSpPr>
        <p:spPr>
          <a:xfrm>
            <a:off x="502920" y="3355847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42A7DA1C-B590-EDF4-2EF8-3D0A2874ABD5}"/>
              </a:ext>
            </a:extLst>
          </p:cNvPr>
          <p:cNvSpPr/>
          <p:nvPr/>
        </p:nvSpPr>
        <p:spPr>
          <a:xfrm>
            <a:off x="704088" y="3355847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2B67F3B3-7AE2-7307-2D90-B8810745B804}"/>
              </a:ext>
            </a:extLst>
          </p:cNvPr>
          <p:cNvSpPr/>
          <p:nvPr/>
        </p:nvSpPr>
        <p:spPr>
          <a:xfrm>
            <a:off x="905256" y="3355847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Зведена таблиця регресійних моделей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Всі моделі порівнюємо на однаковому train/test split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709580"/>
              </p:ext>
            </p:extLst>
          </p:nvPr>
        </p:nvGraphicFramePr>
        <p:xfrm>
          <a:off x="411480" y="1188720"/>
          <a:ext cx="8321040" cy="332841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Модель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Train R²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 R²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Особливість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LinearRegression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Базова лінія, інтерпретована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973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Lasso(0.1)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L1, feature selection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B9E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Ridge(1.0)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L2, стабільні коефіцієнти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DecisionTree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ACC1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ACC1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Нелінійне, нестабільне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RandomForest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Ансамбль, стабільніший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73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XGBoost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Boosting, часто найкращий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solidFill>
            <a:srgbClr val="112233"/>
          </a:solidFill>
          <a:ln w="12700">
            <a:solidFill>
              <a:srgbClr val="3B9EE8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548640" y="47274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Один split для всіх — інакше порівняння некоректне.  random_state=42 скрізь.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vs Classification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Інша задача — інші метрики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23360" cy="3419856"/>
          </a:xfrm>
          <a:prstGeom prst="rect">
            <a:avLst/>
          </a:prstGeom>
          <a:solidFill>
            <a:srgbClr val="162840"/>
          </a:solidFill>
          <a:ln w="12700">
            <a:solidFill>
              <a:srgbClr val="3B9EE8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4023360" cy="384048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 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Передбачаємо число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0391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Ціна квартири: $245,000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3865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Температура: 23.4°C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7340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Продажі: 1,243 одиниці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081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Площа: 87.5 м²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502152"/>
            <a:ext cx="384048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94360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9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Метрика: R², MAE, RMSE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170432"/>
            <a:ext cx="4023360" cy="3433572"/>
          </a:xfrm>
          <a:prstGeom prst="rect">
            <a:avLst/>
          </a:prstGeom>
          <a:solidFill>
            <a:srgbClr val="162840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709160" y="1170432"/>
            <a:ext cx="402336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800600" y="1170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 🏷️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645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Передбачаємо клас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0391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Хворий / здоровий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3865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Спам / не спам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7340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🔴🔵  Клас 0 / Клас 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081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 Setosa / Versicolor / Virginica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3502152"/>
            <a:ext cx="3840480" cy="292608"/>
          </a:xfrm>
          <a:prstGeom prst="rect">
            <a:avLst/>
          </a:prstGeom>
          <a:solidFill>
            <a:srgbClr val="0A2A0A"/>
          </a:solidFill>
          <a:ln w="12700">
            <a:solidFill>
              <a:srgbClr val="0A2A0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892040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Метрика: Accuracy, F1, Recall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727448"/>
            <a:ext cx="8321040" cy="292608"/>
          </a:xfrm>
          <a:prstGeom prst="rect">
            <a:avLst/>
          </a:prstGeom>
          <a:solidFill>
            <a:srgbClr val="1A2F1A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548640" y="4773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Не можна застосовувати метрики regression до classification і навпаки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LogisticRegression на Breast Cancer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14800" cy="161163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9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Датасет Breast Cancer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569 зразків пухлин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16063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 числових ознак (радіус, текстура...)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84689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класи: malignant (злоякісна) / benign (доброякісна)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08463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Реальна медична задача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69080" cy="1611630"/>
          </a:xfrm>
          <a:prstGeom prst="rect">
            <a:avLst/>
          </a:prstGeom>
          <a:solidFill>
            <a:srgbClr val="1A2F1A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846320" y="1024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Важливо про LogisticRegression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344168"/>
            <a:ext cx="3749040" cy="961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Незважаючи на назву — це класифікатор.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Повертає ймовірність належності до класу,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потім присвоює клас за порогом 0.5.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644902"/>
            <a:ext cx="8321040" cy="2389866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02920" y="2937510"/>
            <a:ext cx="8138160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sklearn.datasets </a:t>
            </a: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load_breast_cancer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sklearn.linear_model </a:t>
            </a: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LogisticRegression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sklearn.model_selection </a:t>
            </a: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train_test_split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load_breast_cancer(return_X_y=</a:t>
            </a:r>
            <a:r>
              <a:rPr lang="en-US" sz="10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</a:t>
            </a: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random_state=</a:t>
            </a: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LogisticRegression(max_iter=</a:t>
            </a: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model.predict(X_test)</a:t>
            </a:r>
            <a:endParaRPr lang="en-US" sz="1050" dirty="0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CCEC65C6-6509-9D33-C4AD-62701DD45A26}"/>
              </a:ext>
            </a:extLst>
          </p:cNvPr>
          <p:cNvSpPr/>
          <p:nvPr/>
        </p:nvSpPr>
        <p:spPr>
          <a:xfrm>
            <a:off x="502920" y="273634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57135C6B-E44C-3130-9D6B-F2AA47A77CC4}"/>
              </a:ext>
            </a:extLst>
          </p:cNvPr>
          <p:cNvSpPr/>
          <p:nvPr/>
        </p:nvSpPr>
        <p:spPr>
          <a:xfrm>
            <a:off x="704088" y="273634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F00206AE-027A-2E8A-D641-112252590533}"/>
              </a:ext>
            </a:extLst>
          </p:cNvPr>
          <p:cNvSpPr/>
          <p:nvPr/>
        </p:nvSpPr>
        <p:spPr>
          <a:xfrm>
            <a:off x="905256" y="273634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Деталізований погляд на помилки моделі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8716" y="12161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Передбачено: Хворий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69228" y="12161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Передбачено: Здоровий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0348" y="1819656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Хворий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0348" y="3355848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Здоровий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8716" y="1545336"/>
            <a:ext cx="1737360" cy="1463040"/>
          </a:xfrm>
          <a:prstGeom prst="rect">
            <a:avLst/>
          </a:prstGeom>
          <a:solidFill>
            <a:srgbClr val="0A2A0A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858716" y="16184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31868" y="2039112"/>
            <a:ext cx="159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Модель: хворий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Факт: хворий ✅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69228" y="1545336"/>
            <a:ext cx="1737360" cy="1463040"/>
          </a:xfrm>
          <a:prstGeom prst="rect">
            <a:avLst/>
          </a:prstGeom>
          <a:solidFill>
            <a:srgbClr val="2A0A0A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2669228" y="16184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2380" y="2039112"/>
            <a:ext cx="159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Модель: здоровий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Факт: хворий ⚠️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58716" y="3145536"/>
            <a:ext cx="1737360" cy="1463040"/>
          </a:xfrm>
          <a:prstGeom prst="rect">
            <a:avLst/>
          </a:prstGeom>
          <a:solidFill>
            <a:srgbClr val="2A1A0A"/>
          </a:solidFill>
          <a:ln w="254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858716" y="32186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31868" y="3639312"/>
            <a:ext cx="159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Модель: хворий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Факт: здоровий ⚠️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69228" y="3145536"/>
            <a:ext cx="1737360" cy="1463040"/>
          </a:xfrm>
          <a:prstGeom prst="rect">
            <a:avLst/>
          </a:prstGeom>
          <a:solidFill>
            <a:srgbClr val="0A2A0A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2669228" y="32186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742380" y="3639312"/>
            <a:ext cx="159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Модель: здоровий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Факт: здоровий 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97791" y="1155270"/>
            <a:ext cx="4134729" cy="346956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780671" y="1219278"/>
            <a:ext cx="3779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9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важливо розуміти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9231" y="1585038"/>
            <a:ext cx="3977640" cy="64008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808103" y="1630758"/>
            <a:ext cx="36586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TP + TN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8103" y="1886790"/>
            <a:ext cx="3658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Правильні передбачення — модель не помилилась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89231" y="2334846"/>
            <a:ext cx="3977640" cy="64008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4808103" y="2380566"/>
            <a:ext cx="36586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FN (пропущений хворий)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8103" y="2636598"/>
            <a:ext cx="3658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Найнебезпечніша помилка в медицині — не знайшли хворого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89231" y="3084654"/>
            <a:ext cx="3977640" cy="64008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808103" y="3130374"/>
            <a:ext cx="37524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FP (хибна тривога)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8103" y="3386406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Сказали 'хворий' — виявилось здоровий. Неприємно, але менш критично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89231" y="3834462"/>
            <a:ext cx="3977640" cy="64008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4808103" y="3880182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Мета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8103" y="413621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Мінімізувати помилки залежно від задачі. В медицині — FN критичніший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Accuracy, Precision, Recall, F1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292608" y="960120"/>
            <a:ext cx="2029968" cy="3794760"/>
          </a:xfrm>
          <a:prstGeom prst="rect">
            <a:avLst/>
          </a:prstGeom>
          <a:solidFill>
            <a:srgbClr val="162840"/>
          </a:solidFill>
          <a:ln w="12700">
            <a:solidFill>
              <a:srgbClr val="3B9EE8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92608" y="960120"/>
            <a:ext cx="2029968" cy="34747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292608" y="96012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1389888"/>
            <a:ext cx="1847088" cy="50292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29768" y="14356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9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(TP + TN) / всього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99339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Частка правильних відповідей серед усіх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2816352"/>
            <a:ext cx="1847088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384048" y="288950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3090672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класи збалансовані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248" y="3703320"/>
            <a:ext cx="932688" cy="0"/>
          </a:xfrm>
          <a:prstGeom prst="line">
            <a:avLst/>
          </a:prstGeom>
          <a:solidFill>
            <a:srgbClr val="0A111A"/>
          </a:solidFill>
          <a:ln w="254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841248" y="370332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9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68880" y="960120"/>
            <a:ext cx="2029968" cy="3794760"/>
          </a:xfrm>
          <a:prstGeom prst="rect">
            <a:avLst/>
          </a:prstGeom>
          <a:solidFill>
            <a:srgbClr val="162840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2468880" y="960120"/>
            <a:ext cx="2029968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2468880" y="96012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60320" y="1389888"/>
            <a:ext cx="1847088" cy="50292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2606040" y="14356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FP)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199339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 всіх, кого назвали хворими — скільки справді хворі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0" y="2816352"/>
            <a:ext cx="1847088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2560320" y="288950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0" y="3090672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FP = дорога помилка (спам-фільтр)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17520" y="3703320"/>
            <a:ext cx="932688" cy="0"/>
          </a:xfrm>
          <a:prstGeom prst="line">
            <a:avLst/>
          </a:prstGeom>
          <a:solidFill>
            <a:srgbClr val="0A111A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3017520" y="370332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45152" y="960120"/>
            <a:ext cx="2029968" cy="3794760"/>
          </a:xfrm>
          <a:prstGeom prst="rect">
            <a:avLst/>
          </a:prstGeom>
          <a:solidFill>
            <a:srgbClr val="162840"/>
          </a:solidFill>
          <a:ln w="12700">
            <a:solidFill>
              <a:srgbClr val="FACC15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4645152" y="960120"/>
            <a:ext cx="2029968" cy="34747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4645152" y="96012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36592" y="1389888"/>
            <a:ext cx="1847088" cy="50292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782312" y="14356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FN)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36592" y="199339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 всіх хворих — скільки ми знайшли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36592" y="2816352"/>
            <a:ext cx="1847088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4736592" y="288950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Коли?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36592" y="3090672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FN = небезпечна помилка (медицина!)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93792" y="3703320"/>
            <a:ext cx="932688" cy="0"/>
          </a:xfrm>
          <a:prstGeom prst="line">
            <a:avLst/>
          </a:prstGeom>
          <a:solidFill>
            <a:srgbClr val="0A111A"/>
          </a:solidFill>
          <a:ln w="254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Text 34"/>
          <p:cNvSpPr/>
          <p:nvPr/>
        </p:nvSpPr>
        <p:spPr>
          <a:xfrm>
            <a:off x="5193792" y="370332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C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21424" y="960120"/>
            <a:ext cx="2029968" cy="3794760"/>
          </a:xfrm>
          <a:prstGeom prst="rect">
            <a:avLst/>
          </a:prstGeom>
          <a:solidFill>
            <a:srgbClr val="162840"/>
          </a:solidFill>
          <a:ln w="12700">
            <a:solidFill>
              <a:srgbClr val="F97316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8" name="Shape 36"/>
          <p:cNvSpPr/>
          <p:nvPr/>
        </p:nvSpPr>
        <p:spPr>
          <a:xfrm>
            <a:off x="6821424" y="960120"/>
            <a:ext cx="202996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7"/>
          <p:cNvSpPr/>
          <p:nvPr/>
        </p:nvSpPr>
        <p:spPr>
          <a:xfrm>
            <a:off x="6821424" y="96012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912864" y="1389888"/>
            <a:ext cx="1847088" cy="502920"/>
          </a:xfrm>
          <a:prstGeom prst="rect">
            <a:avLst/>
          </a:prstGeom>
          <a:solidFill>
            <a:srgbClr val="0A111A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6958584" y="14356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* P * R / (P + R)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12864" y="199339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Гармонійне середнє Precision і Recall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912864" y="2816352"/>
            <a:ext cx="1847088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Text 42"/>
          <p:cNvSpPr/>
          <p:nvPr/>
        </p:nvSpPr>
        <p:spPr>
          <a:xfrm>
            <a:off x="6912864" y="288950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Коли?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12864" y="3090672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потрібен баланс між P і 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370064" y="3703320"/>
            <a:ext cx="932688" cy="0"/>
          </a:xfrm>
          <a:prstGeom prst="line">
            <a:avLst/>
          </a:prstGeom>
          <a:solidFill>
            <a:srgbClr val="0A111A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7" name="Text 45"/>
          <p:cNvSpPr/>
          <p:nvPr/>
        </p:nvSpPr>
        <p:spPr>
          <a:xfrm>
            <a:off x="7370064" y="370332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Коли Accuracy недостатня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1255463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Приклад: датасет де 95% пацієнтів здорові, 5% хворі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3441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Модель-"ледар" — завжди передбачає "здоровий":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= 95%  </a:t>
            </a: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але  </a:t>
            </a:r>
            <a:r>
              <a:rPr lang="en-US" sz="14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Recall = 0%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398463"/>
            <a:ext cx="3931920" cy="2066544"/>
          </a:xfrm>
          <a:prstGeom prst="rect">
            <a:avLst/>
          </a:prstGeom>
          <a:solidFill>
            <a:srgbClr val="1A3A5C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94360" y="2462471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😌 Виглядає добре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809943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= 95%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3221423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«Модель права у 95% випадків — чудово!»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3706055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Така думка небезпечна 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398463"/>
            <a:ext cx="3931920" cy="2066544"/>
          </a:xfrm>
          <a:prstGeom prst="rect">
            <a:avLst/>
          </a:prstGeom>
          <a:solidFill>
            <a:srgbClr val="2A0A0A"/>
          </a:solidFill>
          <a:ln w="12700">
            <a:solidFill>
              <a:srgbClr val="EF4444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937760" y="2462471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💀 Насправді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809943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 = 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3221423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Жоден хворий не знайдений.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Всі 5% пацієнтів з раком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пішли додому без діагнозу.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4565591"/>
            <a:ext cx="8321040" cy="320040"/>
          </a:xfrm>
          <a:prstGeom prst="rect">
            <a:avLst/>
          </a:prstGeom>
          <a:solidFill>
            <a:srgbClr val="1A2F1A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48640" y="4620455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Завжди дивимось на Precision, Recall, F1 — особливо при незбалансованих класах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Типові помилки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411480" y="955548"/>
            <a:ext cx="8321040" cy="71323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955548"/>
            <a:ext cx="566928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11480" y="955548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0104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Різні train/test split для різних моделей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13030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split різний — порівняння некоректне. Завжди один random_state для всього ноутбука.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760220"/>
            <a:ext cx="8321040" cy="71323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11480" y="1760220"/>
            <a:ext cx="56692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11480" y="1760220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18150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Регресійна метрика для класифікатора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" y="21076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або MAE для LogisticRegression — безглуздо. Задача інша → метрика інша.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564892"/>
            <a:ext cx="8321040" cy="71323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11480" y="2564892"/>
            <a:ext cx="566928" cy="71323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11480" y="2564892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26197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Дивитись тільки на Accuracy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29123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незбалансованих класах Accuracy = 95% може означати Recall = 0%.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369564"/>
            <a:ext cx="8321040" cy="71323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411480" y="3369564"/>
            <a:ext cx="566928" cy="7132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11480" y="3369564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34244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Не встановлено random_state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78992" y="37170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Щоразу нові результати → неможливо відтворити, порівняти, захистити.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4174236"/>
            <a:ext cx="8321040" cy="71323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411480" y="4174236"/>
            <a:ext cx="566928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411480" y="4174236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" y="42291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DecisionTree без max_depth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78992" y="45217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переросте у всі дані. Train R²=1.0, Test R²=0.3 — класичний overfitting.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9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Підсумок заняття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743200" cy="3691675"/>
          </a:xfrm>
          <a:prstGeom prst="rect">
            <a:avLst/>
          </a:prstGeom>
          <a:solidFill>
            <a:srgbClr val="162840"/>
          </a:solidFill>
          <a:ln w="12700">
            <a:solidFill>
              <a:srgbClr val="3B9EE8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2743200" cy="365760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8412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Regularization контролює складність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" y="12984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= модель запам'ятала шум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9385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зменшує всі коефіцієнти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5786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занулює нерелевантні ознаки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32186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Оцінюємо завжди на test, не train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841248"/>
            <a:ext cx="2743200" cy="3691675"/>
          </a:xfrm>
          <a:prstGeom prst="rect">
            <a:avLst/>
          </a:prstGeom>
          <a:solidFill>
            <a:srgbClr val="162840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200400" y="841248"/>
            <a:ext cx="274320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3200400" y="8412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39312" y="8412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Дерева і ансамблі ловлять нелінійність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10128" y="12984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DecisionTree: правила з питань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9385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захищає від overfitting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25786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RandomForest: 100 дерев → стабільність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32186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кожне дерево виправляє попереднє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841248"/>
            <a:ext cx="2743200" cy="3691675"/>
          </a:xfrm>
          <a:prstGeom prst="rect">
            <a:avLst/>
          </a:prstGeom>
          <a:solidFill>
            <a:srgbClr val="162840"/>
          </a:solidFill>
          <a:ln w="12700">
            <a:solidFill>
              <a:srgbClr val="F97316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6080760" y="841248"/>
            <a:ext cx="274320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6080760" y="8412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9672" y="8412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Класифікація — інші метрики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90488" y="12984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TP, FP, FN, TN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90488" y="19385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може вводити в оману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0488" y="25786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важливий при пропуску хворих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0488" y="32186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— баланс між Precision і Recall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624363"/>
            <a:ext cx="8503920" cy="438912"/>
          </a:xfrm>
          <a:prstGeom prst="rect">
            <a:avLst/>
          </a:prstGeom>
          <a:solidFill>
            <a:srgbClr val="112233"/>
          </a:solidFill>
          <a:ln w="12700">
            <a:solidFill>
              <a:srgbClr val="3B9EE8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457200" y="4697515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Чим Lasso відрізняється від Ridge?   ·   Чому RF стабільніший за одне дерево?   ·   Коли Recall &gt; Precision?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4452</TotalTime>
  <Words>1955</Words>
  <Application>Microsoft Macintosh PowerPoint</Application>
  <PresentationFormat>On-screen Show (16:9)</PresentationFormat>
  <Paragraphs>454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Заняття 8 — Порівняння моделей ML</dc:title>
  <dc:subject>PptxGenJS Presentation</dc:subject>
  <dc:creator>PptxGenJS</dc:creator>
  <cp:lastModifiedBy>Штефан Дмитро</cp:lastModifiedBy>
  <cp:revision>11</cp:revision>
  <dcterms:created xsi:type="dcterms:W3CDTF">2026-06-14T11:47:09Z</dcterms:created>
  <dcterms:modified xsi:type="dcterms:W3CDTF">2026-06-17T17:49:25Z</dcterms:modified>
</cp:coreProperties>
</file>