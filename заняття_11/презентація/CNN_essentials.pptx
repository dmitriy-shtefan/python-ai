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75" r:id="rId5"/>
    <p:sldId id="259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2" r:id="rId15"/>
    <p:sldId id="273" r:id="rId16"/>
    <p:sldId id="274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717"/>
    <a:srgbClr val="000616"/>
    <a:srgbClr val="030D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5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1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6690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Привітання. Сьогодні переходимо від MLP до CNN: будуємо першу CNN для класифікації зображень, перед live coding на MNIST/Fashion-MNIST.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Поясніть</a:t>
            </a:r>
            <a:r>
              <a:rPr lang="en-US" dirty="0"/>
              <a:t>, чому flatten image у вектор для MLP — </a:t>
            </a:r>
            <a:r>
              <a:rPr lang="en-US" dirty="0" err="1"/>
              <a:t>погана</a:t>
            </a:r>
            <a:r>
              <a:rPr lang="en-US" dirty="0"/>
              <a:t> </a:t>
            </a:r>
            <a:r>
              <a:rPr lang="en-US" dirty="0" err="1"/>
              <a:t>ідея</a:t>
            </a:r>
            <a:r>
              <a:rPr lang="en-US" dirty="0"/>
              <a:t>: </a:t>
            </a:r>
            <a:r>
              <a:rPr lang="en-US" dirty="0" err="1"/>
              <a:t>локальна</a:t>
            </a:r>
            <a:r>
              <a:rPr lang="en-US" dirty="0"/>
              <a:t> </a:t>
            </a:r>
            <a:r>
              <a:rPr lang="en-US" dirty="0" err="1"/>
              <a:t>структура</a:t>
            </a:r>
            <a:r>
              <a:rPr lang="en-US" dirty="0"/>
              <a:t> (</a:t>
            </a:r>
            <a:r>
              <a:rPr lang="en-US" dirty="0" err="1"/>
              <a:t>сусідство</a:t>
            </a:r>
            <a:r>
              <a:rPr lang="en-US" dirty="0"/>
              <a:t> пікселів) </a:t>
            </a:r>
            <a:r>
              <a:rPr lang="en-US" dirty="0" err="1"/>
              <a:t>зникає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Покажіть ієрархію патернів: ранні шари бачать прості краї, глибші — складніші композиції.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8666F-55E5-8002-9710-9FD577FE9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03F1F6-8AD2-C66B-6CB3-F4DF14639C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022FA5-C374-FBAA-374A-F9D5283C68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Покажіть ієрархію патернів: ранні шари бачать прості краї, глибші — складніші композиції.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8B2E75-8D15-99AF-8430-078ADD4B67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9955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Підкресліть порядок осей N,C,H,W — типова помилка студентів це переплутати з N,H,W,C (TensorFlow-стиль).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Пройдіться по кожному параметру Conv2d окремо, зв'язавши з попередніми слайдами.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Max pooling </a:t>
            </a:r>
            <a:r>
              <a:rPr lang="en-US" dirty="0" err="1"/>
              <a:t>бере</a:t>
            </a:r>
            <a:r>
              <a:rPr lang="en-US" dirty="0"/>
              <a:t> </a:t>
            </a:r>
            <a:r>
              <a:rPr lang="en-US" dirty="0" err="1"/>
              <a:t>максимум</a:t>
            </a:r>
            <a:r>
              <a:rPr lang="en-US" dirty="0"/>
              <a:t> з </a:t>
            </a:r>
            <a:r>
              <a:rPr lang="en-US" dirty="0" err="1"/>
              <a:t>кожного</a:t>
            </a:r>
            <a:r>
              <a:rPr lang="en-US" dirty="0"/>
              <a:t> 2x2 </a:t>
            </a:r>
            <a:r>
              <a:rPr lang="en-US" dirty="0" err="1"/>
              <a:t>блоку</a:t>
            </a:r>
            <a:r>
              <a:rPr lang="en-US" dirty="0"/>
              <a:t>. </a:t>
            </a:r>
            <a:r>
              <a:rPr lang="en-US" dirty="0" err="1"/>
              <a:t>Підкресліть</a:t>
            </a:r>
            <a:r>
              <a:rPr lang="en-US" dirty="0"/>
              <a:t>: це не </a:t>
            </a:r>
            <a:r>
              <a:rPr lang="en-US" dirty="0" err="1"/>
              <a:t>навчається</a:t>
            </a:r>
            <a:r>
              <a:rPr lang="en-US" dirty="0"/>
              <a:t>, </a:t>
            </a:r>
            <a:r>
              <a:rPr lang="en-US" dirty="0" err="1"/>
              <a:t>лише</a:t>
            </a:r>
            <a:r>
              <a:rPr lang="en-US" dirty="0"/>
              <a:t> </a:t>
            </a:r>
            <a:r>
              <a:rPr lang="en-US" dirty="0" err="1"/>
              <a:t>downsampling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 </a:t>
            </a:r>
            <a:r>
              <a:rPr lang="en-US" dirty="0" err="1"/>
              <a:t>ключова</a:t>
            </a:r>
            <a:r>
              <a:rPr lang="en-US" dirty="0"/>
              <a:t> </a:t>
            </a:r>
            <a:r>
              <a:rPr lang="en-US" dirty="0" err="1"/>
              <a:t>схема</a:t>
            </a:r>
            <a:r>
              <a:rPr lang="en-US" dirty="0"/>
              <a:t> </a:t>
            </a:r>
            <a:r>
              <a:rPr lang="en-US" dirty="0" err="1"/>
              <a:t>заняття</a:t>
            </a:r>
            <a:r>
              <a:rPr lang="en-US" dirty="0"/>
              <a:t> — </a:t>
            </a:r>
            <a:r>
              <a:rPr lang="en-US" dirty="0" err="1"/>
              <a:t>повертайтеся</a:t>
            </a:r>
            <a:r>
              <a:rPr lang="en-US" dirty="0"/>
              <a:t> до </a:t>
            </a:r>
            <a:r>
              <a:rPr lang="en-US" dirty="0" err="1"/>
              <a:t>неї</a:t>
            </a:r>
            <a:r>
              <a:rPr lang="en-US" dirty="0"/>
              <a:t> </a:t>
            </a:r>
            <a:r>
              <a:rPr lang="en-US" dirty="0" err="1"/>
              <a:t>перед</a:t>
            </a:r>
            <a:r>
              <a:rPr lang="en-US" dirty="0"/>
              <a:t> live coding.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Покажіть</a:t>
            </a:r>
            <a:r>
              <a:rPr lang="en-US" dirty="0"/>
              <a:t>, як </a:t>
            </a:r>
            <a:r>
              <a:rPr lang="en-US" dirty="0" err="1"/>
              <a:t>рахується</a:t>
            </a:r>
            <a:r>
              <a:rPr lang="en-US" dirty="0"/>
              <a:t> 32*7*7: 28→14→7 після двох pooling </a:t>
            </a:r>
            <a:r>
              <a:rPr lang="en-US" dirty="0" err="1"/>
              <a:t>шарів</a:t>
            </a:r>
            <a:r>
              <a:rPr lang="en-US" dirty="0"/>
              <a:t> з kernel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Нагадайте різницю logits vs probabilities vs predicted class — повернемось до цього на слайді про типові помилки.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Train loop для CNN ідентичний попереднім заняттям — нічого нового тут, окрім input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Підготуйте перехід до наступного слайду: accuracy недостатньо, потрібно дивитись на конкретні приклади.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Покажіть приклади помилкових прогнозів на реальних даних під час live coding і обговоріть, чому модель помилилась.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Тільки </a:t>
            </a:r>
            <a:r>
              <a:rPr lang="en-US" dirty="0" err="1"/>
              <a:t>коротке</a:t>
            </a:r>
            <a:r>
              <a:rPr lang="en-US" dirty="0"/>
              <a:t> </a:t>
            </a:r>
            <a:r>
              <a:rPr lang="en-US" dirty="0" err="1"/>
              <a:t>порівняння</a:t>
            </a:r>
            <a:r>
              <a:rPr lang="en-US" dirty="0"/>
              <a:t> — не </a:t>
            </a:r>
            <a:r>
              <a:rPr lang="en-US" dirty="0" err="1"/>
              <a:t>заглиблюємось</a:t>
            </a:r>
            <a:r>
              <a:rPr lang="en-US" dirty="0"/>
              <a:t> у </a:t>
            </a:r>
            <a:r>
              <a:rPr lang="en-US" dirty="0" err="1"/>
              <a:t>деталі</a:t>
            </a:r>
            <a:r>
              <a:rPr lang="en-US" dirty="0"/>
              <a:t> detection, це </a:t>
            </a:r>
            <a:r>
              <a:rPr lang="en-US" dirty="0" err="1"/>
              <a:t>тема</a:t>
            </a:r>
            <a:r>
              <a:rPr lang="en-US" dirty="0"/>
              <a:t> </a:t>
            </a:r>
            <a:r>
              <a:rPr lang="en-US" dirty="0" err="1"/>
              <a:t>наступного</a:t>
            </a:r>
            <a:r>
              <a:rPr lang="en-US" dirty="0"/>
              <a:t> </a:t>
            </a:r>
            <a:r>
              <a:rPr lang="en-US" dirty="0" err="1"/>
              <a:t>заняття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Цей чекліст можна лишити відкритим на екрані під час live coding як орієнтир.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Завершіть, нагадавши план наступного заняття: transfer learning, ResNet, YOLO, fine-tuning.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1F3A5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AI ДОДАТКІВ З PYTHON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89888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</a:t>
            </a:r>
            <a:r>
              <a:rPr lang="en-US" sz="4400" dirty="0"/>
              <a:t> </a:t>
            </a: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для класифікації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зображень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300984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навчити нейронну мережу бачити локальні патерни на зображенні?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5212080"/>
            <a:ext cx="347472" cy="347472"/>
          </a:xfrm>
          <a:prstGeom prst="rect">
            <a:avLst/>
          </a:prstGeom>
          <a:solidFill>
            <a:srgbClr val="1F3A52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1024128" y="5212080"/>
            <a:ext cx="347472" cy="347472"/>
          </a:xfrm>
          <a:prstGeom prst="rect">
            <a:avLst/>
          </a:prstGeom>
          <a:solidFill>
            <a:srgbClr val="1C2B4A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1408176" y="5212080"/>
            <a:ext cx="347472" cy="347472"/>
          </a:xfrm>
          <a:prstGeom prst="rect">
            <a:avLst/>
          </a:prstGeom>
          <a:solidFill>
            <a:srgbClr val="1F3A52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640080" y="5596128"/>
            <a:ext cx="347472" cy="347472"/>
          </a:xfrm>
          <a:prstGeom prst="rect">
            <a:avLst/>
          </a:prstGeom>
          <a:solidFill>
            <a:srgbClr val="1C2B4A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1024128" y="5596128"/>
            <a:ext cx="347472" cy="347472"/>
          </a:xfrm>
          <a:prstGeom prst="rect">
            <a:avLst/>
          </a:prstGeom>
          <a:solidFill>
            <a:srgbClr val="1F3A52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1408176" y="5596128"/>
            <a:ext cx="347472" cy="347472"/>
          </a:xfrm>
          <a:prstGeom prst="rect">
            <a:avLst/>
          </a:prstGeom>
          <a:solidFill>
            <a:srgbClr val="1C2B4A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640080" y="5980176"/>
            <a:ext cx="347472" cy="347472"/>
          </a:xfrm>
          <a:prstGeom prst="rect">
            <a:avLst/>
          </a:prstGeom>
          <a:solidFill>
            <a:srgbClr val="1F3A52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1024128" y="5980176"/>
            <a:ext cx="347472" cy="347472"/>
          </a:xfrm>
          <a:prstGeom prst="rect">
            <a:avLst/>
          </a:prstGeom>
          <a:solidFill>
            <a:srgbClr val="1C2B4A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1408176" y="5980176"/>
            <a:ext cx="347472" cy="347472"/>
          </a:xfrm>
          <a:prstGeom prst="rect">
            <a:avLst/>
          </a:prstGeom>
          <a:solidFill>
            <a:srgbClr val="1F3A52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1975104" y="55961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8B9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3x3 kernel</a:t>
            </a:r>
            <a:endParaRPr lang="en-US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3035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Від MLP до зображень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добре працює з табличними ознаками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Зображення має просторову структуру: сусідні пікселі пов'язані між собою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розгорнути image у плоский вектор, модель втрачає цю локальну структуру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Багато пікселів означає багато входів, а одна й та сама ознака може бути в різних частинах зображення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0" y="1645920"/>
            <a:ext cx="5212080" cy="4297680"/>
          </a:xfrm>
          <a:prstGeom prst="roundRect">
            <a:avLst>
              <a:gd name="adj" fmla="val 2041"/>
            </a:avLst>
          </a:prstGeom>
          <a:solidFill>
            <a:srgbClr val="16213A"/>
          </a:solidFill>
          <a:ln w="12700">
            <a:solidFill>
              <a:srgbClr val="2634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6675120" y="18836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9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Зображення 5x5 → вектор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675120" y="2386584"/>
            <a:ext cx="356616" cy="356616"/>
          </a:xfrm>
          <a:prstGeom prst="rect">
            <a:avLst/>
          </a:prstGeom>
          <a:solidFill>
            <a:srgbClr val="2DD4BF"/>
          </a:solidFill>
          <a:ln w="635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7059168" y="2386584"/>
            <a:ext cx="356616" cy="356616"/>
          </a:xfrm>
          <a:prstGeom prst="rect">
            <a:avLst/>
          </a:prstGeom>
          <a:solidFill>
            <a:srgbClr val="1C2B4A"/>
          </a:solidFill>
          <a:ln w="635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7443216" y="2386584"/>
            <a:ext cx="356616" cy="356616"/>
          </a:xfrm>
          <a:prstGeom prst="rect">
            <a:avLst/>
          </a:prstGeom>
          <a:solidFill>
            <a:srgbClr val="1C2B4A"/>
          </a:solidFill>
          <a:ln w="635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7827264" y="2386584"/>
            <a:ext cx="356616" cy="356616"/>
          </a:xfrm>
          <a:prstGeom prst="rect">
            <a:avLst/>
          </a:prstGeom>
          <a:solidFill>
            <a:srgbClr val="2DD4BF"/>
          </a:solidFill>
          <a:ln w="635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8211312" y="2386584"/>
            <a:ext cx="356616" cy="356616"/>
          </a:xfrm>
          <a:prstGeom prst="rect">
            <a:avLst/>
          </a:prstGeom>
          <a:solidFill>
            <a:srgbClr val="1C2B4A"/>
          </a:solidFill>
          <a:ln w="635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6675120" y="2770632"/>
            <a:ext cx="356616" cy="356616"/>
          </a:xfrm>
          <a:prstGeom prst="rect">
            <a:avLst/>
          </a:prstGeom>
          <a:solidFill>
            <a:srgbClr val="1C2B4A"/>
          </a:solidFill>
          <a:ln w="635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7059168" y="2770632"/>
            <a:ext cx="356616" cy="356616"/>
          </a:xfrm>
          <a:prstGeom prst="rect">
            <a:avLst/>
          </a:prstGeom>
          <a:solidFill>
            <a:srgbClr val="2DD4BF"/>
          </a:solidFill>
          <a:ln w="635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7443216" y="2770632"/>
            <a:ext cx="356616" cy="356616"/>
          </a:xfrm>
          <a:prstGeom prst="rect">
            <a:avLst/>
          </a:prstGeom>
          <a:solidFill>
            <a:srgbClr val="1C2B4A"/>
          </a:solidFill>
          <a:ln w="635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7827264" y="2770632"/>
            <a:ext cx="356616" cy="356616"/>
          </a:xfrm>
          <a:prstGeom prst="rect">
            <a:avLst/>
          </a:prstGeom>
          <a:solidFill>
            <a:srgbClr val="1C2B4A"/>
          </a:solidFill>
          <a:ln w="635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8211312" y="2770632"/>
            <a:ext cx="356616" cy="356616"/>
          </a:xfrm>
          <a:prstGeom prst="rect">
            <a:avLst/>
          </a:prstGeom>
          <a:solidFill>
            <a:srgbClr val="2DD4BF"/>
          </a:solidFill>
          <a:ln w="635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6675120" y="3154680"/>
            <a:ext cx="356616" cy="356616"/>
          </a:xfrm>
          <a:prstGeom prst="rect">
            <a:avLst/>
          </a:prstGeom>
          <a:solidFill>
            <a:srgbClr val="1C2B4A"/>
          </a:solidFill>
          <a:ln w="635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7059168" y="3154680"/>
            <a:ext cx="356616" cy="356616"/>
          </a:xfrm>
          <a:prstGeom prst="rect">
            <a:avLst/>
          </a:prstGeom>
          <a:solidFill>
            <a:srgbClr val="1C2B4A"/>
          </a:solidFill>
          <a:ln w="635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7443216" y="3154680"/>
            <a:ext cx="356616" cy="356616"/>
          </a:xfrm>
          <a:prstGeom prst="rect">
            <a:avLst/>
          </a:prstGeom>
          <a:solidFill>
            <a:srgbClr val="2DD4BF"/>
          </a:solidFill>
          <a:ln w="635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7827264" y="3154680"/>
            <a:ext cx="356616" cy="356616"/>
          </a:xfrm>
          <a:prstGeom prst="rect">
            <a:avLst/>
          </a:prstGeom>
          <a:solidFill>
            <a:srgbClr val="1C2B4A"/>
          </a:solidFill>
          <a:ln w="635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8211312" y="3154680"/>
            <a:ext cx="356616" cy="356616"/>
          </a:xfrm>
          <a:prstGeom prst="rect">
            <a:avLst/>
          </a:prstGeom>
          <a:solidFill>
            <a:srgbClr val="1C2B4A"/>
          </a:solidFill>
          <a:ln w="635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Shape 20"/>
          <p:cNvSpPr/>
          <p:nvPr/>
        </p:nvSpPr>
        <p:spPr>
          <a:xfrm>
            <a:off x="6675120" y="3538728"/>
            <a:ext cx="356616" cy="356616"/>
          </a:xfrm>
          <a:prstGeom prst="rect">
            <a:avLst/>
          </a:prstGeom>
          <a:solidFill>
            <a:srgbClr val="2DD4BF"/>
          </a:solidFill>
          <a:ln w="635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Shape 21"/>
          <p:cNvSpPr/>
          <p:nvPr/>
        </p:nvSpPr>
        <p:spPr>
          <a:xfrm>
            <a:off x="7059168" y="3538728"/>
            <a:ext cx="356616" cy="356616"/>
          </a:xfrm>
          <a:prstGeom prst="rect">
            <a:avLst/>
          </a:prstGeom>
          <a:solidFill>
            <a:srgbClr val="1C2B4A"/>
          </a:solidFill>
          <a:ln w="635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Shape 22"/>
          <p:cNvSpPr/>
          <p:nvPr/>
        </p:nvSpPr>
        <p:spPr>
          <a:xfrm>
            <a:off x="7443216" y="3538728"/>
            <a:ext cx="356616" cy="356616"/>
          </a:xfrm>
          <a:prstGeom prst="rect">
            <a:avLst/>
          </a:prstGeom>
          <a:solidFill>
            <a:srgbClr val="1C2B4A"/>
          </a:solidFill>
          <a:ln w="635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Shape 23"/>
          <p:cNvSpPr/>
          <p:nvPr/>
        </p:nvSpPr>
        <p:spPr>
          <a:xfrm>
            <a:off x="7827264" y="3538728"/>
            <a:ext cx="356616" cy="356616"/>
          </a:xfrm>
          <a:prstGeom prst="rect">
            <a:avLst/>
          </a:prstGeom>
          <a:solidFill>
            <a:srgbClr val="2DD4BF"/>
          </a:solidFill>
          <a:ln w="635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Shape 24"/>
          <p:cNvSpPr/>
          <p:nvPr/>
        </p:nvSpPr>
        <p:spPr>
          <a:xfrm>
            <a:off x="8211312" y="3538728"/>
            <a:ext cx="356616" cy="356616"/>
          </a:xfrm>
          <a:prstGeom prst="rect">
            <a:avLst/>
          </a:prstGeom>
          <a:solidFill>
            <a:srgbClr val="1C2B4A"/>
          </a:solidFill>
          <a:ln w="635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Shape 25"/>
          <p:cNvSpPr/>
          <p:nvPr/>
        </p:nvSpPr>
        <p:spPr>
          <a:xfrm>
            <a:off x="6675120" y="3922776"/>
            <a:ext cx="356616" cy="356616"/>
          </a:xfrm>
          <a:prstGeom prst="rect">
            <a:avLst/>
          </a:prstGeom>
          <a:solidFill>
            <a:srgbClr val="1C2B4A"/>
          </a:solidFill>
          <a:ln w="635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Shape 26"/>
          <p:cNvSpPr/>
          <p:nvPr/>
        </p:nvSpPr>
        <p:spPr>
          <a:xfrm>
            <a:off x="7059168" y="3922776"/>
            <a:ext cx="356616" cy="356616"/>
          </a:xfrm>
          <a:prstGeom prst="rect">
            <a:avLst/>
          </a:prstGeom>
          <a:solidFill>
            <a:srgbClr val="2DD4BF"/>
          </a:solidFill>
          <a:ln w="635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Shape 27"/>
          <p:cNvSpPr/>
          <p:nvPr/>
        </p:nvSpPr>
        <p:spPr>
          <a:xfrm>
            <a:off x="7443216" y="3922776"/>
            <a:ext cx="356616" cy="356616"/>
          </a:xfrm>
          <a:prstGeom prst="rect">
            <a:avLst/>
          </a:prstGeom>
          <a:solidFill>
            <a:srgbClr val="1C2B4A"/>
          </a:solidFill>
          <a:ln w="635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Shape 28"/>
          <p:cNvSpPr/>
          <p:nvPr/>
        </p:nvSpPr>
        <p:spPr>
          <a:xfrm>
            <a:off x="7827264" y="3922776"/>
            <a:ext cx="356616" cy="356616"/>
          </a:xfrm>
          <a:prstGeom prst="rect">
            <a:avLst/>
          </a:prstGeom>
          <a:solidFill>
            <a:srgbClr val="1C2B4A"/>
          </a:solidFill>
          <a:ln w="635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Shape 29"/>
          <p:cNvSpPr/>
          <p:nvPr/>
        </p:nvSpPr>
        <p:spPr>
          <a:xfrm>
            <a:off x="8211312" y="3922776"/>
            <a:ext cx="356616" cy="356616"/>
          </a:xfrm>
          <a:prstGeom prst="rect">
            <a:avLst/>
          </a:prstGeom>
          <a:solidFill>
            <a:srgbClr val="2DD4BF"/>
          </a:solidFill>
          <a:ln w="635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Shape 30"/>
          <p:cNvSpPr/>
          <p:nvPr/>
        </p:nvSpPr>
        <p:spPr>
          <a:xfrm>
            <a:off x="8869680" y="3209544"/>
            <a:ext cx="5486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33" name="Shape 31"/>
          <p:cNvSpPr/>
          <p:nvPr/>
        </p:nvSpPr>
        <p:spPr>
          <a:xfrm>
            <a:off x="9601200" y="2386584"/>
            <a:ext cx="320040" cy="105809"/>
          </a:xfrm>
          <a:prstGeom prst="rect">
            <a:avLst/>
          </a:prstGeom>
          <a:solidFill>
            <a:srgbClr val="2DD4BF"/>
          </a:solidFill>
          <a:ln w="635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4" name="Shape 32"/>
          <p:cNvSpPr/>
          <p:nvPr/>
        </p:nvSpPr>
        <p:spPr>
          <a:xfrm>
            <a:off x="9601200" y="2510681"/>
            <a:ext cx="320040" cy="105809"/>
          </a:xfrm>
          <a:prstGeom prst="rect">
            <a:avLst/>
          </a:prstGeom>
          <a:solidFill>
            <a:srgbClr val="1C2B4A"/>
          </a:solidFill>
          <a:ln w="635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5" name="Shape 33"/>
          <p:cNvSpPr/>
          <p:nvPr/>
        </p:nvSpPr>
        <p:spPr>
          <a:xfrm>
            <a:off x="9601200" y="2634778"/>
            <a:ext cx="320040" cy="105809"/>
          </a:xfrm>
          <a:prstGeom prst="rect">
            <a:avLst/>
          </a:prstGeom>
          <a:solidFill>
            <a:srgbClr val="1C2B4A"/>
          </a:solidFill>
          <a:ln w="635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6" name="Shape 34"/>
          <p:cNvSpPr/>
          <p:nvPr/>
        </p:nvSpPr>
        <p:spPr>
          <a:xfrm>
            <a:off x="9601200" y="2758875"/>
            <a:ext cx="320040" cy="105809"/>
          </a:xfrm>
          <a:prstGeom prst="rect">
            <a:avLst/>
          </a:prstGeom>
          <a:solidFill>
            <a:srgbClr val="2DD4BF"/>
          </a:solidFill>
          <a:ln w="635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7" name="Shape 35"/>
          <p:cNvSpPr/>
          <p:nvPr/>
        </p:nvSpPr>
        <p:spPr>
          <a:xfrm>
            <a:off x="9601200" y="2882973"/>
            <a:ext cx="320040" cy="105809"/>
          </a:xfrm>
          <a:prstGeom prst="rect">
            <a:avLst/>
          </a:prstGeom>
          <a:solidFill>
            <a:srgbClr val="1C2B4A"/>
          </a:solidFill>
          <a:ln w="635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8" name="Shape 36"/>
          <p:cNvSpPr/>
          <p:nvPr/>
        </p:nvSpPr>
        <p:spPr>
          <a:xfrm>
            <a:off x="9601200" y="3007070"/>
            <a:ext cx="320040" cy="105809"/>
          </a:xfrm>
          <a:prstGeom prst="rect">
            <a:avLst/>
          </a:prstGeom>
          <a:solidFill>
            <a:srgbClr val="1C2B4A"/>
          </a:solidFill>
          <a:ln w="635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9" name="Shape 37"/>
          <p:cNvSpPr/>
          <p:nvPr/>
        </p:nvSpPr>
        <p:spPr>
          <a:xfrm>
            <a:off x="9601200" y="3131167"/>
            <a:ext cx="320040" cy="105809"/>
          </a:xfrm>
          <a:prstGeom prst="rect">
            <a:avLst/>
          </a:prstGeom>
          <a:solidFill>
            <a:srgbClr val="2DD4BF"/>
          </a:solidFill>
          <a:ln w="635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0" name="Shape 38"/>
          <p:cNvSpPr/>
          <p:nvPr/>
        </p:nvSpPr>
        <p:spPr>
          <a:xfrm>
            <a:off x="9601200" y="3255264"/>
            <a:ext cx="320040" cy="105809"/>
          </a:xfrm>
          <a:prstGeom prst="rect">
            <a:avLst/>
          </a:prstGeom>
          <a:solidFill>
            <a:srgbClr val="1C2B4A"/>
          </a:solidFill>
          <a:ln w="635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1" name="Shape 39"/>
          <p:cNvSpPr/>
          <p:nvPr/>
        </p:nvSpPr>
        <p:spPr>
          <a:xfrm>
            <a:off x="9601200" y="3379361"/>
            <a:ext cx="320040" cy="105809"/>
          </a:xfrm>
          <a:prstGeom prst="rect">
            <a:avLst/>
          </a:prstGeom>
          <a:solidFill>
            <a:srgbClr val="1C2B4A"/>
          </a:solidFill>
          <a:ln w="635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2" name="Shape 40"/>
          <p:cNvSpPr/>
          <p:nvPr/>
        </p:nvSpPr>
        <p:spPr>
          <a:xfrm>
            <a:off x="9601200" y="3503458"/>
            <a:ext cx="320040" cy="105809"/>
          </a:xfrm>
          <a:prstGeom prst="rect">
            <a:avLst/>
          </a:prstGeom>
          <a:solidFill>
            <a:srgbClr val="2DD4BF"/>
          </a:solidFill>
          <a:ln w="635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3" name="Shape 41"/>
          <p:cNvSpPr/>
          <p:nvPr/>
        </p:nvSpPr>
        <p:spPr>
          <a:xfrm>
            <a:off x="9601200" y="3627555"/>
            <a:ext cx="320040" cy="105809"/>
          </a:xfrm>
          <a:prstGeom prst="rect">
            <a:avLst/>
          </a:prstGeom>
          <a:solidFill>
            <a:srgbClr val="1C2B4A"/>
          </a:solidFill>
          <a:ln w="635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4" name="Shape 42"/>
          <p:cNvSpPr/>
          <p:nvPr/>
        </p:nvSpPr>
        <p:spPr>
          <a:xfrm>
            <a:off x="9601200" y="3751653"/>
            <a:ext cx="320040" cy="105809"/>
          </a:xfrm>
          <a:prstGeom prst="rect">
            <a:avLst/>
          </a:prstGeom>
          <a:solidFill>
            <a:srgbClr val="1C2B4A"/>
          </a:solidFill>
          <a:ln w="635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5" name="Shape 43"/>
          <p:cNvSpPr/>
          <p:nvPr/>
        </p:nvSpPr>
        <p:spPr>
          <a:xfrm>
            <a:off x="9601200" y="3875750"/>
            <a:ext cx="320040" cy="105809"/>
          </a:xfrm>
          <a:prstGeom prst="rect">
            <a:avLst/>
          </a:prstGeom>
          <a:solidFill>
            <a:srgbClr val="2DD4BF"/>
          </a:solidFill>
          <a:ln w="635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6" name="Shape 44"/>
          <p:cNvSpPr/>
          <p:nvPr/>
        </p:nvSpPr>
        <p:spPr>
          <a:xfrm>
            <a:off x="9601200" y="3999847"/>
            <a:ext cx="320040" cy="105809"/>
          </a:xfrm>
          <a:prstGeom prst="rect">
            <a:avLst/>
          </a:prstGeom>
          <a:solidFill>
            <a:srgbClr val="1C2B4A"/>
          </a:solidFill>
          <a:ln w="635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7" name="Text 45"/>
          <p:cNvSpPr/>
          <p:nvPr/>
        </p:nvSpPr>
        <p:spPr>
          <a:xfrm>
            <a:off x="10149840" y="2752344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Просторові</a:t>
            </a: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зв'язки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сусідніх</a:t>
            </a: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пікселів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втрачені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8B9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12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8B9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A2D1A2E-28D3-737E-CD2F-2074BADAC0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6072" y="1744717"/>
            <a:ext cx="11071450" cy="4796816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FAB95F7C-B71E-C6E8-AAFE-FC2D7ADF8DBF}"/>
              </a:ext>
            </a:extLst>
          </p:cNvPr>
          <p:cNvSpPr/>
          <p:nvPr/>
        </p:nvSpPr>
        <p:spPr>
          <a:xfrm>
            <a:off x="576072" y="316467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3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Ідея </a:t>
            </a:r>
            <a:r>
              <a:rPr lang="en-US" sz="3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</a:t>
            </a:r>
            <a:endParaRPr lang="en-US" sz="320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8461DEAE-243E-E441-87F2-5CEC27C90087}"/>
              </a:ext>
            </a:extLst>
          </p:cNvPr>
          <p:cNvSpPr/>
          <p:nvPr/>
        </p:nvSpPr>
        <p:spPr>
          <a:xfrm>
            <a:off x="482426" y="1139427"/>
            <a:ext cx="8686800" cy="6052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</a:t>
            </a:r>
            <a:r>
              <a:rPr lang="uk-UA" sz="18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знаходить важливі локальні патерни за допомогою фільтрів, а потім комбінує їх у складніші ознаки для розпізнавання об'єктів</a:t>
            </a:r>
            <a:endParaRPr lang="en-US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61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09E666-D19D-38F9-BB79-745D93DA5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12">
            <a:extLst>
              <a:ext uri="{FF2B5EF4-FFF2-40B4-BE49-F238E27FC236}">
                <a16:creationId xmlns:a16="http://schemas.microsoft.com/office/drawing/2014/main" id="{D7776089-FC32-B3AA-A6EA-4030D06267C8}"/>
              </a:ext>
            </a:extLst>
          </p:cNvPr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8B9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10FD53D3-F4AB-12B5-ABF7-22D085DC572A}"/>
              </a:ext>
            </a:extLst>
          </p:cNvPr>
          <p:cNvSpPr/>
          <p:nvPr/>
        </p:nvSpPr>
        <p:spPr>
          <a:xfrm>
            <a:off x="576072" y="316467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3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Як працює </a:t>
            </a:r>
            <a:r>
              <a:rPr lang="en-US" sz="3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Conv2d </a:t>
            </a:r>
            <a:r>
              <a:rPr lang="uk-UA" sz="3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</a:t>
            </a:r>
            <a:r>
              <a:rPr lang="en-US" sz="3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PyTorch</a:t>
            </a:r>
            <a:endParaRPr lang="en-US" sz="32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CE18DB-25A6-3CB5-85E9-C69867099B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692163"/>
            <a:ext cx="12008999" cy="396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484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846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tensor: N, C, H, W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544068" y="155448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- кількість зображень у batch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- кількість каналів: 1 grayscale, 3 RGB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і W - висота й ширина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MNIST: N x 1 x 28 x 28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очікує коректну кількість input channels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876439" y="1307592"/>
            <a:ext cx="5760720" cy="4846320"/>
          </a:xfrm>
          <a:prstGeom prst="roundRect">
            <a:avLst>
              <a:gd name="adj" fmla="val 1887"/>
            </a:avLst>
          </a:prstGeom>
          <a:solidFill>
            <a:srgbClr val="16213A"/>
          </a:solidFill>
          <a:ln w="12700">
            <a:solidFill>
              <a:srgbClr val="2634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6150759" y="144475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8B9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Batch: N зображень, кожне C x H x W</a:t>
            </a:r>
            <a:endParaRPr lang="en-US" sz="1600"/>
          </a:p>
        </p:txBody>
      </p:sp>
      <p:sp>
        <p:nvSpPr>
          <p:cNvPr id="7" name="Shape 5"/>
          <p:cNvSpPr/>
          <p:nvPr/>
        </p:nvSpPr>
        <p:spPr>
          <a:xfrm>
            <a:off x="6406791" y="1874520"/>
            <a:ext cx="1143000" cy="1417320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6278775" y="2002536"/>
            <a:ext cx="1143000" cy="1417320"/>
          </a:xfrm>
          <a:prstGeom prst="rect">
            <a:avLst/>
          </a:prstGeom>
          <a:solidFill>
            <a:srgbClr val="6EE7B7">
              <a:alpha val="75000"/>
            </a:srgbClr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6150759" y="2130552"/>
            <a:ext cx="1143000" cy="1417320"/>
          </a:xfrm>
          <a:prstGeom prst="rect">
            <a:avLst/>
          </a:prstGeom>
          <a:solidFill>
            <a:srgbClr val="2DD4BF">
              <a:alpha val="75000"/>
            </a:srgbClr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7824111" y="1984248"/>
            <a:ext cx="1143000" cy="1417320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7696095" y="2112264"/>
            <a:ext cx="1143000" cy="1417320"/>
          </a:xfrm>
          <a:prstGeom prst="rect">
            <a:avLst/>
          </a:prstGeom>
          <a:solidFill>
            <a:srgbClr val="6EE7B7">
              <a:alpha val="75000"/>
            </a:srgbClr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7568079" y="2240280"/>
            <a:ext cx="1143000" cy="1417320"/>
          </a:xfrm>
          <a:prstGeom prst="rect">
            <a:avLst/>
          </a:prstGeom>
          <a:solidFill>
            <a:srgbClr val="2DD4BF">
              <a:alpha val="75000"/>
            </a:srgbClr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9241431" y="2093976"/>
            <a:ext cx="1143000" cy="1417320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9113415" y="2221992"/>
            <a:ext cx="1143000" cy="1417320"/>
          </a:xfrm>
          <a:prstGeom prst="rect">
            <a:avLst/>
          </a:prstGeom>
          <a:solidFill>
            <a:srgbClr val="6EE7B7">
              <a:alpha val="75000"/>
            </a:srgbClr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8985399" y="2350008"/>
            <a:ext cx="1143000" cy="1417320"/>
          </a:xfrm>
          <a:prstGeom prst="rect">
            <a:avLst/>
          </a:prstGeom>
          <a:solidFill>
            <a:srgbClr val="2DD4BF">
              <a:alpha val="75000"/>
            </a:srgbClr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6120279" y="371246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(batch)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6150759" y="406908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каналів (RGB/grayscale)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x W пікселів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50759" y="4727448"/>
            <a:ext cx="5120640" cy="1216152"/>
          </a:xfrm>
          <a:prstGeom prst="roundRect">
            <a:avLst>
              <a:gd name="adj" fmla="val 8421"/>
            </a:avLst>
          </a:prstGeom>
          <a:solidFill>
            <a:srgbClr val="0A0F1C"/>
          </a:solidFill>
          <a:ln w="12700">
            <a:solidFill>
              <a:srgbClr val="26345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6315351" y="4873752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6498231" y="487375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6681111" y="4873752"/>
            <a:ext cx="109728" cy="109728"/>
          </a:xfrm>
          <a:prstGeom prst="ellipse">
            <a:avLst/>
          </a:prstGeom>
          <a:solidFill>
            <a:srgbClr val="6EE7B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6379359" y="513892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tensor.shape</a:t>
            </a:r>
            <a:endParaRPr lang="en-US" sz="1300"/>
          </a:p>
          <a:p>
            <a:pPr marL="0" indent="0">
              <a:lnSpc>
                <a:spcPct val="115000"/>
              </a:lnSpc>
              <a:buNone/>
            </a:pPr>
            <a:r>
              <a:rPr lang="en-US" sz="130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torch.Size([N, 1, 28, 28])</a:t>
            </a:r>
            <a:endParaRPr lang="en-US" sz="1300"/>
          </a:p>
        </p:txBody>
      </p:sp>
      <p:sp>
        <p:nvSpPr>
          <p:cNvPr id="23" name="Text 21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8B9BC1"/>
                </a:solidFill>
                <a:latin typeface="Calibri" pitchFamily="34" charset="0"/>
                <a:cs typeface="Calibri" pitchFamily="34" charset="-120"/>
              </a:rPr>
              <a:t>5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800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nn.Conv2d у PyTorch</a:t>
            </a:r>
            <a:endParaRPr lang="en-US" sz="3200"/>
          </a:p>
        </p:txBody>
      </p:sp>
      <p:sp>
        <p:nvSpPr>
          <p:cNvPr id="10" name="Text 8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uk-UA" sz="1100">
                <a:solidFill>
                  <a:srgbClr val="8B9BC1"/>
                </a:solidFill>
                <a:latin typeface="Calibri" pitchFamily="34" charset="0"/>
                <a:cs typeface="Calibri" pitchFamily="34" charset="-120"/>
              </a:rPr>
              <a:t>6</a:t>
            </a:r>
            <a:endParaRPr lang="en-US" sz="11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42CDD6C-AED6-1E6E-80A5-D6A732946A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80274" y="2437786"/>
            <a:ext cx="10789920" cy="2480441"/>
          </a:xfrm>
          <a:prstGeom prst="rect">
            <a:avLst/>
          </a:prstGeom>
        </p:spPr>
      </p:pic>
      <p:sp>
        <p:nvSpPr>
          <p:cNvPr id="12" name="Text 4">
            <a:extLst>
              <a:ext uri="{FF2B5EF4-FFF2-40B4-BE49-F238E27FC236}">
                <a16:creationId xmlns:a16="http://schemas.microsoft.com/office/drawing/2014/main" id="{7A53D0B0-6B54-5FF5-0631-611787236C36}"/>
              </a:ext>
            </a:extLst>
          </p:cNvPr>
          <p:cNvSpPr/>
          <p:nvPr/>
        </p:nvSpPr>
        <p:spPr>
          <a:xfrm>
            <a:off x="480274" y="1455622"/>
            <a:ext cx="8686800" cy="6052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dirty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Фільтр у </a:t>
            </a:r>
            <a:r>
              <a:rPr lang="en-US" dirty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Conv2d </a:t>
            </a:r>
            <a:r>
              <a:rPr lang="ru-RU" dirty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працює як маленька лупа, яка рухається по зображенню та шукає певний шаблон.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25196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Pooling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129784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 зменшує spatial size feature maps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pooling залишає найсильнішу activation у локальному вікні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Зменшує обчислення, трохи менш чутлива до малих зсувів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28x28 → після pooling 14x14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 не навчає weights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852160" y="1691640"/>
            <a:ext cx="5760720" cy="4663440"/>
          </a:xfrm>
          <a:prstGeom prst="roundRect">
            <a:avLst>
              <a:gd name="adj" fmla="val 2083"/>
            </a:avLst>
          </a:prstGeom>
          <a:solidFill>
            <a:srgbClr val="16213A"/>
          </a:solidFill>
          <a:ln w="12700">
            <a:solidFill>
              <a:srgbClr val="2634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6126480" y="18013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8B9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pooling 2x2</a:t>
            </a:r>
            <a:endParaRPr lang="en-US" sz="1600"/>
          </a:p>
        </p:txBody>
      </p:sp>
      <p:sp>
        <p:nvSpPr>
          <p:cNvPr id="7" name="Shape 5"/>
          <p:cNvSpPr/>
          <p:nvPr/>
        </p:nvSpPr>
        <p:spPr>
          <a:xfrm>
            <a:off x="6217920" y="2286000"/>
            <a:ext cx="466344" cy="466344"/>
          </a:xfrm>
          <a:prstGeom prst="rect">
            <a:avLst/>
          </a:prstGeom>
          <a:solidFill>
            <a:srgbClr val="1C2B4A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6217920" y="2286000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/>
          </a:p>
        </p:txBody>
      </p:sp>
      <p:sp>
        <p:nvSpPr>
          <p:cNvPr id="9" name="Shape 7"/>
          <p:cNvSpPr/>
          <p:nvPr/>
        </p:nvSpPr>
        <p:spPr>
          <a:xfrm>
            <a:off x="6720840" y="2286000"/>
            <a:ext cx="466344" cy="466344"/>
          </a:xfrm>
          <a:prstGeom prst="rect">
            <a:avLst/>
          </a:prstGeom>
          <a:solidFill>
            <a:srgbClr val="1C2B4A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6720840" y="2286000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500"/>
          </a:p>
        </p:txBody>
      </p:sp>
      <p:sp>
        <p:nvSpPr>
          <p:cNvPr id="11" name="Shape 9"/>
          <p:cNvSpPr/>
          <p:nvPr/>
        </p:nvSpPr>
        <p:spPr>
          <a:xfrm>
            <a:off x="7223760" y="2286000"/>
            <a:ext cx="466344" cy="466344"/>
          </a:xfrm>
          <a:prstGeom prst="rect">
            <a:avLst/>
          </a:prstGeom>
          <a:solidFill>
            <a:srgbClr val="1C2B4A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7223760" y="2286000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/>
          </a:p>
        </p:txBody>
      </p:sp>
      <p:sp>
        <p:nvSpPr>
          <p:cNvPr id="13" name="Shape 11"/>
          <p:cNvSpPr/>
          <p:nvPr/>
        </p:nvSpPr>
        <p:spPr>
          <a:xfrm>
            <a:off x="7726680" y="2286000"/>
            <a:ext cx="466344" cy="466344"/>
          </a:xfrm>
          <a:prstGeom prst="rect">
            <a:avLst/>
          </a:prstGeom>
          <a:solidFill>
            <a:srgbClr val="1C2B4A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7726680" y="2286000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/>
          </a:p>
        </p:txBody>
      </p:sp>
      <p:sp>
        <p:nvSpPr>
          <p:cNvPr id="15" name="Shape 13"/>
          <p:cNvSpPr/>
          <p:nvPr/>
        </p:nvSpPr>
        <p:spPr>
          <a:xfrm>
            <a:off x="6217920" y="2788920"/>
            <a:ext cx="466344" cy="466344"/>
          </a:xfrm>
          <a:prstGeom prst="rect">
            <a:avLst/>
          </a:prstGeom>
          <a:solidFill>
            <a:srgbClr val="1C2B4A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6217920" y="2788920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/>
          </a:p>
        </p:txBody>
      </p:sp>
      <p:sp>
        <p:nvSpPr>
          <p:cNvPr id="17" name="Shape 15"/>
          <p:cNvSpPr/>
          <p:nvPr/>
        </p:nvSpPr>
        <p:spPr>
          <a:xfrm>
            <a:off x="6720840" y="2788920"/>
            <a:ext cx="466344" cy="466344"/>
          </a:xfrm>
          <a:prstGeom prst="rect">
            <a:avLst/>
          </a:prstGeom>
          <a:solidFill>
            <a:srgbClr val="2DD4BF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6720840" y="2788920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500"/>
          </a:p>
        </p:txBody>
      </p:sp>
      <p:sp>
        <p:nvSpPr>
          <p:cNvPr id="19" name="Shape 17"/>
          <p:cNvSpPr/>
          <p:nvPr/>
        </p:nvSpPr>
        <p:spPr>
          <a:xfrm>
            <a:off x="7223760" y="2788920"/>
            <a:ext cx="466344" cy="466344"/>
          </a:xfrm>
          <a:prstGeom prst="rect">
            <a:avLst/>
          </a:prstGeom>
          <a:solidFill>
            <a:srgbClr val="1C2B4A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7223760" y="2788920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/>
          </a:p>
        </p:txBody>
      </p:sp>
      <p:sp>
        <p:nvSpPr>
          <p:cNvPr id="21" name="Shape 19"/>
          <p:cNvSpPr/>
          <p:nvPr/>
        </p:nvSpPr>
        <p:spPr>
          <a:xfrm>
            <a:off x="7726680" y="2788920"/>
            <a:ext cx="466344" cy="466344"/>
          </a:xfrm>
          <a:prstGeom prst="rect">
            <a:avLst/>
          </a:prstGeom>
          <a:solidFill>
            <a:srgbClr val="2DD4BF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7726680" y="2788920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500"/>
          </a:p>
        </p:txBody>
      </p:sp>
      <p:sp>
        <p:nvSpPr>
          <p:cNvPr id="23" name="Shape 21"/>
          <p:cNvSpPr/>
          <p:nvPr/>
        </p:nvSpPr>
        <p:spPr>
          <a:xfrm>
            <a:off x="6217920" y="3291840"/>
            <a:ext cx="466344" cy="466344"/>
          </a:xfrm>
          <a:prstGeom prst="rect">
            <a:avLst/>
          </a:prstGeom>
          <a:solidFill>
            <a:srgbClr val="2DD4BF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6217920" y="3291840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/>
          </a:p>
        </p:txBody>
      </p:sp>
      <p:sp>
        <p:nvSpPr>
          <p:cNvPr id="25" name="Shape 23"/>
          <p:cNvSpPr/>
          <p:nvPr/>
        </p:nvSpPr>
        <p:spPr>
          <a:xfrm>
            <a:off x="6720840" y="3291840"/>
            <a:ext cx="466344" cy="466344"/>
          </a:xfrm>
          <a:prstGeom prst="rect">
            <a:avLst/>
          </a:prstGeom>
          <a:solidFill>
            <a:srgbClr val="1C2B4A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6720840" y="3291840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/>
          </a:p>
        </p:txBody>
      </p:sp>
      <p:sp>
        <p:nvSpPr>
          <p:cNvPr id="27" name="Shape 25"/>
          <p:cNvSpPr/>
          <p:nvPr/>
        </p:nvSpPr>
        <p:spPr>
          <a:xfrm>
            <a:off x="7223760" y="3291840"/>
            <a:ext cx="466344" cy="466344"/>
          </a:xfrm>
          <a:prstGeom prst="rect">
            <a:avLst/>
          </a:prstGeom>
          <a:solidFill>
            <a:srgbClr val="1C2B4A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7223760" y="3291840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500"/>
          </a:p>
        </p:txBody>
      </p:sp>
      <p:sp>
        <p:nvSpPr>
          <p:cNvPr id="29" name="Shape 27"/>
          <p:cNvSpPr/>
          <p:nvPr/>
        </p:nvSpPr>
        <p:spPr>
          <a:xfrm>
            <a:off x="7726680" y="3291840"/>
            <a:ext cx="466344" cy="466344"/>
          </a:xfrm>
          <a:prstGeom prst="rect">
            <a:avLst/>
          </a:prstGeom>
          <a:solidFill>
            <a:srgbClr val="1C2B4A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7726680" y="3291840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/>
          </a:p>
        </p:txBody>
      </p:sp>
      <p:sp>
        <p:nvSpPr>
          <p:cNvPr id="31" name="Shape 29"/>
          <p:cNvSpPr/>
          <p:nvPr/>
        </p:nvSpPr>
        <p:spPr>
          <a:xfrm>
            <a:off x="6217920" y="3794760"/>
            <a:ext cx="466344" cy="466344"/>
          </a:xfrm>
          <a:prstGeom prst="rect">
            <a:avLst/>
          </a:prstGeom>
          <a:solidFill>
            <a:srgbClr val="1C2B4A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Text 30"/>
          <p:cNvSpPr/>
          <p:nvPr/>
        </p:nvSpPr>
        <p:spPr>
          <a:xfrm>
            <a:off x="6217920" y="3794760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/>
          </a:p>
        </p:txBody>
      </p:sp>
      <p:sp>
        <p:nvSpPr>
          <p:cNvPr id="33" name="Shape 31"/>
          <p:cNvSpPr/>
          <p:nvPr/>
        </p:nvSpPr>
        <p:spPr>
          <a:xfrm>
            <a:off x="6720840" y="3794760"/>
            <a:ext cx="466344" cy="466344"/>
          </a:xfrm>
          <a:prstGeom prst="rect">
            <a:avLst/>
          </a:prstGeom>
          <a:solidFill>
            <a:srgbClr val="1C2B4A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4" name="Text 32"/>
          <p:cNvSpPr/>
          <p:nvPr/>
        </p:nvSpPr>
        <p:spPr>
          <a:xfrm>
            <a:off x="6720840" y="3794760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/>
          </a:p>
        </p:txBody>
      </p:sp>
      <p:sp>
        <p:nvSpPr>
          <p:cNvPr id="35" name="Shape 33"/>
          <p:cNvSpPr/>
          <p:nvPr/>
        </p:nvSpPr>
        <p:spPr>
          <a:xfrm>
            <a:off x="7223760" y="3794760"/>
            <a:ext cx="466344" cy="466344"/>
          </a:xfrm>
          <a:prstGeom prst="rect">
            <a:avLst/>
          </a:prstGeom>
          <a:solidFill>
            <a:srgbClr val="1C2B4A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6" name="Text 34"/>
          <p:cNvSpPr/>
          <p:nvPr/>
        </p:nvSpPr>
        <p:spPr>
          <a:xfrm>
            <a:off x="7223760" y="3794760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/>
          </a:p>
        </p:txBody>
      </p:sp>
      <p:sp>
        <p:nvSpPr>
          <p:cNvPr id="37" name="Shape 35"/>
          <p:cNvSpPr/>
          <p:nvPr/>
        </p:nvSpPr>
        <p:spPr>
          <a:xfrm>
            <a:off x="7726680" y="3794760"/>
            <a:ext cx="466344" cy="466344"/>
          </a:xfrm>
          <a:prstGeom prst="rect">
            <a:avLst/>
          </a:prstGeom>
          <a:solidFill>
            <a:srgbClr val="2DD4BF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8" name="Text 36"/>
          <p:cNvSpPr/>
          <p:nvPr/>
        </p:nvSpPr>
        <p:spPr>
          <a:xfrm>
            <a:off x="7726680" y="3794760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500"/>
          </a:p>
        </p:txBody>
      </p:sp>
      <p:sp>
        <p:nvSpPr>
          <p:cNvPr id="39" name="Shape 37"/>
          <p:cNvSpPr/>
          <p:nvPr/>
        </p:nvSpPr>
        <p:spPr>
          <a:xfrm>
            <a:off x="8549640" y="2788920"/>
            <a:ext cx="50292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40" name="Shape 38"/>
          <p:cNvSpPr/>
          <p:nvPr/>
        </p:nvSpPr>
        <p:spPr>
          <a:xfrm>
            <a:off x="9235440" y="2537460"/>
            <a:ext cx="466344" cy="466344"/>
          </a:xfrm>
          <a:prstGeom prst="rect">
            <a:avLst/>
          </a:prstGeom>
          <a:solidFill>
            <a:srgbClr val="2DD4BF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1" name="Text 39"/>
          <p:cNvSpPr/>
          <p:nvPr/>
        </p:nvSpPr>
        <p:spPr>
          <a:xfrm>
            <a:off x="9235440" y="2537460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500"/>
          </a:p>
        </p:txBody>
      </p:sp>
      <p:sp>
        <p:nvSpPr>
          <p:cNvPr id="42" name="Shape 40"/>
          <p:cNvSpPr/>
          <p:nvPr/>
        </p:nvSpPr>
        <p:spPr>
          <a:xfrm>
            <a:off x="9889236" y="2537460"/>
            <a:ext cx="466344" cy="466344"/>
          </a:xfrm>
          <a:prstGeom prst="rect">
            <a:avLst/>
          </a:prstGeom>
          <a:solidFill>
            <a:srgbClr val="2DD4BF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3" name="Text 41"/>
          <p:cNvSpPr/>
          <p:nvPr/>
        </p:nvSpPr>
        <p:spPr>
          <a:xfrm>
            <a:off x="9889236" y="2537460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500"/>
          </a:p>
        </p:txBody>
      </p:sp>
      <p:sp>
        <p:nvSpPr>
          <p:cNvPr id="44" name="Shape 42"/>
          <p:cNvSpPr/>
          <p:nvPr/>
        </p:nvSpPr>
        <p:spPr>
          <a:xfrm>
            <a:off x="9235440" y="3191256"/>
            <a:ext cx="466344" cy="466344"/>
          </a:xfrm>
          <a:prstGeom prst="rect">
            <a:avLst/>
          </a:prstGeom>
          <a:solidFill>
            <a:srgbClr val="2DD4BF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5" name="Text 43"/>
          <p:cNvSpPr/>
          <p:nvPr/>
        </p:nvSpPr>
        <p:spPr>
          <a:xfrm>
            <a:off x="9235440" y="3191256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/>
          </a:p>
        </p:txBody>
      </p:sp>
      <p:sp>
        <p:nvSpPr>
          <p:cNvPr id="46" name="Shape 44"/>
          <p:cNvSpPr/>
          <p:nvPr/>
        </p:nvSpPr>
        <p:spPr>
          <a:xfrm>
            <a:off x="9889236" y="3191256"/>
            <a:ext cx="466344" cy="466344"/>
          </a:xfrm>
          <a:prstGeom prst="rect">
            <a:avLst/>
          </a:prstGeom>
          <a:solidFill>
            <a:srgbClr val="2DD4BF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7" name="Text 45"/>
          <p:cNvSpPr/>
          <p:nvPr/>
        </p:nvSpPr>
        <p:spPr>
          <a:xfrm>
            <a:off x="9889236" y="3191256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500"/>
          </a:p>
        </p:txBody>
      </p:sp>
      <p:sp>
        <p:nvSpPr>
          <p:cNvPr id="48" name="Shape 46"/>
          <p:cNvSpPr/>
          <p:nvPr/>
        </p:nvSpPr>
        <p:spPr>
          <a:xfrm>
            <a:off x="6217920" y="4571999"/>
            <a:ext cx="5120640" cy="960113"/>
          </a:xfrm>
          <a:prstGeom prst="roundRect">
            <a:avLst>
              <a:gd name="adj" fmla="val 10000"/>
            </a:avLst>
          </a:prstGeom>
          <a:solidFill>
            <a:srgbClr val="0A0F1C"/>
          </a:solidFill>
          <a:ln w="12700">
            <a:solidFill>
              <a:srgbClr val="26345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9" name="Shape 47"/>
          <p:cNvSpPr/>
          <p:nvPr/>
        </p:nvSpPr>
        <p:spPr>
          <a:xfrm>
            <a:off x="6382512" y="4718304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0" name="Shape 48"/>
          <p:cNvSpPr/>
          <p:nvPr/>
        </p:nvSpPr>
        <p:spPr>
          <a:xfrm>
            <a:off x="6565392" y="471830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1" name="Shape 49"/>
          <p:cNvSpPr/>
          <p:nvPr/>
        </p:nvSpPr>
        <p:spPr>
          <a:xfrm>
            <a:off x="6748272" y="4718304"/>
            <a:ext cx="109728" cy="109728"/>
          </a:xfrm>
          <a:prstGeom prst="ellipse">
            <a:avLst/>
          </a:prstGeom>
          <a:solidFill>
            <a:srgbClr val="6EE7B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2" name="Text 50"/>
          <p:cNvSpPr/>
          <p:nvPr/>
        </p:nvSpPr>
        <p:spPr>
          <a:xfrm>
            <a:off x="6446520" y="4983480"/>
            <a:ext cx="466344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nn.MaxPool2d(kernel_size=2)</a:t>
            </a:r>
            <a:endParaRPr lang="en-US" sz="1400"/>
          </a:p>
        </p:txBody>
      </p:sp>
      <p:sp>
        <p:nvSpPr>
          <p:cNvPr id="53" name="Text 51"/>
          <p:cNvSpPr/>
          <p:nvPr/>
        </p:nvSpPr>
        <p:spPr>
          <a:xfrm>
            <a:off x="6217920" y="55778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 змінює форму tensor — уважно рахуйте розміри перед Linear</a:t>
            </a:r>
            <a:endParaRPr lang="en-US" sz="1600"/>
          </a:p>
        </p:txBody>
      </p:sp>
      <p:sp>
        <p:nvSpPr>
          <p:cNvPr id="54" name="Text 52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BC1"/>
                </a:solidFill>
                <a:latin typeface="Calibri" pitchFamily="34" charset="0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39496" y="434126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Повний CNN pipeline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466344" y="2103120"/>
            <a:ext cx="987552" cy="914400"/>
          </a:xfrm>
          <a:prstGeom prst="roundRect">
            <a:avLst>
              <a:gd name="adj" fmla="val 8000"/>
            </a:avLst>
          </a:prstGeom>
          <a:solidFill>
            <a:srgbClr val="1C2B4A"/>
          </a:solidFill>
          <a:ln w="22860">
            <a:solidFill>
              <a:srgbClr val="8B9BC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466344" y="2103120"/>
            <a:ext cx="987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8B9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1453896" y="2560320"/>
            <a:ext cx="164592" cy="0"/>
          </a:xfrm>
          <a:prstGeom prst="line">
            <a:avLst/>
          </a:prstGeom>
          <a:noFill/>
          <a:ln w="19050">
            <a:solidFill>
              <a:srgbClr val="8B9BC1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1618488" y="2103120"/>
            <a:ext cx="987552" cy="91440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2286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1618488" y="2103120"/>
            <a:ext cx="987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Conv2d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2606040" y="2560320"/>
            <a:ext cx="164592" cy="0"/>
          </a:xfrm>
          <a:prstGeom prst="line">
            <a:avLst/>
          </a:prstGeom>
          <a:noFill/>
          <a:ln w="19050">
            <a:solidFill>
              <a:srgbClr val="8B9BC1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2770632" y="2103120"/>
            <a:ext cx="987552" cy="91440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2286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2770632" y="2103120"/>
            <a:ext cx="987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ReLU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3758184" y="2560320"/>
            <a:ext cx="164592" cy="0"/>
          </a:xfrm>
          <a:prstGeom prst="line">
            <a:avLst/>
          </a:prstGeom>
          <a:noFill/>
          <a:ln w="19050">
            <a:solidFill>
              <a:srgbClr val="8B9BC1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3922776" y="2103120"/>
            <a:ext cx="987552" cy="91440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228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3922776" y="2103120"/>
            <a:ext cx="987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MaxPool2d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4910328" y="2560320"/>
            <a:ext cx="164592" cy="0"/>
          </a:xfrm>
          <a:prstGeom prst="line">
            <a:avLst/>
          </a:prstGeom>
          <a:noFill/>
          <a:ln w="19050">
            <a:solidFill>
              <a:srgbClr val="8B9BC1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5074920" y="2103120"/>
            <a:ext cx="987552" cy="91440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2286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5074920" y="2103120"/>
            <a:ext cx="987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Conv2d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6062472" y="2560320"/>
            <a:ext cx="164592" cy="0"/>
          </a:xfrm>
          <a:prstGeom prst="line">
            <a:avLst/>
          </a:prstGeom>
          <a:noFill/>
          <a:ln w="19050">
            <a:solidFill>
              <a:srgbClr val="8B9BC1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6227064" y="2103120"/>
            <a:ext cx="987552" cy="91440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2286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6227064" y="2103120"/>
            <a:ext cx="987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ReLU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7214616" y="2560320"/>
            <a:ext cx="164592" cy="0"/>
          </a:xfrm>
          <a:prstGeom prst="line">
            <a:avLst/>
          </a:prstGeom>
          <a:noFill/>
          <a:ln w="19050">
            <a:solidFill>
              <a:srgbClr val="8B9BC1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22" name="Shape 20"/>
          <p:cNvSpPr/>
          <p:nvPr/>
        </p:nvSpPr>
        <p:spPr>
          <a:xfrm>
            <a:off x="7379208" y="2103120"/>
            <a:ext cx="987552" cy="91440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228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7379208" y="2103120"/>
            <a:ext cx="987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MaxPool2d</a:t>
            </a:r>
            <a:endParaRPr lang="en-US" sz="1100"/>
          </a:p>
        </p:txBody>
      </p:sp>
      <p:sp>
        <p:nvSpPr>
          <p:cNvPr id="24" name="Shape 22"/>
          <p:cNvSpPr/>
          <p:nvPr/>
        </p:nvSpPr>
        <p:spPr>
          <a:xfrm>
            <a:off x="8366760" y="2560320"/>
            <a:ext cx="164592" cy="0"/>
          </a:xfrm>
          <a:prstGeom prst="line">
            <a:avLst/>
          </a:prstGeom>
          <a:noFill/>
          <a:ln w="19050">
            <a:solidFill>
              <a:srgbClr val="8B9BC1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25" name="Shape 23"/>
          <p:cNvSpPr/>
          <p:nvPr/>
        </p:nvSpPr>
        <p:spPr>
          <a:xfrm>
            <a:off x="8531352" y="2103120"/>
            <a:ext cx="987552" cy="91440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2286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8531352" y="2103120"/>
            <a:ext cx="987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Flatten</a:t>
            </a:r>
            <a:endParaRPr lang="en-US" sz="1100"/>
          </a:p>
        </p:txBody>
      </p:sp>
      <p:sp>
        <p:nvSpPr>
          <p:cNvPr id="27" name="Shape 25"/>
          <p:cNvSpPr/>
          <p:nvPr/>
        </p:nvSpPr>
        <p:spPr>
          <a:xfrm>
            <a:off x="9518904" y="2560320"/>
            <a:ext cx="164592" cy="0"/>
          </a:xfrm>
          <a:prstGeom prst="line">
            <a:avLst/>
          </a:prstGeom>
          <a:noFill/>
          <a:ln w="19050">
            <a:solidFill>
              <a:srgbClr val="8B9BC1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28" name="Shape 26"/>
          <p:cNvSpPr/>
          <p:nvPr/>
        </p:nvSpPr>
        <p:spPr>
          <a:xfrm>
            <a:off x="9683496" y="2103120"/>
            <a:ext cx="987552" cy="91440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 w="2286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9683496" y="2103120"/>
            <a:ext cx="987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10671048" y="2560320"/>
            <a:ext cx="164592" cy="0"/>
          </a:xfrm>
          <a:prstGeom prst="line">
            <a:avLst/>
          </a:prstGeom>
          <a:noFill/>
          <a:ln w="19050">
            <a:solidFill>
              <a:srgbClr val="8B9BC1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31" name="Shape 29"/>
          <p:cNvSpPr/>
          <p:nvPr/>
        </p:nvSpPr>
        <p:spPr>
          <a:xfrm>
            <a:off x="10835640" y="2103120"/>
            <a:ext cx="987552" cy="914400"/>
          </a:xfrm>
          <a:prstGeom prst="roundRect">
            <a:avLst>
              <a:gd name="adj" fmla="val 8000"/>
            </a:avLst>
          </a:prstGeom>
          <a:solidFill>
            <a:srgbClr val="1C2B4A"/>
          </a:solidFill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Text 30"/>
          <p:cNvSpPr/>
          <p:nvPr/>
        </p:nvSpPr>
        <p:spPr>
          <a:xfrm>
            <a:off x="10835640" y="2103120"/>
            <a:ext cx="987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logits</a:t>
            </a:r>
            <a:endParaRPr lang="en-US" sz="1100"/>
          </a:p>
        </p:txBody>
      </p:sp>
      <p:sp>
        <p:nvSpPr>
          <p:cNvPr id="33" name="Text 31"/>
          <p:cNvSpPr/>
          <p:nvPr/>
        </p:nvSpPr>
        <p:spPr>
          <a:xfrm>
            <a:off x="1033272" y="3626835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block витягує ознаки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перетворює feature maps у vector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робить фінальну класифікацію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70916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model code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400800" cy="4297680"/>
          </a:xfrm>
          <a:prstGeom prst="roundRect">
            <a:avLst>
              <a:gd name="adj" fmla="val 1702"/>
            </a:avLst>
          </a:prstGeom>
          <a:solidFill>
            <a:srgbClr val="0A0F1C"/>
          </a:solidFill>
          <a:ln w="12700">
            <a:solidFill>
              <a:srgbClr val="26345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713232" y="1929384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896112" y="192938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1078992" y="1929384"/>
            <a:ext cx="109728" cy="109728"/>
          </a:xfrm>
          <a:prstGeom prst="ellipse">
            <a:avLst/>
          </a:prstGeom>
          <a:solidFill>
            <a:srgbClr val="6EE7B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594360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nn.Sequential(</a:t>
            </a:r>
            <a:endParaRPr lang="en-US" sz="1400"/>
          </a:p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nn.Conv2d(</a:t>
            </a:r>
            <a:r>
              <a:rPr lang="en-US" sz="1400">
                <a:solidFill>
                  <a:srgbClr val="00B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40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400">
                <a:solidFill>
                  <a:srgbClr val="00B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r>
              <a:rPr lang="en-US" sz="140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400">
                <a:solidFill>
                  <a:srgbClr val="C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kernel_size=</a:t>
            </a:r>
            <a:r>
              <a:rPr lang="en-US" sz="1400">
                <a:solidFill>
                  <a:srgbClr val="00B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40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400">
                <a:solidFill>
                  <a:srgbClr val="C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padding=</a:t>
            </a:r>
            <a:r>
              <a:rPr lang="en-US" sz="1400">
                <a:solidFill>
                  <a:srgbClr val="00B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40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400"/>
          </a:p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nn.ReLU(),</a:t>
            </a:r>
            <a:endParaRPr lang="en-US" sz="1400"/>
          </a:p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nn.MaxPool2d(</a:t>
            </a:r>
            <a:r>
              <a:rPr lang="en-US" sz="1400">
                <a:solidFill>
                  <a:srgbClr val="00B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40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400"/>
          </a:p>
          <a:p>
            <a:pPr marL="0" indent="0">
              <a:lnSpc>
                <a:spcPct val="115000"/>
              </a:lnSpc>
              <a:buNone/>
            </a:pPr>
            <a:endParaRPr lang="en-US" sz="1400"/>
          </a:p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nn.Conv2d(</a:t>
            </a:r>
            <a:r>
              <a:rPr lang="en-US" sz="1400">
                <a:solidFill>
                  <a:srgbClr val="00B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r>
              <a:rPr lang="en-US" sz="140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400">
                <a:solidFill>
                  <a:srgbClr val="00B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r>
              <a:rPr lang="en-US" sz="140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400">
                <a:solidFill>
                  <a:srgbClr val="C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kernel_size=</a:t>
            </a:r>
            <a:r>
              <a:rPr lang="en-US" sz="1400">
                <a:solidFill>
                  <a:srgbClr val="00B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40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400">
                <a:solidFill>
                  <a:srgbClr val="C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padding=</a:t>
            </a:r>
            <a:r>
              <a:rPr lang="en-US" sz="1400">
                <a:solidFill>
                  <a:srgbClr val="00B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40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400"/>
          </a:p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nn.ReLU(),</a:t>
            </a:r>
            <a:endParaRPr lang="en-US" sz="1400"/>
          </a:p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nn.MaxPool2d(</a:t>
            </a:r>
            <a:r>
              <a:rPr lang="en-US" sz="1400">
                <a:solidFill>
                  <a:srgbClr val="00B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40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400"/>
          </a:p>
          <a:p>
            <a:pPr marL="0" indent="0">
              <a:lnSpc>
                <a:spcPct val="115000"/>
              </a:lnSpc>
              <a:buNone/>
            </a:pPr>
            <a:endParaRPr lang="en-US" sz="1400"/>
          </a:p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nn.Flatten(),</a:t>
            </a:r>
            <a:endParaRPr lang="en-US" sz="1400"/>
          </a:p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nn.Linear(</a:t>
            </a:r>
            <a:r>
              <a:rPr lang="en-US" sz="1400">
                <a:solidFill>
                  <a:srgbClr val="00B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r>
              <a:rPr lang="en-US" sz="140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r>
              <a:rPr lang="en-US" sz="1400">
                <a:solidFill>
                  <a:srgbClr val="00B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r>
              <a:rPr lang="en-US" sz="140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r>
              <a:rPr lang="en-US" sz="1400">
                <a:solidFill>
                  <a:srgbClr val="00B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r>
              <a:rPr lang="en-US" sz="140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400">
                <a:solidFill>
                  <a:srgbClr val="00B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40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400"/>
          </a:p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7223760" y="2011680"/>
            <a:ext cx="45720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nn.Flatten() замінює ручний torch.flatten(...) у forward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Після двох MaxPool2d(2): 28x28 → 14x14 → 7x7, тому Linear(32 * 7 * 7, 10)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800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function для multiclass classification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1206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MNIST/Fashion-MNIST використовуємо CrossEntropyLoss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повертає logits, а не probabilities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мають бути class indices: 0, 1, 2, ...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82056" y="1920240"/>
            <a:ext cx="5751320" cy="2194560"/>
          </a:xfrm>
          <a:prstGeom prst="roundRect">
            <a:avLst>
              <a:gd name="adj" fmla="val 3333"/>
            </a:avLst>
          </a:prstGeom>
          <a:solidFill>
            <a:srgbClr val="0A0F1C"/>
          </a:solidFill>
          <a:ln w="12700">
            <a:solidFill>
              <a:srgbClr val="26345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6199632" y="2066544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6382512" y="206654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6565392" y="2066544"/>
            <a:ext cx="109728" cy="109728"/>
          </a:xfrm>
          <a:prstGeom prst="ellipse">
            <a:avLst/>
          </a:prstGeom>
          <a:solidFill>
            <a:srgbClr val="6EE7B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6263640" y="2331720"/>
            <a:ext cx="5230453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loss_fn = nn.CrossEntropyLoss()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logits = model(images)         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[N, 10]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= loss_fn(logits, labels) 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labels: [N]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336619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Базовий train loop для CNN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685800" y="1516195"/>
            <a:ext cx="10332720" cy="566928"/>
          </a:xfrm>
          <a:prstGeom prst="roundRect">
            <a:avLst>
              <a:gd name="adj" fmla="val 16129"/>
            </a:avLst>
          </a:prstGeom>
          <a:solidFill>
            <a:srgbClr val="16213A"/>
          </a:solidFill>
          <a:ln w="12700">
            <a:solidFill>
              <a:srgbClr val="2634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868680" y="1635067"/>
            <a:ext cx="329184" cy="329184"/>
          </a:xfrm>
          <a:prstGeom prst="ellipse">
            <a:avLst/>
          </a:prstGeom>
          <a:solidFill>
            <a:srgbClr val="8B9BC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868680" y="163506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1371600" y="1516195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model.train()</a:t>
            </a:r>
            <a:endParaRPr lang="en-US" sz="1500"/>
          </a:p>
        </p:txBody>
      </p:sp>
      <p:sp>
        <p:nvSpPr>
          <p:cNvPr id="8" name="Shape 6"/>
          <p:cNvSpPr/>
          <p:nvPr/>
        </p:nvSpPr>
        <p:spPr>
          <a:xfrm>
            <a:off x="685800" y="2211139"/>
            <a:ext cx="10332720" cy="566928"/>
          </a:xfrm>
          <a:prstGeom prst="roundRect">
            <a:avLst>
              <a:gd name="adj" fmla="val 16129"/>
            </a:avLst>
          </a:prstGeom>
          <a:solidFill>
            <a:srgbClr val="16213A"/>
          </a:solidFill>
          <a:ln w="12700">
            <a:solidFill>
              <a:srgbClr val="2634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868680" y="2330011"/>
            <a:ext cx="329184" cy="32918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868680" y="233001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1371600" y="2211139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 pass</a:t>
            </a:r>
            <a:endParaRPr lang="en-US" sz="1500"/>
          </a:p>
        </p:txBody>
      </p:sp>
      <p:sp>
        <p:nvSpPr>
          <p:cNvPr id="12" name="Shape 10"/>
          <p:cNvSpPr/>
          <p:nvPr/>
        </p:nvSpPr>
        <p:spPr>
          <a:xfrm>
            <a:off x="685800" y="2906083"/>
            <a:ext cx="10332720" cy="566928"/>
          </a:xfrm>
          <a:prstGeom prst="roundRect">
            <a:avLst>
              <a:gd name="adj" fmla="val 16129"/>
            </a:avLst>
          </a:prstGeom>
          <a:solidFill>
            <a:srgbClr val="16213A"/>
          </a:solidFill>
          <a:ln w="12700">
            <a:solidFill>
              <a:srgbClr val="2634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868680" y="3024955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868680" y="302495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1371600" y="2906083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</a:t>
            </a:r>
            <a:endParaRPr lang="en-US" sz="1500"/>
          </a:p>
        </p:txBody>
      </p:sp>
      <p:sp>
        <p:nvSpPr>
          <p:cNvPr id="16" name="Shape 14"/>
          <p:cNvSpPr/>
          <p:nvPr/>
        </p:nvSpPr>
        <p:spPr>
          <a:xfrm>
            <a:off x="685800" y="3601027"/>
            <a:ext cx="10332720" cy="566928"/>
          </a:xfrm>
          <a:prstGeom prst="roundRect">
            <a:avLst>
              <a:gd name="adj" fmla="val 16129"/>
            </a:avLst>
          </a:prstGeom>
          <a:solidFill>
            <a:srgbClr val="16213A"/>
          </a:solidFill>
          <a:ln w="12700">
            <a:solidFill>
              <a:srgbClr val="2634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868680" y="3719899"/>
            <a:ext cx="329184" cy="329184"/>
          </a:xfrm>
          <a:prstGeom prst="ellipse">
            <a:avLst/>
          </a:prstGeom>
          <a:solidFill>
            <a:srgbClr val="6EE7B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868680" y="371989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1371600" y="3601027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optimizer.zero_grad()</a:t>
            </a:r>
            <a:endParaRPr lang="en-US" sz="1500"/>
          </a:p>
        </p:txBody>
      </p:sp>
      <p:sp>
        <p:nvSpPr>
          <p:cNvPr id="20" name="Shape 18"/>
          <p:cNvSpPr/>
          <p:nvPr/>
        </p:nvSpPr>
        <p:spPr>
          <a:xfrm>
            <a:off x="685800" y="4295971"/>
            <a:ext cx="10332720" cy="566928"/>
          </a:xfrm>
          <a:prstGeom prst="roundRect">
            <a:avLst>
              <a:gd name="adj" fmla="val 16129"/>
            </a:avLst>
          </a:prstGeom>
          <a:solidFill>
            <a:srgbClr val="16213A"/>
          </a:solidFill>
          <a:ln w="12700">
            <a:solidFill>
              <a:srgbClr val="2634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868680" y="4414843"/>
            <a:ext cx="329184" cy="32918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868680" y="441484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/>
          </a:p>
        </p:txBody>
      </p:sp>
      <p:sp>
        <p:nvSpPr>
          <p:cNvPr id="23" name="Text 21"/>
          <p:cNvSpPr/>
          <p:nvPr/>
        </p:nvSpPr>
        <p:spPr>
          <a:xfrm>
            <a:off x="1371600" y="4295971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loss.backward()</a:t>
            </a:r>
            <a:endParaRPr lang="en-US" sz="1500"/>
          </a:p>
        </p:txBody>
      </p:sp>
      <p:sp>
        <p:nvSpPr>
          <p:cNvPr id="24" name="Shape 22"/>
          <p:cNvSpPr/>
          <p:nvPr/>
        </p:nvSpPr>
        <p:spPr>
          <a:xfrm>
            <a:off x="685800" y="4990915"/>
            <a:ext cx="10332720" cy="566928"/>
          </a:xfrm>
          <a:prstGeom prst="roundRect">
            <a:avLst>
              <a:gd name="adj" fmla="val 16129"/>
            </a:avLst>
          </a:prstGeom>
          <a:solidFill>
            <a:srgbClr val="16213A"/>
          </a:solidFill>
          <a:ln w="12700">
            <a:solidFill>
              <a:srgbClr val="2634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5" name="Shape 23"/>
          <p:cNvSpPr/>
          <p:nvPr/>
        </p:nvSpPr>
        <p:spPr>
          <a:xfrm>
            <a:off x="868680" y="5109787"/>
            <a:ext cx="329184" cy="329184"/>
          </a:xfrm>
          <a:prstGeom prst="ellipse">
            <a:avLst/>
          </a:prstGeom>
          <a:solidFill>
            <a:srgbClr val="6EE7B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868680" y="510978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/>
          </a:p>
        </p:txBody>
      </p:sp>
      <p:sp>
        <p:nvSpPr>
          <p:cNvPr id="27" name="Text 25"/>
          <p:cNvSpPr/>
          <p:nvPr/>
        </p:nvSpPr>
        <p:spPr>
          <a:xfrm>
            <a:off x="1371600" y="4990915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optimizer.step()</a:t>
            </a:r>
            <a:endParaRPr lang="en-US" sz="1500"/>
          </a:p>
        </p:txBody>
      </p:sp>
      <p:sp>
        <p:nvSpPr>
          <p:cNvPr id="28" name="Text 26"/>
          <p:cNvSpPr/>
          <p:nvPr/>
        </p:nvSpPr>
        <p:spPr>
          <a:xfrm>
            <a:off x="914400" y="5986671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8B9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Той самий порядок, який ви вже бачили в попередніх PyTorch заняттях.</a:t>
            </a:r>
            <a:endParaRPr lang="en-US" sz="1400"/>
          </a:p>
        </p:txBody>
      </p:sp>
      <p:sp>
        <p:nvSpPr>
          <p:cNvPr id="29" name="Text 27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800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на test set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669280" cy="2560320"/>
          </a:xfrm>
          <a:prstGeom prst="roundRect">
            <a:avLst>
              <a:gd name="adj" fmla="val 2857"/>
            </a:avLst>
          </a:prstGeom>
          <a:solidFill>
            <a:srgbClr val="0A0F1C"/>
          </a:solidFill>
          <a:ln w="12700">
            <a:solidFill>
              <a:srgbClr val="26345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713232" y="2066544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896112" y="206654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1078992" y="2066544"/>
            <a:ext cx="109728" cy="109728"/>
          </a:xfrm>
          <a:prstGeom prst="ellipse">
            <a:avLst/>
          </a:prstGeom>
          <a:solidFill>
            <a:srgbClr val="6EE7B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521208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model.eval()</a:t>
            </a:r>
            <a:endParaRPr lang="en-US" sz="1400"/>
          </a:p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torch.no_grad():</a:t>
            </a:r>
            <a:endParaRPr lang="en-US" sz="1400"/>
          </a:p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logits = model(images)</a:t>
            </a:r>
            <a:endParaRPr lang="en-US" sz="1400"/>
          </a:p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preds = logits.argmax(dim=1)</a:t>
            </a:r>
            <a:endParaRPr lang="en-US" sz="1400"/>
          </a:p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correct += (preds == labels).sum()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6492240" y="192024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model.eval()</a:t>
            </a:r>
            <a:endParaRPr lang="en-US" sz="200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torch.no_grad()</a:t>
            </a:r>
            <a:endParaRPr lang="en-US" sz="200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через argmax</a:t>
            </a:r>
            <a:endParaRPr lang="en-US" sz="200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частка правильних відповідей</a:t>
            </a:r>
            <a:endParaRPr lang="en-US" sz="2000"/>
          </a:p>
        </p:txBody>
      </p:sp>
      <p:sp>
        <p:nvSpPr>
          <p:cNvPr id="10" name="Shape 8"/>
          <p:cNvSpPr/>
          <p:nvPr/>
        </p:nvSpPr>
        <p:spPr>
          <a:xfrm>
            <a:off x="6492240" y="4049852"/>
            <a:ext cx="5029200" cy="1143000"/>
          </a:xfrm>
          <a:prstGeom prst="roundRect">
            <a:avLst>
              <a:gd name="adj" fmla="val 6250"/>
            </a:avLst>
          </a:prstGeom>
          <a:solidFill>
            <a:srgbClr val="16213A"/>
          </a:solidFill>
          <a:ln w="12700">
            <a:solidFill>
              <a:srgbClr val="2634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6766560" y="4049852"/>
            <a:ext cx="4572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показує загальну якість, але не пояснює, які саме класи модель плутає.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76072" y="3657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Приклади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прогнозів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36676" y="2103120"/>
            <a:ext cx="1920240" cy="2743200"/>
          </a:xfrm>
          <a:prstGeom prst="roundRect">
            <a:avLst>
              <a:gd name="adj" fmla="val 4762"/>
            </a:avLst>
          </a:prstGeom>
          <a:solidFill>
            <a:srgbClr val="16213A"/>
          </a:solidFill>
          <a:ln w="12700">
            <a:solidFill>
              <a:srgbClr val="2634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1293876" y="2377440"/>
            <a:ext cx="1005840" cy="1005840"/>
          </a:xfrm>
          <a:prstGeom prst="rect">
            <a:avLst/>
          </a:prstGeom>
          <a:solidFill>
            <a:srgbClr val="0A0F1C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1293876" y="2377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4800"/>
          </a:p>
        </p:txBody>
      </p:sp>
      <p:sp>
        <p:nvSpPr>
          <p:cNvPr id="7" name="Text 5"/>
          <p:cNvSpPr/>
          <p:nvPr/>
        </p:nvSpPr>
        <p:spPr>
          <a:xfrm>
            <a:off x="836676" y="4069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8B9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true: 8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836676" y="4389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pred: 8</a:t>
            </a:r>
            <a:endParaRPr lang="en-US" sz="1500"/>
          </a:p>
        </p:txBody>
      </p:sp>
      <p:sp>
        <p:nvSpPr>
          <p:cNvPr id="9" name="Shape 7"/>
          <p:cNvSpPr/>
          <p:nvPr/>
        </p:nvSpPr>
        <p:spPr>
          <a:xfrm>
            <a:off x="2985516" y="2103120"/>
            <a:ext cx="1920240" cy="2743200"/>
          </a:xfrm>
          <a:prstGeom prst="roundRect">
            <a:avLst>
              <a:gd name="adj" fmla="val 4762"/>
            </a:avLst>
          </a:prstGeom>
          <a:solidFill>
            <a:srgbClr val="16213A"/>
          </a:solidFill>
          <a:ln w="12700">
            <a:solidFill>
              <a:srgbClr val="2634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3442716" y="2377440"/>
            <a:ext cx="1005840" cy="1005840"/>
          </a:xfrm>
          <a:prstGeom prst="rect">
            <a:avLst/>
          </a:prstGeom>
          <a:solidFill>
            <a:srgbClr val="0A0F1C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3442716" y="2377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4800"/>
          </a:p>
        </p:txBody>
      </p:sp>
      <p:sp>
        <p:nvSpPr>
          <p:cNvPr id="12" name="Text 10"/>
          <p:cNvSpPr/>
          <p:nvPr/>
        </p:nvSpPr>
        <p:spPr>
          <a:xfrm>
            <a:off x="2985516" y="4069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8B9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true: 3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2985516" y="4389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pred: 3</a:t>
            </a:r>
            <a:endParaRPr lang="en-US" sz="1500"/>
          </a:p>
        </p:txBody>
      </p:sp>
      <p:sp>
        <p:nvSpPr>
          <p:cNvPr id="14" name="Shape 12"/>
          <p:cNvSpPr/>
          <p:nvPr/>
        </p:nvSpPr>
        <p:spPr>
          <a:xfrm>
            <a:off x="5134356" y="2103120"/>
            <a:ext cx="1920240" cy="2743200"/>
          </a:xfrm>
          <a:prstGeom prst="roundRect">
            <a:avLst>
              <a:gd name="adj" fmla="val 4762"/>
            </a:avLst>
          </a:prstGeom>
          <a:solidFill>
            <a:srgbClr val="16213A"/>
          </a:solidFill>
          <a:ln w="12700">
            <a:solidFill>
              <a:srgbClr val="2634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5591556" y="2377440"/>
            <a:ext cx="1005840" cy="1005840"/>
          </a:xfrm>
          <a:prstGeom prst="rect">
            <a:avLst/>
          </a:prstGeom>
          <a:solidFill>
            <a:srgbClr val="0A0F1C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5591556" y="2377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4800"/>
          </a:p>
        </p:txBody>
      </p:sp>
      <p:sp>
        <p:nvSpPr>
          <p:cNvPr id="17" name="Text 15"/>
          <p:cNvSpPr/>
          <p:nvPr/>
        </p:nvSpPr>
        <p:spPr>
          <a:xfrm>
            <a:off x="5134356" y="4069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8B9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true: 7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5134356" y="4389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pred: 7</a:t>
            </a:r>
            <a:endParaRPr lang="en-US" sz="1500"/>
          </a:p>
        </p:txBody>
      </p:sp>
      <p:sp>
        <p:nvSpPr>
          <p:cNvPr id="19" name="Shape 17"/>
          <p:cNvSpPr/>
          <p:nvPr/>
        </p:nvSpPr>
        <p:spPr>
          <a:xfrm>
            <a:off x="7283196" y="2103120"/>
            <a:ext cx="1920240" cy="2743200"/>
          </a:xfrm>
          <a:prstGeom prst="roundRect">
            <a:avLst>
              <a:gd name="adj" fmla="val 4762"/>
            </a:avLst>
          </a:prstGeom>
          <a:solidFill>
            <a:srgbClr val="2A1A1A"/>
          </a:solidFill>
          <a:ln w="12700">
            <a:solidFill>
              <a:srgbClr val="2634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7740396" y="2377440"/>
            <a:ext cx="1005840" cy="1005840"/>
          </a:xfrm>
          <a:prstGeom prst="rect">
            <a:avLst/>
          </a:prstGeom>
          <a:solidFill>
            <a:srgbClr val="0A0F1C"/>
          </a:solidFill>
          <a:ln w="1905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7740396" y="2377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4800"/>
          </a:p>
        </p:txBody>
      </p:sp>
      <p:sp>
        <p:nvSpPr>
          <p:cNvPr id="22" name="Text 20"/>
          <p:cNvSpPr/>
          <p:nvPr/>
        </p:nvSpPr>
        <p:spPr>
          <a:xfrm>
            <a:off x="7283196" y="4069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8B9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true: 4</a:t>
            </a:r>
            <a:endParaRPr lang="en-US" sz="1300"/>
          </a:p>
        </p:txBody>
      </p:sp>
      <p:sp>
        <p:nvSpPr>
          <p:cNvPr id="23" name="Text 21"/>
          <p:cNvSpPr/>
          <p:nvPr/>
        </p:nvSpPr>
        <p:spPr>
          <a:xfrm>
            <a:off x="7283196" y="4389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pred: 9</a:t>
            </a:r>
            <a:endParaRPr lang="en-US" sz="1500"/>
          </a:p>
        </p:txBody>
      </p:sp>
      <p:sp>
        <p:nvSpPr>
          <p:cNvPr id="24" name="Shape 22"/>
          <p:cNvSpPr/>
          <p:nvPr/>
        </p:nvSpPr>
        <p:spPr>
          <a:xfrm>
            <a:off x="9432036" y="2103120"/>
            <a:ext cx="1920240" cy="2743200"/>
          </a:xfrm>
          <a:prstGeom prst="roundRect">
            <a:avLst>
              <a:gd name="adj" fmla="val 4762"/>
            </a:avLst>
          </a:prstGeom>
          <a:solidFill>
            <a:srgbClr val="2A1A1A"/>
          </a:solidFill>
          <a:ln w="12700">
            <a:solidFill>
              <a:srgbClr val="2634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5" name="Shape 23"/>
          <p:cNvSpPr/>
          <p:nvPr/>
        </p:nvSpPr>
        <p:spPr>
          <a:xfrm>
            <a:off x="9889236" y="2377440"/>
            <a:ext cx="1005840" cy="1005840"/>
          </a:xfrm>
          <a:prstGeom prst="rect">
            <a:avLst/>
          </a:prstGeom>
          <a:solidFill>
            <a:srgbClr val="0A0F1C"/>
          </a:solidFill>
          <a:ln w="1905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9889236" y="2377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4800"/>
          </a:p>
        </p:txBody>
      </p:sp>
      <p:sp>
        <p:nvSpPr>
          <p:cNvPr id="27" name="Text 25"/>
          <p:cNvSpPr/>
          <p:nvPr/>
        </p:nvSpPr>
        <p:spPr>
          <a:xfrm>
            <a:off x="9432036" y="4069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8B9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true: 5</a:t>
            </a:r>
            <a:endParaRPr lang="en-US" sz="1300"/>
          </a:p>
        </p:txBody>
      </p:sp>
      <p:sp>
        <p:nvSpPr>
          <p:cNvPr id="28" name="Text 26"/>
          <p:cNvSpPr/>
          <p:nvPr/>
        </p:nvSpPr>
        <p:spPr>
          <a:xfrm>
            <a:off x="9432036" y="4389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pred: 6</a:t>
            </a:r>
            <a:endParaRPr lang="en-US" sz="1500"/>
          </a:p>
        </p:txBody>
      </p:sp>
      <p:sp>
        <p:nvSpPr>
          <p:cNvPr id="29" name="Text 27"/>
          <p:cNvSpPr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Помилки часто корисніші для аналізу, ніж тільки фінальна accuracy.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76072" y="5257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classification vs object detection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120640" cy="3657600"/>
          </a:xfrm>
          <a:prstGeom prst="roundRect">
            <a:avLst>
              <a:gd name="adj" fmla="val 2500"/>
            </a:avLst>
          </a:prstGeom>
          <a:solidFill>
            <a:srgbClr val="16213A"/>
          </a:solidFill>
          <a:ln w="12700">
            <a:solidFill>
              <a:srgbClr val="2634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914400" y="2194560"/>
            <a:ext cx="1316736" cy="29260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914400" y="2743200"/>
            <a:ext cx="4480560" cy="1828800"/>
          </a:xfrm>
          <a:prstGeom prst="rect">
            <a:avLst/>
          </a:prstGeom>
          <a:solidFill>
            <a:srgbClr val="0A0F1C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кіт</a:t>
            </a:r>
            <a:endParaRPr lang="en-US" sz="2800"/>
          </a:p>
        </p:txBody>
      </p:sp>
      <p:sp>
        <p:nvSpPr>
          <p:cNvPr id="9" name="Text 7"/>
          <p:cNvSpPr/>
          <p:nvPr/>
        </p:nvSpPr>
        <p:spPr>
          <a:xfrm>
            <a:off x="914400" y="47091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Відповідає: що </a:t>
            </a:r>
            <a:r>
              <a:rPr lang="en-US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зображено</a:t>
            </a: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 </a:t>
            </a:r>
            <a:r>
              <a:rPr lang="en-US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картинці</a:t>
            </a: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156960" y="1920240"/>
            <a:ext cx="5120640" cy="3657600"/>
          </a:xfrm>
          <a:prstGeom prst="roundRect">
            <a:avLst>
              <a:gd name="adj" fmla="val 2500"/>
            </a:avLst>
          </a:prstGeom>
          <a:solidFill>
            <a:srgbClr val="16213A"/>
          </a:solidFill>
          <a:ln w="12700">
            <a:solidFill>
              <a:srgbClr val="2634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6675120" y="2194560"/>
            <a:ext cx="1481328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6675120" y="219456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6414516" y="2753487"/>
            <a:ext cx="4480560" cy="1828800"/>
          </a:xfrm>
          <a:prstGeom prst="rect">
            <a:avLst/>
          </a:prstGeom>
          <a:solidFill>
            <a:srgbClr val="0A0F1C"/>
          </a:solidFill>
          <a:ln w="12700">
            <a:solidFill>
              <a:srgbClr val="26345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6949440" y="3042666"/>
            <a:ext cx="1463040" cy="1280160"/>
          </a:xfrm>
          <a:prstGeom prst="rect">
            <a:avLst/>
          </a:prstGeom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6949440" y="2788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кіт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8778240" y="3541014"/>
            <a:ext cx="1280160" cy="914400"/>
          </a:xfrm>
          <a:prstGeom prst="rect">
            <a:avLst/>
          </a:prstGeom>
          <a:ln w="254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8778240" y="32918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м'яч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6675120" y="47091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Відповідає: які об'єкти є і де вони розташовані (bounding boxes)?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4614" y="5943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B9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Детальніше</a:t>
            </a:r>
            <a:r>
              <a:rPr lang="uk-UA" sz="1600" i="1" dirty="0">
                <a:solidFill>
                  <a:srgbClr val="8B9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про</a:t>
            </a:r>
            <a:r>
              <a:rPr lang="en-US" sz="1600" i="1" dirty="0">
                <a:solidFill>
                  <a:srgbClr val="8B9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object detection </a:t>
            </a:r>
            <a:r>
              <a:rPr lang="uk-UA" sz="1600" i="1" dirty="0">
                <a:solidFill>
                  <a:srgbClr val="8B9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600" i="1" dirty="0">
                <a:solidFill>
                  <a:srgbClr val="8B9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наступному занятті.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76072" y="557784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Практичний чекліст CNN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713232"/>
          </a:xfrm>
          <a:prstGeom prst="roundRect">
            <a:avLst>
              <a:gd name="adj" fmla="val 12821"/>
            </a:avLst>
          </a:prstGeom>
          <a:solidFill>
            <a:srgbClr val="16213A"/>
          </a:solidFill>
          <a:ln w="12700">
            <a:solidFill>
              <a:srgbClr val="2634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804672" y="2039112"/>
            <a:ext cx="384048" cy="38404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804672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1325880" y="187452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Перевірити форму input tensor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6355080" y="1874520"/>
            <a:ext cx="5349240" cy="713232"/>
          </a:xfrm>
          <a:prstGeom prst="roundRect">
            <a:avLst>
              <a:gd name="adj" fmla="val 12821"/>
            </a:avLst>
          </a:prstGeom>
          <a:solidFill>
            <a:srgbClr val="16213A"/>
          </a:solidFill>
          <a:ln w="12700">
            <a:solidFill>
              <a:srgbClr val="2634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6519672" y="2039112"/>
            <a:ext cx="384048" cy="38404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6519672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7040880" y="187452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Визначити кількість classes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2715768"/>
            <a:ext cx="5349240" cy="713232"/>
          </a:xfrm>
          <a:prstGeom prst="roundRect">
            <a:avLst>
              <a:gd name="adj" fmla="val 12821"/>
            </a:avLst>
          </a:prstGeom>
          <a:solidFill>
            <a:srgbClr val="16213A"/>
          </a:solidFill>
          <a:ln w="12700">
            <a:solidFill>
              <a:srgbClr val="2634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804672" y="2880360"/>
            <a:ext cx="384048" cy="38404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804672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1325880" y="2715768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Побудувати convolution blocks</a:t>
            </a:r>
            <a:endParaRPr lang="en-US" sz="1600"/>
          </a:p>
        </p:txBody>
      </p:sp>
      <p:sp>
        <p:nvSpPr>
          <p:cNvPr id="16" name="Shape 14"/>
          <p:cNvSpPr/>
          <p:nvPr/>
        </p:nvSpPr>
        <p:spPr>
          <a:xfrm>
            <a:off x="6355080" y="2715768"/>
            <a:ext cx="5349240" cy="713232"/>
          </a:xfrm>
          <a:prstGeom prst="roundRect">
            <a:avLst>
              <a:gd name="adj" fmla="val 12821"/>
            </a:avLst>
          </a:prstGeom>
          <a:solidFill>
            <a:srgbClr val="16213A"/>
          </a:solidFill>
          <a:ln w="12700">
            <a:solidFill>
              <a:srgbClr val="2634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6519672" y="2880360"/>
            <a:ext cx="384048" cy="38404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6519672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/>
          </a:p>
        </p:txBody>
      </p:sp>
      <p:sp>
        <p:nvSpPr>
          <p:cNvPr id="19" name="Text 17"/>
          <p:cNvSpPr/>
          <p:nvPr/>
        </p:nvSpPr>
        <p:spPr>
          <a:xfrm>
            <a:off x="7040880" y="2715768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Порахувати форму перед Linear</a:t>
            </a:r>
            <a:endParaRPr lang="en-US" sz="1600"/>
          </a:p>
        </p:txBody>
      </p:sp>
      <p:sp>
        <p:nvSpPr>
          <p:cNvPr id="20" name="Shape 18"/>
          <p:cNvSpPr/>
          <p:nvPr/>
        </p:nvSpPr>
        <p:spPr>
          <a:xfrm>
            <a:off x="640080" y="3557016"/>
            <a:ext cx="5349240" cy="713232"/>
          </a:xfrm>
          <a:prstGeom prst="roundRect">
            <a:avLst>
              <a:gd name="adj" fmla="val 12821"/>
            </a:avLst>
          </a:prstGeom>
          <a:solidFill>
            <a:srgbClr val="16213A"/>
          </a:solidFill>
          <a:ln w="12700">
            <a:solidFill>
              <a:srgbClr val="2634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804672" y="3721608"/>
            <a:ext cx="384048" cy="38404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804672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1325880" y="3557016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Навчити кілька epochs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55080" y="3557016"/>
            <a:ext cx="5349240" cy="713232"/>
          </a:xfrm>
          <a:prstGeom prst="roundRect">
            <a:avLst>
              <a:gd name="adj" fmla="val 12821"/>
            </a:avLst>
          </a:prstGeom>
          <a:solidFill>
            <a:srgbClr val="16213A"/>
          </a:solidFill>
          <a:ln w="12700">
            <a:solidFill>
              <a:srgbClr val="2634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5" name="Shape 23"/>
          <p:cNvSpPr/>
          <p:nvPr/>
        </p:nvSpPr>
        <p:spPr>
          <a:xfrm>
            <a:off x="6519672" y="3721608"/>
            <a:ext cx="384048" cy="38404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6519672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/>
          </a:p>
        </p:txBody>
      </p:sp>
      <p:sp>
        <p:nvSpPr>
          <p:cNvPr id="27" name="Text 25"/>
          <p:cNvSpPr/>
          <p:nvPr/>
        </p:nvSpPr>
        <p:spPr>
          <a:xfrm>
            <a:off x="7040880" y="3557016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Порахувати test accuracy</a:t>
            </a:r>
            <a:endParaRPr lang="en-US" sz="1600"/>
          </a:p>
        </p:txBody>
      </p:sp>
      <p:sp>
        <p:nvSpPr>
          <p:cNvPr id="28" name="Shape 26"/>
          <p:cNvSpPr/>
          <p:nvPr/>
        </p:nvSpPr>
        <p:spPr>
          <a:xfrm>
            <a:off x="640080" y="4398264"/>
            <a:ext cx="5349240" cy="713232"/>
          </a:xfrm>
          <a:prstGeom prst="roundRect">
            <a:avLst>
              <a:gd name="adj" fmla="val 12821"/>
            </a:avLst>
          </a:prstGeom>
          <a:solidFill>
            <a:srgbClr val="16213A"/>
          </a:solidFill>
          <a:ln w="12700">
            <a:solidFill>
              <a:srgbClr val="2634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9" name="Shape 27"/>
          <p:cNvSpPr/>
          <p:nvPr/>
        </p:nvSpPr>
        <p:spPr>
          <a:xfrm>
            <a:off x="804672" y="4562856"/>
            <a:ext cx="384048" cy="38404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804672" y="4562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/>
          </a:p>
        </p:txBody>
      </p:sp>
      <p:sp>
        <p:nvSpPr>
          <p:cNvPr id="31" name="Text 29"/>
          <p:cNvSpPr/>
          <p:nvPr/>
        </p:nvSpPr>
        <p:spPr>
          <a:xfrm>
            <a:off x="1325880" y="4398264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Подивитися приклади правильних і помилкових predictions</a:t>
            </a:r>
            <a:endParaRPr lang="en-US" sz="1600"/>
          </a:p>
        </p:txBody>
      </p:sp>
      <p:sp>
        <p:nvSpPr>
          <p:cNvPr id="32" name="Text 30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Підсумок заняття</a:t>
            </a:r>
            <a:endParaRPr lang="en-US" sz="3200"/>
          </a:p>
        </p:txBody>
      </p:sp>
      <p:sp>
        <p:nvSpPr>
          <p:cNvPr id="5" name="Text 3"/>
          <p:cNvSpPr/>
          <p:nvPr/>
        </p:nvSpPr>
        <p:spPr>
          <a:xfrm>
            <a:off x="548639" y="1828800"/>
            <a:ext cx="9577493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використовує локальні patterns, тому краще підходить для images, ніж MLP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створює feature maps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 зменшує spatial size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+ Linear перетворює ознаки у class logits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5138928"/>
            <a:ext cx="10881360" cy="1005840"/>
          </a:xfrm>
          <a:prstGeom prst="roundRect">
            <a:avLst>
              <a:gd name="adj" fmla="val 7143"/>
            </a:avLst>
          </a:prstGeom>
          <a:solidFill>
            <a:srgbClr val="1C2B4A"/>
          </a:solidFill>
          <a:ln w="12700">
            <a:solidFill>
              <a:srgbClr val="2634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Далі: pretrained models і object detection.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2563</TotalTime>
  <Words>1100</Words>
  <Application>Microsoft Macintosh PowerPoint</Application>
  <PresentationFormat>Widescreen</PresentationFormat>
  <Paragraphs>216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CNN essentials для класифікації зображень</dc:title>
  <dc:subject>PptxGenJS Presentation</dc:subject>
  <dc:creator>Gameloft AI Course</dc:creator>
  <cp:lastModifiedBy>Штефан Дмитро</cp:lastModifiedBy>
  <cp:revision>10</cp:revision>
  <dcterms:created xsi:type="dcterms:W3CDTF">2026-06-20T15:46:17Z</dcterms:created>
  <dcterms:modified xsi:type="dcterms:W3CDTF">2026-06-25T14:37:28Z</dcterms:modified>
</cp:coreProperties>
</file>