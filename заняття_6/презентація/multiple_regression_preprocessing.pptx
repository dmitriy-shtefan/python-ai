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69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AI додатків з використанням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Множинна регресія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preprocessing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prices: StandardScaler, one-hot encoding, SimpleImputer, cross-validation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54096"/>
            <a:ext cx="4754880" cy="36576"/>
          </a:xfrm>
          <a:prstGeom prst="rect">
            <a:avLst/>
          </a:prstGeom>
          <a:solidFill>
            <a:srgbClr val="4F9CF9">
              <a:alpha val="65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57200" y="3273552"/>
            <a:ext cx="1353312" cy="292608"/>
          </a:xfrm>
          <a:prstGeom prst="roundRect">
            <a:avLst>
              <a:gd name="adj" fmla="val 15625"/>
            </a:avLst>
          </a:prstGeom>
          <a:solidFill>
            <a:srgbClr val="4F9CF9">
              <a:alpha val="22000"/>
            </a:srgbClr>
          </a:solidFill>
          <a:ln w="1524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965960" y="3273552"/>
            <a:ext cx="1353312" cy="292608"/>
          </a:xfrm>
          <a:prstGeom prst="roundRect">
            <a:avLst>
              <a:gd name="adj" fmla="val 15625"/>
            </a:avLst>
          </a:prstGeom>
          <a:solidFill>
            <a:srgbClr val="00D4FF">
              <a:alpha val="22000"/>
            </a:srgbClr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1965960" y="32735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474720" y="3273552"/>
            <a:ext cx="1353312" cy="292608"/>
          </a:xfrm>
          <a:prstGeom prst="roundRect">
            <a:avLst>
              <a:gd name="adj" fmla="val 15625"/>
            </a:avLst>
          </a:prstGeom>
          <a:solidFill>
            <a:srgbClr val="00FF9F">
              <a:alpha val="22000"/>
            </a:srgbClr>
          </a:solidFill>
          <a:ln w="1524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474720" y="32735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983480" y="3273552"/>
            <a:ext cx="1353312" cy="292608"/>
          </a:xfrm>
          <a:prstGeom prst="roundRect">
            <a:avLst>
              <a:gd name="adj" fmla="val 15625"/>
            </a:avLst>
          </a:prstGeom>
          <a:solidFill>
            <a:srgbClr val="A855F7">
              <a:alpha val="22000"/>
            </a:srgbClr>
          </a:solidFill>
          <a:ln w="1524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983480" y="327355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57200" y="43708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3. Алгоритми навчання з учителем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вже вивчили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260604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60604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12710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Минулого разу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Побудували просту лінійну регресію: одна ознака -&gt; прогноз -&gt; MAE, MSE, RMSE, R2.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60604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337560" y="12710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37560" y="1618488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Переходимо до реальнішої таблиці: кілька ознак, різні масштаби, категорії, пропуски.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5989320" y="1143000"/>
            <a:ext cx="260604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989320" y="1143000"/>
            <a:ext cx="2606040" cy="54864"/>
          </a:xfrm>
          <a:prstGeom prst="rect">
            <a:avLst/>
          </a:prstGeom>
          <a:solidFill>
            <a:srgbClr val="FF8A35"/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126480" y="12710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питання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26480" y="1618488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підготувати дані до моделі так, щоб оцінка якості була чесною?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preprocessing розглядаємо як частину моделі, а не як косметику перед навчанням.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простої до множинної регресії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простій регресії модель бачить одну колонку. У множинній - одночасно кілька факторів.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6576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6576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40080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 регресія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6184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w1 * MedInc + b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Пояснюємо ціну лише доходом району.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1143000"/>
            <a:ext cx="36576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983480" y="1143000"/>
            <a:ext cx="365760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120640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Множинна регресія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20640" y="16184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w1 * MedInc + w2 * HouseAge </a:t>
            </a:r>
          </a:p>
          <a:p>
            <a:pPr marL="0" indent="0">
              <a:buNone/>
            </a:pPr>
            <a:r>
              <a:rPr lang="en-US" sz="123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+ w3 * AveRooms + b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комбінує кілька сигналів.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343400" y="17007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397764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54864" cy="16916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67512" y="2880360"/>
            <a:ext cx="372160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[</a:t>
            </a:r>
            <a:r>
              <a:rPr lang="en-US" sz="10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'MedInc'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'HouseAge'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'AveRooms'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X = df[features]
y = df[</a:t>
            </a:r>
            <a:r>
              <a:rPr lang="en-US" sz="10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'MedHouseVal'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model = LinearRegression()
model.fit(X_train, y_train)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709160" y="2852928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коефіцієнт показує внесок ознаки за умови, що інші ознаки вже в моделі.</a:t>
            </a:r>
            <a:endParaRPr lang="en-US" sz="122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ознак не гарантує кращу модель: потрібна чесна перевірка на validation/test.</a:t>
            </a:r>
            <a:endParaRPr lang="en-US" sz="122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залежить і від алгоритму, і від підготовки таблиці.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однієї ознаки часто недостатньо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85800" y="11795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Дохід району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527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 часто сильно пов'язаний з ціною.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8404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46320" y="11795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 будинків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1527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HouseAge може відображати район, стан забудови або історичність.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38404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85800" y="24140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Кімнати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2761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AveRooms додає інформацію про розмір і планування.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709160" y="2286000"/>
            <a:ext cx="3840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38404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46320" y="24140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Локація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46320" y="2761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Latitude/Longitude можуть бути сильним сигналом.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48640" y="3767328"/>
            <a:ext cx="81838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777240" y="391363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одель має бачити кілька корисних ознак, але ми маємо правильно підготувати їх до числової матриці.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dataset: що є в таблиці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регресійний датасет з scikit-learn: прогнозуємо середню вартість житла в районі.</a:t>
            </a:r>
            <a:endParaRPr lang="en-US" sz="1250" dirty="0"/>
          </a:p>
        </p:txBody>
      </p:sp>
      <p:pic>
        <p:nvPicPr>
          <p:cNvPr id="4" name="Image 0" descr="/Users/dmitrostefan/Edu/PythonAI/Курс Створення AI додатків з Python/Плани по днях/06 - 12.06.2026 (пт) - Housing prices: preprocessing і валідація/Презентація/charts/california_features.png"/>
          <p:cNvPicPr>
            <a:picLocks noChangeAspect="1"/>
          </p:cNvPicPr>
          <p:nvPr/>
        </p:nvPicPr>
        <p:blipFill>
          <a:blip r:embed="rId3"/>
          <a:srcRect t="25990" b="18433"/>
          <a:stretch>
            <a:fillRect/>
          </a:stretch>
        </p:blipFill>
        <p:spPr>
          <a:xfrm>
            <a:off x="267708" y="1391626"/>
            <a:ext cx="8138160" cy="22055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451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</a:t>
            </a: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базові ознаки тут числові, тому категорії й пропуски додаємо штучно для тренування preprocessing.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MedInc, HouseAge, AveRooms і цільова змінна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38862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88620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40080" y="12252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дохід у районі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найсильніша ознака для ціни.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8862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8862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00600" y="12252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0600" y="15727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вік будинків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 працювати по-різному залежно від району.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38862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02920" y="2395728"/>
            <a:ext cx="3886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40080" y="25237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AveRooms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28712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 кількість кімнат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Наближений сигнал про розмір житла.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663440" y="2395728"/>
            <a:ext cx="38862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663440" y="2395728"/>
            <a:ext cx="3886200" cy="54864"/>
          </a:xfrm>
          <a:prstGeom prst="rect">
            <a:avLst/>
          </a:prstGeom>
          <a:solidFill>
            <a:srgbClr val="FF8A35"/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00600" y="25237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MedHouseVal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0600" y="28712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Цільова змінна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 вартість житла; її прогнозуємо.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94360" y="3794760"/>
            <a:ext cx="7955280" cy="896112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94360" y="3794760"/>
            <a:ext cx="54864" cy="8961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758952" y="3886200"/>
            <a:ext cx="7699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 = fetch_california_housing()
df = pd.DataFrame(housing.data,
                  </a:t>
            </a:r>
            <a:r>
              <a:rPr lang="en-US" sz="108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columns=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housing.feature_names)
df[</a:t>
            </a:r>
            <a:r>
              <a:rPr lang="en-US" sz="108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'MedHouseVal'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housing.target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Підготовка DataFrame для моделі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4617720" cy="347472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4864" cy="3474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67512" y="1143000"/>
            <a:ext cx="4361688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sklearn.datasets </a:t>
            </a:r>
            <a:r>
              <a:rPr lang="en-US" sz="104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fetch_california_housing
</a:t>
            </a:r>
            <a:r>
              <a:rPr lang="en-US" sz="104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04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housing = fetch_california_housing()
df = pd.DataFrame(housing.data,
                  </a:t>
            </a:r>
            <a:r>
              <a:rPr lang="en-US" sz="104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columns=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housing.feature_names)
df[</a:t>
            </a:r>
            <a:r>
              <a:rPr lang="en-US" sz="104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'MedHouseVal'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housing.target
features = [</a:t>
            </a:r>
            <a:r>
              <a:rPr lang="en-US" sz="104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'MedInc'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4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'HouseAge'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4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'AveRooms'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X = df[features]
y = df[</a:t>
            </a:r>
            <a:r>
              <a:rPr lang="en-US" sz="104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'MedHouseVal'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394960" y="1051560"/>
            <a:ext cx="32461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394960" y="1051560"/>
            <a:ext cx="324612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532120" y="11795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32120" y="15270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ознак: тільки ті колонки, які модель може використовувати для прогнозу.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394960" y="2212848"/>
            <a:ext cx="32461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11" name="Shape 9"/>
          <p:cNvSpPr/>
          <p:nvPr/>
        </p:nvSpPr>
        <p:spPr>
          <a:xfrm>
            <a:off x="5394960" y="2212848"/>
            <a:ext cx="3246120" cy="54864"/>
          </a:xfrm>
          <a:prstGeom prst="rect">
            <a:avLst/>
          </a:prstGeom>
          <a:solidFill>
            <a:srgbClr val="FF8A35"/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532120" y="23408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32120" y="26883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Цільова змінна: те, що прогнозуємо. Її не можна залишати всередині X.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394960" y="3374136"/>
            <a:ext cx="32461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394960" y="3374136"/>
            <a:ext cx="324612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532120" y="3502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Типова помилка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32120" y="38496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Випадково включити target у X і отримати нереально високий R2.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для кількох ознак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32145" y="3363632"/>
            <a:ext cx="5074920" cy="132588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2"/>
          <p:cNvSpPr/>
          <p:nvPr/>
        </p:nvSpPr>
        <p:spPr>
          <a:xfrm>
            <a:off x="632145" y="3363632"/>
            <a:ext cx="54864" cy="1325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796737" y="3455072"/>
            <a:ext cx="48188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6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sklearn.model_selection </a:t>
            </a:r>
            <a:r>
              <a:rPr lang="en-US" sz="106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6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train_test_split
X_train, X_test, y_train, y_test = train_test_split(
    X, y, </a:t>
            </a:r>
            <a:r>
              <a:rPr lang="en-US" sz="106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test_size=</a:t>
            </a:r>
            <a:r>
              <a:rPr lang="en-US" sz="106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r>
              <a:rPr lang="en-US" sz="106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random_state=</a:t>
            </a:r>
            <a:r>
              <a:rPr lang="en-US" sz="106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06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</a:t>
            </a:r>
            <a:endParaRPr lang="en-US" sz="1060" dirty="0"/>
          </a:p>
        </p:txBody>
      </p:sp>
      <p:sp>
        <p:nvSpPr>
          <p:cNvPr id="7" name="Text 4"/>
          <p:cNvSpPr/>
          <p:nvPr/>
        </p:nvSpPr>
        <p:spPr>
          <a:xfrm>
            <a:off x="5935665" y="33819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Навчаємося тільки на train.</a:t>
            </a:r>
            <a:endParaRPr lang="en-US" sz="117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імітує нові дані, яких модель не бачила.</a:t>
            </a:r>
            <a:endParaRPr lang="en-US" sz="117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7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трансформери треба fit-ити на train, а не на всій таблиці.</a:t>
            </a:r>
            <a:endParaRPr lang="en-US" sz="1170" dirty="0"/>
          </a:p>
        </p:txBody>
      </p:sp>
      <p:sp>
        <p:nvSpPr>
          <p:cNvPr id="8" name="Text 5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8701AC-198D-57E2-05F7-95D0F92E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363" b="7377"/>
          <a:stretch>
            <a:fillRect/>
          </a:stretch>
        </p:blipFill>
        <p:spPr>
          <a:xfrm>
            <a:off x="1468296" y="875165"/>
            <a:ext cx="5885303" cy="22767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LinearRegression на трьох ознаках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4434840" cy="324612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4864" cy="32461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67512" y="1143000"/>
            <a:ext cx="417880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sklearn.linear_model </a:t>
            </a: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LinearRegression
</a:t>
            </a: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sklearn.metrics </a:t>
            </a: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cs typeface="Consolas" pitchFamily="34" charset="-120"/>
              </a:rPr>
              <a:t>2_score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model = LinearRegression()
model.fit(X_train, y_train)
pred = model.predict(X_test)
r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cs typeface="Consolas" pitchFamily="34" charset="-120"/>
              </a:rPr>
              <a:t>2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cs typeface="Consolas" pitchFamily="34" charset="-120"/>
              </a:rPr>
              <a:t>r2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_score(y_test, pred)
</a:t>
            </a: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108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'R2: {r2:.3f}'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212080" y="1143000"/>
            <a:ext cx="141732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266944" y="1184148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Коефіцієнт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29400" y="1143000"/>
            <a:ext cx="201168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684264" y="1184148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означає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645920"/>
            <a:ext cx="1417320" cy="50292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266944" y="1687068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645920"/>
            <a:ext cx="2011680" cy="50292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684264" y="1687068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рівень прогнозу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2148840"/>
            <a:ext cx="14173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266944" y="2189988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 MedInc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29400" y="2148840"/>
            <a:ext cx="20116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684264" y="2189988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внесок доходу району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2651760"/>
            <a:ext cx="1417320" cy="50292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266944" y="2692908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 HouseAge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0" y="2651760"/>
            <a:ext cx="2011680" cy="50292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684264" y="2692908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внесок віку будинків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0" y="3154680"/>
            <a:ext cx="14173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266944" y="3195828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 AveRooms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29400" y="3154680"/>
            <a:ext cx="20116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684264" y="3195828"/>
            <a:ext cx="1901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внесок кімнат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12080" y="1143000"/>
            <a:ext cx="34290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212080" y="382219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Коефіцієнти залежать від набору ознак, масштабу й кореляцій між колонками.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як перша оцінка якості моделі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36118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36118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31520" y="12252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= 1.0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Ідеальні передбачення: модель пояснює всю варіативність target.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594360" y="2487168"/>
            <a:ext cx="36118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361188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31520" y="26151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= 0.55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96265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пояснила приблизно 55% варіативності. Для навчального прикладу це вже змістовний сигнал.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38862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3886200" cy="54864"/>
          </a:xfrm>
          <a:prstGeom prst="rect">
            <a:avLst/>
          </a:prstGeom>
          <a:solidFill>
            <a:srgbClr val="FF8A35"/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754880" y="12252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= 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54880" y="15727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краще за простий прогноз середнім значенням target.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617720" y="2487168"/>
            <a:ext cx="38862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617720" y="2487168"/>
            <a:ext cx="388620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754880" y="26151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&lt; 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54880" y="29626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Гірше за baseline. Треба перевіряти дані, ознаки, split і preprocessing.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50292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R2 - швидкий індикатор. У реальному проєкті додаємо MAE/RMSE і бізнес-інтерпретацію помилки.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масштабувати ознаки</a:t>
            </a:r>
            <a:endParaRPr lang="en-US" sz="2400" dirty="0"/>
          </a:p>
        </p:txBody>
      </p:sp>
      <p:pic>
        <p:nvPicPr>
          <p:cNvPr id="3" name="Image 0" descr="/Users/dmitrostefan/Edu/PythonAI/Курс Створення AI додатків з Python/Плани по днях/06 - 12.06.2026 (пт) - Housing prices: preprocessing і валідація/Презентація/charts/scaling_ra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56692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051560"/>
            <a:ext cx="21488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2"/>
          <p:cNvSpPr/>
          <p:nvPr/>
        </p:nvSpPr>
        <p:spPr>
          <a:xfrm>
            <a:off x="6400800" y="1051560"/>
            <a:ext cx="2148840" cy="54864"/>
          </a:xfrm>
          <a:prstGeom prst="rect">
            <a:avLst/>
          </a:prstGeom>
          <a:solidFill>
            <a:srgbClr val="FF8A35"/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6537960" y="11795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Інтуїція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37960" y="152704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 з відстанями або регуляризацією можуть надто реагувати на великі масштаби.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6400800" y="2514600"/>
            <a:ext cx="21488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6400800" y="2514600"/>
            <a:ext cx="214884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6537960" y="26426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LinearRegression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37960" y="299008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може майже не змінитись, але коефіцієнти легше порівнювати.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548640" y="44074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Масштабування не додає нової інформації. Воно змінює одиниці виміру ознак.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середнє 0 і стандартне відхилення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365760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 - mean) / std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176272"/>
            <a:ext cx="1097280" cy="4114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49224" y="221742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691640" y="2176272"/>
            <a:ext cx="1097280" cy="4114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746504" y="221742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788920" y="2176272"/>
            <a:ext cx="1097280" cy="4114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2843784" y="221742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94360" y="2587752"/>
            <a:ext cx="1097280" cy="41148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49224" y="262890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91640" y="2587752"/>
            <a:ext cx="1097280" cy="41148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1746504" y="262890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8920" y="2587752"/>
            <a:ext cx="1097280" cy="41148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2843784" y="262890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999232"/>
            <a:ext cx="109728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49224" y="304038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91640" y="2999232"/>
            <a:ext cx="109728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1746504" y="304038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88920" y="2999232"/>
            <a:ext cx="109728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2843784" y="304038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410712"/>
            <a:ext cx="1097280" cy="41148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649224" y="345186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91640" y="3410712"/>
            <a:ext cx="1097280" cy="41148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1746504" y="345186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88920" y="3410712"/>
            <a:ext cx="1097280" cy="41148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2843784" y="3451860"/>
            <a:ext cx="987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2176272"/>
            <a:ext cx="329184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709160" y="1051560"/>
            <a:ext cx="3840480" cy="288036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4709160" y="1051560"/>
            <a:ext cx="54864" cy="288036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873752" y="1143000"/>
            <a:ext cx="358444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sklearn.preprocessing </a:t>
            </a: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StandardScaler
scaler = StandardScaler()
X_train_scaled = scaler.fit_transform(X_train)
X_test_scaled = scaler.transform(X_test)
</a:t>
            </a:r>
            <a:r>
              <a:rPr lang="en-US" sz="108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 тільки на train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594360" y="43434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проти data leakage: fit_transform на train, тільки transform на test.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без масштабування і після StandardScaler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звичайній LinearRegression R2 часто майже однаковий. Це нормальний результат, а не помилка.</a:t>
            </a:r>
            <a:endParaRPr lang="en-US" sz="1250" dirty="0"/>
          </a:p>
        </p:txBody>
      </p:sp>
      <p:pic>
        <p:nvPicPr>
          <p:cNvPr id="4" name="Image 0" descr="/Users/dmitrostefan/Edu/PythonAI/Курс Створення AI додатків з Python/Плани по днях/06 - 12.06.2026 (пт) - Housing prices: preprocessing і валідація/Презентація/charts/r2_scale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207007"/>
            <a:ext cx="5202936" cy="25198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68696" y="1364742"/>
            <a:ext cx="132588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5623560" y="140589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6894576" y="1364742"/>
            <a:ext cx="132588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6949440" y="140589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Масштабування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8220456" y="1364742"/>
            <a:ext cx="68580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8275320" y="1405890"/>
            <a:ext cx="576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568696" y="1767078"/>
            <a:ext cx="1325880" cy="402336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5623560" y="180822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894576" y="1767078"/>
            <a:ext cx="1325880" cy="402336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6949440" y="180822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220456" y="1767078"/>
            <a:ext cx="685800" cy="402336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8275320" y="1808226"/>
            <a:ext cx="576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5568696" y="2169414"/>
            <a:ext cx="1325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5623560" y="2210562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6894576" y="2169414"/>
            <a:ext cx="132588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6949440" y="2210562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8220456" y="2169414"/>
            <a:ext cx="68580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19"/>
          <p:cNvSpPr/>
          <p:nvPr/>
        </p:nvSpPr>
        <p:spPr>
          <a:xfrm>
            <a:off x="8275320" y="2210562"/>
            <a:ext cx="576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5568696" y="1364742"/>
            <a:ext cx="333756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1"/>
          <p:cNvSpPr/>
          <p:nvPr/>
        </p:nvSpPr>
        <p:spPr>
          <a:xfrm>
            <a:off x="5989320" y="2868930"/>
            <a:ext cx="24231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2"/>
          <p:cNvSpPr/>
          <p:nvPr/>
        </p:nvSpPr>
        <p:spPr>
          <a:xfrm>
            <a:off x="5989320" y="2868930"/>
            <a:ext cx="242316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3"/>
          <p:cNvSpPr/>
          <p:nvPr/>
        </p:nvSpPr>
        <p:spPr>
          <a:xfrm>
            <a:off x="6126480" y="299694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126480" y="334441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потрібний у pipeline і для інших моделей. Але сам по собі не робить слабкі ознаки сильними.</a:t>
            </a:r>
            <a:endParaRPr lang="en-US" sz="1060" dirty="0"/>
          </a:p>
        </p:txBody>
      </p:sp>
      <p:sp>
        <p:nvSpPr>
          <p:cNvPr id="28" name="Text 25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Категоріальні ознаки в табличних даних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реальних housing-даних часто є район, тип будинку, стан ремонту, клас енергоефективності.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463040" cy="53035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49224" y="127558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57400" y="1234440"/>
            <a:ext cx="2743200" cy="53035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2112264" y="12755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значень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1965960" cy="53035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55464" y="1275588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треба зробити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764792"/>
            <a:ext cx="1463040" cy="53035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49224" y="18059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2057400" y="1764792"/>
            <a:ext cx="2743200" cy="53035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112264" y="18059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Center, Suburb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4800600" y="1764792"/>
            <a:ext cx="1965960" cy="53035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55464" y="18059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закодувати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94360" y="2295144"/>
            <a:ext cx="14630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49224" y="23362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building_type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2057400" y="2295144"/>
            <a:ext cx="274320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2112264" y="233629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Panel, Brick, New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4800600" y="2295144"/>
            <a:ext cx="19659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55464" y="233629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закодувати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94360" y="2825496"/>
            <a:ext cx="1463040" cy="53035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49224" y="286664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2057400" y="2825496"/>
            <a:ext cx="2743200" cy="53035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2112264" y="286664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Good, Repair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800600" y="2825496"/>
            <a:ext cx="1965960" cy="53035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855464" y="2866644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закодувати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594360" y="1234440"/>
            <a:ext cx="617220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6400800" y="1234440"/>
            <a:ext cx="2148840" cy="21214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6400800" y="1234440"/>
            <a:ext cx="214884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537960" y="13624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не можна як 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1709928"/>
            <a:ext cx="18745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очікує числову матрицю без тексту й без NaN.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3611880"/>
            <a:ext cx="7406640" cy="658368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777240" y="3611880"/>
            <a:ext cx="54864" cy="6583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941832" y="3703320"/>
            <a:ext cx="7150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ValueError:
could not convert string
to float: </a:t>
            </a:r>
            <a:r>
              <a:rPr lang="en-US" sz="120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'Old'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Штучна ознака Category: Old і New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3657600" cy="228600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54864" cy="2286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58952" y="1188720"/>
            <a:ext cx="34015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15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df[</a:t>
            </a:r>
            <a:r>
              <a:rPr lang="en-US" sz="115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'Category'</a:t>
            </a:r>
            <a:r>
              <a:rPr lang="en-US" sz="11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np.where(
    df[</a:t>
            </a:r>
            <a:r>
              <a:rPr lang="en-US" sz="115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'HouseAge'</a:t>
            </a:r>
            <a:r>
              <a:rPr lang="en-US" sz="11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115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1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</a:t>
            </a:r>
            <a:r>
              <a:rPr lang="en-US" sz="115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'Old'</a:t>
            </a:r>
            <a:r>
              <a:rPr lang="en-US" sz="11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</a:t>
            </a:r>
            <a:r>
              <a:rPr lang="en-US" sz="115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'New'</a:t>
            </a:r>
            <a:r>
              <a:rPr lang="en-US" sz="11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</a:t>
            </a:r>
            <a:endParaRPr lang="en-US" sz="1150" dirty="0"/>
          </a:p>
        </p:txBody>
      </p:sp>
      <p:pic>
        <p:nvPicPr>
          <p:cNvPr id="6" name="Image 0" descr="/Users/dmitrostefan/Edu/PythonAI/Курс Створення AI додатків з Python/Плани по днях/06 - 12.06.2026 (пт) - Housing prices: preprocessing і валідація/Презентація/charts/artificial_category.png"/>
          <p:cNvPicPr>
            <a:picLocks noChangeAspect="1"/>
          </p:cNvPicPr>
          <p:nvPr/>
        </p:nvPicPr>
        <p:blipFill>
          <a:blip r:embed="rId3"/>
          <a:srcRect l="22565" t="34558" r="22671" b="26263"/>
          <a:stretch>
            <a:fillRect/>
          </a:stretch>
        </p:blipFill>
        <p:spPr>
          <a:xfrm>
            <a:off x="4968112" y="932122"/>
            <a:ext cx="3199067" cy="15644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005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24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 к</a:t>
            </a:r>
            <a:r>
              <a:rPr lang="en-US" sz="124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атегорія</a:t>
            </a:r>
            <a:r>
              <a:rPr lang="uk-UA" sz="124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того щоб</a:t>
            </a:r>
            <a:r>
              <a:rPr lang="en-US" sz="124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потренувати два підходи до кодування на знайомій таблиці.</a:t>
            </a:r>
            <a:endParaRPr lang="en-US" sz="1240" dirty="0"/>
          </a:p>
        </p:txBody>
      </p:sp>
      <p:sp>
        <p:nvSpPr>
          <p:cNvPr id="8" name="Text 5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factorize: швидке числове кодування категорій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3886200" cy="160020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54864" cy="16002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58952" y="1188720"/>
            <a:ext cx="363016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1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'Category_code'</a:t>
            </a:r>
            <a:r>
              <a:rPr lang="en-US" sz="11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names = pd.factorize(df[</a:t>
            </a:r>
            <a:r>
              <a:rPr lang="en-US" sz="11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'Category'</a:t>
            </a:r>
            <a:r>
              <a:rPr lang="en-US" sz="11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112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(names)
</a:t>
            </a:r>
            <a:r>
              <a:rPr lang="en-US" sz="112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-&gt; 0</a:t>
            </a:r>
            <a:r>
              <a:rPr lang="en-US" sz="11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Old -&gt; 1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4892040" y="1143000"/>
            <a:ext cx="1554480" cy="43891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946904" y="118414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446520" y="1143000"/>
            <a:ext cx="1691640" cy="43891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501384" y="1184148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Category_code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892040" y="1581912"/>
            <a:ext cx="1554480" cy="43891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946904" y="16230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1581912"/>
            <a:ext cx="1691640" cy="43891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501384" y="162306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020824"/>
            <a:ext cx="15544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946904" y="206197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020824"/>
            <a:ext cx="169164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501384" y="206197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459736"/>
            <a:ext cx="1554480" cy="43891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46904" y="25008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2459736"/>
            <a:ext cx="1691640" cy="438912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501384" y="2500884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898648"/>
            <a:ext cx="15544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946904" y="293979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2898648"/>
            <a:ext cx="169164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501384" y="293979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1143000"/>
            <a:ext cx="3246120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66344" y="3534157"/>
            <a:ext cx="38404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466344" y="3534157"/>
            <a:ext cx="384048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603504" y="3662173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зручно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03504" y="4009645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швидкого експерименту або коли категорія справді має порядок.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4581144" y="3534157"/>
            <a:ext cx="38404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4581144" y="3534157"/>
            <a:ext cx="3840480" cy="54864"/>
          </a:xfrm>
          <a:prstGeom prst="rect">
            <a:avLst/>
          </a:prstGeom>
          <a:solidFill>
            <a:srgbClr val="FF8A35"/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718304" y="3662173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718304" y="4009645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може подумати, що 1 більше за 0 і між категоріями є порядок.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encoding: окремі колонки для категорій</a:t>
            </a:r>
            <a:endParaRPr lang="en-US" sz="2400" dirty="0"/>
          </a:p>
        </p:txBody>
      </p:sp>
      <p:pic>
        <p:nvPicPr>
          <p:cNvPr id="3" name="Image 0" descr="/Users/dmitrostefan/Edu/PythonAI/Курс Створення AI додатків з Python/Плани по днях/06 - 12.06.2026 (пт) - Housing prices: preprocessing і валідація/Презентація/charts/one_hot_encoding.png"/>
          <p:cNvPicPr>
            <a:picLocks noChangeAspect="1"/>
          </p:cNvPicPr>
          <p:nvPr/>
        </p:nvPicPr>
        <p:blipFill>
          <a:blip r:embed="rId3"/>
          <a:srcRect l="12426" t="37602" r="11819" b="27766"/>
          <a:stretch>
            <a:fillRect/>
          </a:stretch>
        </p:blipFill>
        <p:spPr>
          <a:xfrm>
            <a:off x="156100" y="1035312"/>
            <a:ext cx="5650340" cy="14660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06440" y="1143000"/>
            <a:ext cx="2697480" cy="242316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2"/>
          <p:cNvSpPr/>
          <p:nvPr/>
        </p:nvSpPr>
        <p:spPr>
          <a:xfrm>
            <a:off x="5806440" y="1143000"/>
            <a:ext cx="54864" cy="242316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5971032" y="1234440"/>
            <a:ext cx="244144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encoded = pd.get_dummies(
    df[</a:t>
            </a:r>
            <a:r>
              <a:rPr lang="en-US" sz="104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'Category'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
    </a:t>
            </a:r>
            <a:r>
              <a:rPr lang="en-US" sz="104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prefix=</a:t>
            </a:r>
            <a:r>
              <a:rPr lang="en-US" sz="104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'Category'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
</a:t>
            </a:r>
            <a:r>
              <a:rPr lang="en-US" sz="1040" dirty="0" err="1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df_model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pd.concat([df,</a:t>
            </a:r>
            <a:endParaRPr lang="uk-UA" sz="1040" dirty="0">
              <a:solidFill>
                <a:srgbClr val="E0E8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uk-UA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encoded], </a:t>
            </a:r>
            <a:r>
              <a:rPr lang="en-US" sz="104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axis=</a:t>
            </a:r>
            <a:r>
              <a:rPr lang="en-US" sz="104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4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640080" y="40416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не створює штучного порядку: кожна категорія стає окремим перемикачем 0/1.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factorize може ввести модель в оману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5087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694944" y="1184148"/>
            <a:ext cx="1399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Район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2148840" y="1143000"/>
            <a:ext cx="132588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2203704" y="1184148"/>
            <a:ext cx="1216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508760" cy="50292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694944" y="1687068"/>
            <a:ext cx="1399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148840" y="1645920"/>
            <a:ext cx="1325880" cy="50292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2203704" y="1687068"/>
            <a:ext cx="1216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150876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94944" y="2189988"/>
            <a:ext cx="1399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2148840" y="2148840"/>
            <a:ext cx="13258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203704" y="2189988"/>
            <a:ext cx="1216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508760" cy="50292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94944" y="2692908"/>
            <a:ext cx="13990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2148840" y="2651760"/>
            <a:ext cx="1325880" cy="50292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2203704" y="2692908"/>
            <a:ext cx="12161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40080" y="1143000"/>
            <a:ext cx="2834640" cy="36576"/>
          </a:xfrm>
          <a:prstGeom prst="rect">
            <a:avLst/>
          </a:prstGeom>
          <a:solidFill>
            <a:srgbClr val="FF8A35"/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3794760" y="12344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може прочитати це як порядок: Industrial &gt; Suburb &gt; Center. Але такого порядку в даних немає.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442717"/>
            <a:ext cx="23317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40080" y="3442717"/>
            <a:ext cx="233172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77240" y="3570733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918205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район, тип будинку,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колір, бренд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2990088" y="3790189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91840" y="3442717"/>
            <a:ext cx="23317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3291840" y="3442717"/>
            <a:ext cx="2331720" cy="54864"/>
          </a:xfrm>
          <a:prstGeom prst="rect">
            <a:avLst/>
          </a:prstGeom>
          <a:solidFill>
            <a:srgbClr val="FF8A35"/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3429000" y="3570733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factorize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3918205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 немає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природного порядку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5641848" y="3790189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0" y="3442717"/>
            <a:ext cx="23317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5943600" y="3442717"/>
            <a:ext cx="233172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6080760" y="3570733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3918205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безпечніший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стартовий варіант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Пропущені значення: чому модель не приймає NaN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96012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4" name="Text 2"/>
          <p:cNvSpPr/>
          <p:nvPr/>
        </p:nvSpPr>
        <p:spPr>
          <a:xfrm>
            <a:off x="649224" y="1184148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54480" y="1143000"/>
            <a:ext cx="141732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609344" y="118414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 до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1143000"/>
            <a:ext cx="123444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026664" y="11841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123444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261104" y="11841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AveRooms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94360" y="1600200"/>
            <a:ext cx="960120" cy="45720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49224" y="1641348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554480" y="1600200"/>
            <a:ext cx="1417320" cy="45720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1609344" y="164134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3.21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971800" y="1600200"/>
            <a:ext cx="1234440" cy="45720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026664" y="16413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206240" y="1600200"/>
            <a:ext cx="1234440" cy="45720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261104" y="16413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94360" y="2057400"/>
            <a:ext cx="9601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49224" y="2098548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1554480" y="2057400"/>
            <a:ext cx="14173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1609344" y="209854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2971800" y="2057400"/>
            <a:ext cx="12344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3026664" y="20985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206240" y="2057400"/>
            <a:ext cx="12344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261104" y="20985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94360" y="2514600"/>
            <a:ext cx="960120" cy="45720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649224" y="2555748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1554480" y="2514600"/>
            <a:ext cx="1417320" cy="45720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1609344" y="255574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2971800" y="2514600"/>
            <a:ext cx="1234440" cy="45720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3026664" y="25557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206240" y="2514600"/>
            <a:ext cx="1234440" cy="457200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4261104" y="25557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94360" y="2971800"/>
            <a:ext cx="9601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649224" y="3012948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1554480" y="2971800"/>
            <a:ext cx="14173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1609344" y="301294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2971800" y="2971800"/>
            <a:ext cx="12344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3026664" y="30129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4206240" y="2971800"/>
            <a:ext cx="12344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Text 40"/>
          <p:cNvSpPr/>
          <p:nvPr/>
        </p:nvSpPr>
        <p:spPr>
          <a:xfrm>
            <a:off x="4261104" y="3012948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594360" y="1143000"/>
            <a:ext cx="4846320" cy="365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Shape 42"/>
          <p:cNvSpPr/>
          <p:nvPr/>
        </p:nvSpPr>
        <p:spPr>
          <a:xfrm>
            <a:off x="5897880" y="1143000"/>
            <a:ext cx="260604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Shape 43"/>
          <p:cNvSpPr/>
          <p:nvPr/>
        </p:nvSpPr>
        <p:spPr>
          <a:xfrm>
            <a:off x="5897880" y="1143000"/>
            <a:ext cx="260604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/>
          <p:nvPr/>
        </p:nvSpPr>
        <p:spPr>
          <a:xfrm>
            <a:off x="6035040" y="12710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станеться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035040" y="1618488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 не вміє навчатися на матриці, де є NaN.</a:t>
            </a:r>
            <a:endParaRPr lang="en-US" sz="1180" dirty="0"/>
          </a:p>
        </p:txBody>
      </p:sp>
      <p:sp>
        <p:nvSpPr>
          <p:cNvPr id="48" name="Shape 46"/>
          <p:cNvSpPr/>
          <p:nvPr/>
        </p:nvSpPr>
        <p:spPr>
          <a:xfrm>
            <a:off x="5897880" y="2852928"/>
            <a:ext cx="2606040" cy="68580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Shape 47"/>
          <p:cNvSpPr/>
          <p:nvPr/>
        </p:nvSpPr>
        <p:spPr>
          <a:xfrm>
            <a:off x="5897880" y="2852928"/>
            <a:ext cx="54864" cy="6858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0" name="Text 48"/>
          <p:cNvSpPr/>
          <p:nvPr/>
        </p:nvSpPr>
        <p:spPr>
          <a:xfrm>
            <a:off x="6062472" y="2944368"/>
            <a:ext cx="2350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ValueError:
Input X contains NaN.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85800" y="4343400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 треба обробити явно: видалити рядки, заповнити значення або використати модель, яка вміє працювати з NaN.</a:t>
            </a:r>
            <a:endParaRPr lang="en-US" sz="1180" dirty="0"/>
          </a:p>
        </p:txBody>
      </p:sp>
      <p:sp>
        <p:nvSpPr>
          <p:cNvPr id="52" name="Text 50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SimpleImputer: пропуски до і після</a:t>
            </a:r>
            <a:endParaRPr lang="en-US" sz="2400" dirty="0"/>
          </a:p>
        </p:txBody>
      </p:sp>
      <p:pic>
        <p:nvPicPr>
          <p:cNvPr id="3" name="Image 0" descr="/Users/dmitrostefan/Edu/PythonAI/Курс Створення AI додатків з Python/Плани по днях/06 - 12.06.2026 (пт) - Housing prices: preprocessing і валідація/Презентація/charts/simple_imputer_before_after.png"/>
          <p:cNvPicPr>
            <a:picLocks noChangeAspect="1"/>
          </p:cNvPicPr>
          <p:nvPr/>
        </p:nvPicPr>
        <p:blipFill>
          <a:blip r:embed="rId3"/>
          <a:srcRect l="16613" t="37505" r="17506" b="28125"/>
          <a:stretch>
            <a:fillRect/>
          </a:stretch>
        </p:blipFill>
        <p:spPr>
          <a:xfrm>
            <a:off x="92054" y="974252"/>
            <a:ext cx="4553098" cy="14498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4880" y="1115568"/>
            <a:ext cx="3749040" cy="269748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2"/>
          <p:cNvSpPr/>
          <p:nvPr/>
        </p:nvSpPr>
        <p:spPr>
          <a:xfrm>
            <a:off x="4754880" y="1115568"/>
            <a:ext cx="54864" cy="269748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4919472" y="1207008"/>
            <a:ext cx="349300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6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sklearn.impute </a:t>
            </a:r>
            <a:r>
              <a:rPr lang="en-US" sz="106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6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SimpleImputer
imputer = SimpleImputer(</a:t>
            </a:r>
            <a:r>
              <a:rPr lang="en-US" sz="106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strategy=</a:t>
            </a:r>
            <a:r>
              <a:rPr lang="en-US" sz="106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'mean'</a:t>
            </a:r>
            <a:r>
              <a:rPr lang="en-US" sz="106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X_train_imp = imputer.fit_transform(X_train)
X_test_imp = imputer.transform(X_test)
</a:t>
            </a:r>
            <a:r>
              <a:rPr lang="en-US" sz="106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середнє рахуємо тільки на train</a:t>
            </a:r>
            <a:endParaRPr lang="en-US" sz="1060" dirty="0"/>
          </a:p>
        </p:txBody>
      </p:sp>
      <p:sp>
        <p:nvSpPr>
          <p:cNvPr id="7" name="Text 4"/>
          <p:cNvSpPr/>
          <p:nvPr/>
        </p:nvSpPr>
        <p:spPr>
          <a:xfrm>
            <a:off x="685800" y="4279392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 вчить правило заповнення на train і потім застосовує те саме правило до test.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971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як послідовність кроків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57784" y="3265234"/>
            <a:ext cx="795528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2"/>
          <p:cNvSpPr/>
          <p:nvPr/>
        </p:nvSpPr>
        <p:spPr>
          <a:xfrm>
            <a:off x="557784" y="3265234"/>
            <a:ext cx="54864" cy="16916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722376" y="3356674"/>
            <a:ext cx="76992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sklearn.pipeline </a:t>
            </a:r>
            <a:r>
              <a:rPr lang="en-US" sz="102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Pipeline
pipe = Pipeline([
    (</a:t>
            </a:r>
            <a:r>
              <a:rPr lang="en-US" sz="10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'imputer'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SimpleImputer(</a:t>
            </a:r>
            <a:r>
              <a:rPr lang="en-US" sz="102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strategy=</a:t>
            </a:r>
            <a:r>
              <a:rPr lang="en-US" sz="10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'mean'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
    (</a:t>
            </a:r>
            <a:r>
              <a:rPr lang="en-US" sz="10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'scaler'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StandardScaler()),
    (</a:t>
            </a:r>
            <a:r>
              <a:rPr lang="en-US" sz="102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'model'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LinearRegression()),
])
pipe.fit(X_train, y_train)
r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cs typeface="Consolas" pitchFamily="34" charset="-120"/>
              </a:rPr>
              <a:t>2</a:t>
            </a:r>
            <a:r>
              <a:rPr lang="en-US" sz="102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pipe.score(X_test, y_test)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AC1CF5-A7A1-7263-D448-1A842A5970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17" b="20553"/>
          <a:stretch>
            <a:fillRect/>
          </a:stretch>
        </p:blipFill>
        <p:spPr>
          <a:xfrm>
            <a:off x="685800" y="537182"/>
            <a:ext cx="7772400" cy="26821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проти k-fold cross-validation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078992"/>
            <a:ext cx="36576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36576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train/test split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 ділимо дані. Результат залежить від того, які рядки випадково потрапили в test.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892040" y="1078992"/>
            <a:ext cx="36576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892040" y="1078992"/>
            <a:ext cx="365760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0" y="1207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Ділимо дані на k частин. Кожна частина один раз стає validation, потім усереднюємо R2.</a:t>
            </a:r>
            <a:endParaRPr lang="en-US" sz="1220" dirty="0"/>
          </a:p>
        </p:txBody>
      </p:sp>
      <p:pic>
        <p:nvPicPr>
          <p:cNvPr id="11" name="Image 0" descr="/Users/dmitrostefan/Edu/PythonAI/Курс Створення AI додатків з Python/Плани по днях/06 - 12.06.2026 (пт) - Housing prices: preprocessing і валідація/Презентація/charts/kfold_cross_validation.png"/>
          <p:cNvPicPr>
            <a:picLocks noChangeAspect="1"/>
          </p:cNvPicPr>
          <p:nvPr/>
        </p:nvPicPr>
        <p:blipFill>
          <a:blip r:embed="rId3"/>
          <a:srcRect t="21506" r="13168"/>
          <a:stretch>
            <a:fillRect/>
          </a:stretch>
        </p:blipFill>
        <p:spPr>
          <a:xfrm>
            <a:off x="1386147" y="2647189"/>
            <a:ext cx="5997570" cy="23454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cross_val_score з k=5: середнє і std R2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071175" cy="2971800"/>
          </a:xfrm>
          <a:prstGeom prst="rect">
            <a:avLst/>
          </a:prstGeom>
          <a:solidFill>
            <a:srgbClr val="0A0F1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864" cy="29718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13232" y="1143000"/>
            <a:ext cx="3813048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sklearn.model_selection </a:t>
            </a: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cross_val_score
scores = cross_val_score(
    pipe, X, y,
    </a:t>
            </a:r>
            <a:r>
              <a:rPr lang="en-US" sz="108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cv=</a:t>
            </a:r>
            <a:r>
              <a:rPr lang="en-US" sz="1080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8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scoring=</a:t>
            </a:r>
            <a:r>
              <a:rPr lang="en-US" sz="1080" dirty="0">
                <a:solidFill>
                  <a:srgbClr val="2F8F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'r2'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
</a:t>
            </a: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(scores)
</a:t>
            </a:r>
            <a:r>
              <a:rPr lang="en-US" sz="1080" dirty="0">
                <a:solidFill>
                  <a:srgbClr val="FF8A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8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(scores.mean(), scores.std())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3832545" y="1051560"/>
            <a:ext cx="96012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887409" y="1092708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792665" y="1051560"/>
            <a:ext cx="10972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47529" y="109270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832545" y="1435608"/>
            <a:ext cx="960120" cy="384048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887409" y="1476756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92665" y="1435608"/>
            <a:ext cx="1097280" cy="384048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847529" y="147675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32545" y="1819656"/>
            <a:ext cx="9601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3887409" y="1860804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92665" y="1819656"/>
            <a:ext cx="10972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47529" y="186080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32545" y="2203704"/>
            <a:ext cx="960120" cy="384048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3887409" y="224485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92665" y="2203704"/>
            <a:ext cx="1097280" cy="384048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47529" y="224485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32545" y="2587752"/>
            <a:ext cx="9601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887409" y="262890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92665" y="2587752"/>
            <a:ext cx="10972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47529" y="262890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32545" y="2971800"/>
            <a:ext cx="960120" cy="384048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3887409" y="3012948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92665" y="2971800"/>
            <a:ext cx="1097280" cy="384048"/>
          </a:xfrm>
          <a:prstGeom prst="rect">
            <a:avLst/>
          </a:prstGeom>
          <a:solidFill>
            <a:srgbClr val="1217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847529" y="301294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32545" y="3355848"/>
            <a:ext cx="9601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3887409" y="3396996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std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92665" y="3355848"/>
            <a:ext cx="10972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847529" y="339699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± 0.03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32545" y="1051560"/>
            <a:ext cx="2057400" cy="3657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5" name="Image 0" descr="/Users/dmitrostefan/Edu/PythonAI/Курс Створення AI додатків з Python/Плани по днях/06 - 12.06.2026 (пт) - Housing prices: preprocessing і валідація/Презентація/charts/cross_val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30" y="1005840"/>
            <a:ext cx="2606040" cy="237744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4786" y="3817620"/>
            <a:ext cx="3749040" cy="8001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Shape 34"/>
          <p:cNvSpPr/>
          <p:nvPr/>
        </p:nvSpPr>
        <p:spPr>
          <a:xfrm>
            <a:off x="3814786" y="3817620"/>
            <a:ext cx="374904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6"/>
          <p:cNvSpPr/>
          <p:nvPr/>
        </p:nvSpPr>
        <p:spPr>
          <a:xfrm>
            <a:off x="3951946" y="402336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R2 показує середню якість, std показує стабільність між fold-ами.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0080" y="46908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pipeline cross-validation чесно переобчислює preprocessing всередині кожного fold.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чекліст підготовки даних до регресії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795528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384048" cy="393192"/>
          </a:xfrm>
          <a:prstGeom prst="rect">
            <a:avLst/>
          </a:prstGeom>
          <a:solidFill>
            <a:srgbClr val="4F9CF9">
              <a:alpha val="65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9966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005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Визначити target 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31920" y="10058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прогнозуємо?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79552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384048" cy="393192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4538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463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Зібрати 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0" y="14630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target і leakage-колонок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874520"/>
            <a:ext cx="795528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94360" y="1874520"/>
            <a:ext cx="384048" cy="393192"/>
          </a:xfrm>
          <a:prstGeom prst="rect">
            <a:avLst/>
          </a:prstGeom>
          <a:solidFill>
            <a:srgbClr val="00FF9F">
              <a:alpha val="65000"/>
            </a:srgbClr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94360" y="1911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" y="1920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Зробити split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31920" y="19202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або CV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2331720"/>
            <a:ext cx="79552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94360" y="2331720"/>
            <a:ext cx="384048" cy="393192"/>
          </a:xfrm>
          <a:prstGeom prst="rect">
            <a:avLst/>
          </a:prstGeom>
          <a:solidFill>
            <a:srgbClr val="FF8A35">
              <a:alpha val="65000"/>
            </a:srgbClr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94360" y="23682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2377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Обробити NaN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31920" y="23774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 fit тільки на train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2788920"/>
            <a:ext cx="795528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594360" y="2788920"/>
            <a:ext cx="384048" cy="393192"/>
          </a:xfrm>
          <a:prstGeom prst="rect">
            <a:avLst/>
          </a:prstGeom>
          <a:solidFill>
            <a:srgbClr val="A855F7">
              <a:alpha val="6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94360" y="28254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Закодувати категорії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931920" y="28346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для nominal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3246120"/>
            <a:ext cx="79552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94360" y="3246120"/>
            <a:ext cx="384048" cy="393192"/>
          </a:xfrm>
          <a:prstGeom prst="rect">
            <a:avLst/>
          </a:prstGeom>
          <a:solidFill>
            <a:srgbClr val="F0C040">
              <a:alpha val="6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94360" y="32826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" y="3291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Масштабувати числа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931920" y="32918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у pipeline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3703320"/>
            <a:ext cx="795528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594360" y="3703320"/>
            <a:ext cx="384048" cy="393192"/>
          </a:xfrm>
          <a:prstGeom prst="rect">
            <a:avLst/>
          </a:prstGeom>
          <a:solidFill>
            <a:srgbClr val="4F9CF9">
              <a:alpha val="65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594360" y="37398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15568" y="3749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Навчити model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931920" y="37490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" y="4160520"/>
            <a:ext cx="7955280" cy="39319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594360" y="4160520"/>
            <a:ext cx="384048" cy="393192"/>
          </a:xfrm>
          <a:prstGeom prst="rect">
            <a:avLst/>
          </a:prstGeom>
          <a:solidFill>
            <a:srgbClr val="00FF9F">
              <a:alpha val="65000"/>
            </a:srgbClr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594360" y="41970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15568" y="4206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Оцінити якість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931920" y="42062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mean ± std або test R2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" y="46451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цей чекліст виконаний, модель отримує чесно підготовлену матрицю ознак.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8321040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 заняття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тепер вмієте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886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8862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640080" y="163677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Множинна регресія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40080" y="1984248"/>
            <a:ext cx="3611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Будувати LinearRegression на кількох ознаках.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886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3886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00600" y="163677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4800600" y="1984248"/>
            <a:ext cx="3611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Застосовувати StandardScaler без leakage.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02920" y="2377440"/>
            <a:ext cx="3886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3886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40080" y="25054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Категорії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40080" y="2852928"/>
            <a:ext cx="3611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Порівнювати factorize і one-hot encoding.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3886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388620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800600" y="25054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4800600" y="2852928"/>
            <a:ext cx="3611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Заповнювати пропуски через SimpleImputer.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02920" y="3246120"/>
            <a:ext cx="3886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02920" y="3246120"/>
            <a:ext cx="3886200" cy="54864"/>
          </a:xfrm>
          <a:prstGeom prst="rect">
            <a:avLst/>
          </a:prstGeom>
          <a:solidFill>
            <a:srgbClr val="FF8A35"/>
          </a:solidFill>
          <a:ln w="12700">
            <a:solidFill>
              <a:srgbClr val="FF8A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640080" y="33741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8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40080" y="3721608"/>
            <a:ext cx="3611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Збирати preprocessing і model в один workflow.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663440" y="3246120"/>
            <a:ext cx="38862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38862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800600" y="33741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4800600" y="3721608"/>
            <a:ext cx="3611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Оцінювати стабільність через k-fold CV.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6002</TotalTime>
  <Words>1902</Words>
  <Application>Microsoft Macintosh PowerPoint</Application>
  <PresentationFormat>On-screen Show (16:9)</PresentationFormat>
  <Paragraphs>333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Множинна регресія та попереднє опрацювання даних</dc:title>
  <dc:subject>Курс: Створення AI додатків з використанням Python</dc:subject>
  <dc:creator>Data Science Course</dc:creator>
  <cp:lastModifiedBy>Штефан Дмитро</cp:lastModifiedBy>
  <cp:revision>15</cp:revision>
  <dcterms:created xsi:type="dcterms:W3CDTF">2026-06-07T17:09:56Z</dcterms:created>
  <dcterms:modified xsi:type="dcterms:W3CDTF">2026-06-11T21:23:48Z</dcterms:modified>
</cp:coreProperties>
</file>