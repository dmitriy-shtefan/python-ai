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A52"/>
    <a:srgbClr val="1B24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35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206240" cy="4206240"/>
          </a:xfrm>
          <a:prstGeom prst="ellipse">
            <a:avLst/>
          </a:prstGeom>
          <a:solidFill>
            <a:srgbClr val="202A52">
              <a:alpha val="36863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280160" y="2926080"/>
            <a:ext cx="3108960" cy="3108960"/>
          </a:xfrm>
          <a:prstGeom prst="ellipse">
            <a:avLst/>
          </a:prstGeom>
          <a:solidFill>
            <a:srgbClr val="1B2447">
              <a:alpha val="36471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АІ ДОДАТКІВ З ВИКОРИСТАННЯМ</a:t>
            </a: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Streamlit для AI додатків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Будуємо чат-бота з нуля: від порожнього app.py до робочого прототипу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./icons/pyth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08" y="3880348"/>
            <a:ext cx="487192" cy="487192"/>
          </a:xfrm>
          <a:prstGeom prst="rect">
            <a:avLst/>
          </a:prstGeom>
        </p:spPr>
      </p:pic>
      <p:pic>
        <p:nvPicPr>
          <p:cNvPr id="9" name="Image 1" descr=".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4014216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92808" y="3794760"/>
            <a:ext cx="658368" cy="658368"/>
          </a:xfrm>
          <a:prstGeom prst="ellipse">
            <a:avLst/>
          </a:prstGeom>
          <a:solidFill>
            <a:srgbClr val="3B4A8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./icons/comment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396" y="3880348"/>
            <a:ext cx="487192" cy="487192"/>
          </a:xfrm>
          <a:prstGeom prst="rect">
            <a:avLst/>
          </a:prstGeom>
        </p:spPr>
      </p:pic>
      <p:pic>
        <p:nvPicPr>
          <p:cNvPr id="12" name="Image 3" descr=".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4014216"/>
            <a:ext cx="237744" cy="2377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054096" y="3794760"/>
            <a:ext cx="658368" cy="65836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./icons/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9684" y="3880348"/>
            <a:ext cx="487192" cy="4871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4507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874520" y="4507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2825496" y="45079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Веб-застосунок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таке Streamlit і навіщо він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Python-фреймворк для швидкого створення веб-інтерфейсів — без HTML, CSS чи JavaScript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Заснований у 2018 році; з 2022 року належить компанії Snowflake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ідея: перетворити звичайний Python-скрипт на застосунок за кілька рядків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Типове застосування: демо ML-моделей, дашборди, чат-боти з LLM, внутрішні інструменти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10147" y="1319884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202A52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338747" y="15027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vs  Flask / Django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8747" y="20056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76107" y="18868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99067" y="18868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93027" y="2234284"/>
            <a:ext cx="3291840" cy="0"/>
          </a:xfrm>
          <a:prstGeom prst="line">
            <a:avLst/>
          </a:prstGeom>
          <a:noFill/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338747" y="23074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для чат-UI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76107" y="23074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99067" y="23074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93027" y="2801212"/>
            <a:ext cx="3291840" cy="0"/>
          </a:xfrm>
          <a:prstGeom prst="line">
            <a:avLst/>
          </a:prstGeom>
          <a:noFill/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338747" y="28743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фронтенд?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76107" y="28743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99067" y="28743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93027" y="3368140"/>
            <a:ext cx="3291840" cy="0"/>
          </a:xfrm>
          <a:prstGeom prst="line">
            <a:avLst/>
          </a:prstGeom>
          <a:noFill/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338747" y="34412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до першого демо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76107" y="34412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Хвилини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99067" y="34412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Години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КОНЦЕПЦІЯ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Як “думає” Streamlit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ідея: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кожній дії користувача весь скрипт виконується заново, зверху донизу (rerun model).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05840" cy="100584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./icons/mou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9900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858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клікає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пише повідомлення</a:t>
            </a:r>
            <a:endParaRPr lang="en-US" sz="1100" dirty="0"/>
          </a:p>
        </p:txBody>
      </p:sp>
      <p:pic>
        <p:nvPicPr>
          <p:cNvPr id="8" name="Image 1" descr=".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3127248"/>
            <a:ext cx="457200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0" y="2743200"/>
            <a:ext cx="1005840" cy="100584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2" descr="./icons/sync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2990088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7560" y="3858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перезапускає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зверху донизу</a:t>
            </a:r>
            <a:endParaRPr lang="en-US" sz="1100" dirty="0"/>
          </a:p>
        </p:txBody>
      </p:sp>
      <p:pic>
        <p:nvPicPr>
          <p:cNvPr id="12" name="Image 3" descr=".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127248"/>
            <a:ext cx="457200" cy="2377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92240" y="2743200"/>
            <a:ext cx="1005840" cy="100584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./icons/deskto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2990088"/>
            <a:ext cx="512064" cy="51206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72200" y="3858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Рендериться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оновлений інтерфейс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822960" y="4526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повторюється при кожній взаємодії →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Бічна панель налаштувань: st.sidebar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./icons/co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4369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3875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 — контейнер для елементів керування, які не заважають основному чату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4297680" cy="2148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694944" y="245973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896112" y="24597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1097280" y="245973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777240" y="2660904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st.sidebar: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st.title("Налаштування")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st.selectbox(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"Модель",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["gpt-4o-mini", "claude-haiku"]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29752" y="143698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0F1530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5329752" y="1436980"/>
            <a:ext cx="3520440" cy="256032"/>
          </a:xfrm>
          <a:prstGeom prst="rect">
            <a:avLst/>
          </a:prstGeom>
          <a:solidFill>
            <a:srgbClr val="232B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5439480" y="151927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5604072" y="1519276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3"/>
          <p:cNvSpPr/>
          <p:nvPr/>
        </p:nvSpPr>
        <p:spPr>
          <a:xfrm>
            <a:off x="5768664" y="151927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5329752" y="1693012"/>
            <a:ext cx="1196950" cy="2852928"/>
          </a:xfrm>
          <a:prstGeom prst="rect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5457768" y="1821028"/>
            <a:ext cx="10140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НАЛАШТУВАННЯ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57768" y="2168500"/>
            <a:ext cx="940918" cy="292608"/>
          </a:xfrm>
          <a:prstGeom prst="roundRect">
            <a:avLst>
              <a:gd name="adj" fmla="val 12500"/>
            </a:avLst>
          </a:prstGeom>
          <a:solidFill>
            <a:srgbClr val="141B3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5512632" y="2223364"/>
            <a:ext cx="831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▾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57768" y="2579980"/>
            <a:ext cx="940918" cy="292608"/>
          </a:xfrm>
          <a:prstGeom prst="roundRect">
            <a:avLst>
              <a:gd name="adj" fmla="val 12500"/>
            </a:avLst>
          </a:prstGeom>
          <a:solidFill>
            <a:srgbClr val="141B3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5512632" y="2634844"/>
            <a:ext cx="831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09582" y="2900020"/>
            <a:ext cx="21826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Порожній чат з'явиться праворуч →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Приймаємо і показуємо повідомлення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39" y="1371600"/>
            <a:ext cx="42995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st.chat_input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вводу внизу екрана, повертає текст після Enter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endParaRPr lang="en-US" sz="1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st.chat_message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стилізовані “бульбашки” повідомлень користувача й асистента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921358"/>
            <a:ext cx="4114800" cy="1742082"/>
          </a:xfrm>
          <a:prstGeom prst="roundRect">
            <a:avLst>
              <a:gd name="adj" fmla="val 457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49224" y="304937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50392" y="304937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51560" y="304937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31520" y="325054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prompt := st.chat_input("Питання..."):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st.chat_message("user"):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st.write(prompt)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st.chat_message("assistant"):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st.write(reply)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74920" y="13716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F1530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257800" y="1600200"/>
            <a:ext cx="365760" cy="36576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./icons/robo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49" y="1647749"/>
            <a:ext cx="270662" cy="27066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760720" y="160020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897880" y="1719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Привіт! Чим можу допомогти?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242316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6080760" y="2523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Поясни, що таке DataFrame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0" y="2423160"/>
            <a:ext cx="365760" cy="36576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./icons/us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49" y="2470709"/>
            <a:ext cx="270662" cy="27066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257800" y="3154680"/>
            <a:ext cx="365760" cy="36576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2" descr="./icons/robo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49" y="3202229"/>
            <a:ext cx="270662" cy="27066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760720" y="315468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7"/>
          <p:cNvSpPr/>
          <p:nvPr/>
        </p:nvSpPr>
        <p:spPr>
          <a:xfrm>
            <a:off x="5897880" y="32552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— це таблична структура даних у Pandas...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257800" y="4160520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141B3C"/>
          </a:solidFill>
          <a:ln w="12700">
            <a:solidFill>
              <a:srgbClr val="3240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/>
          <p:nvPr/>
        </p:nvSpPr>
        <p:spPr>
          <a:xfrm>
            <a:off x="5394960" y="42245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повідомлення...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Пам'ять діалогу: st.session_state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734518"/>
          </a:xfrm>
          <a:prstGeom prst="roundRect">
            <a:avLst>
              <a:gd name="adj" fmla="val 6957"/>
            </a:avLst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перезапускається — без пам'яті історія зникає після кожного повідомлення.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32710"/>
            <a:ext cx="4114800" cy="2450592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94944" y="236072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96112" y="236072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97280" y="236072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77240" y="2561894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st.session_state.messages.append(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prompt}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st.session_state.messages: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st.chat_message(msg["role"]):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st.write(msg["content"])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1371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257800" y="1536192"/>
            <a:ext cx="457200" cy="457200"/>
          </a:xfrm>
          <a:prstGeom prst="ellipse">
            <a:avLst/>
          </a:prstGeom>
          <a:solidFill>
            <a:srgbClr val="3B4A8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0" descr="./icons/sync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1595628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5216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session_state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18105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rerun — чиста сторінка, історія зникає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74920" y="2971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5257800" y="3136392"/>
            <a:ext cx="457200" cy="457200"/>
          </a:xfrm>
          <a:prstGeom prst="ellipse">
            <a:avLst/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./icons/backpa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236" y="3195828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0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session_state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52160" y="34107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“Рюкзак”, що зберігається між rerun-ами сесії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Очищення чату та обробка помилок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./icons/tras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6" y="1512681"/>
            <a:ext cx="295808" cy="295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очищення історії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4114800" cy="1504188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694944" y="2093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896112" y="20939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1097280" y="20939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777240" y="229514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st.sidebar.button("Очистити чат"):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st.rerun()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74920" y="1417320"/>
            <a:ext cx="502920" cy="50292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./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290" y="1482700"/>
            <a:ext cx="325789" cy="3257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помилок через st.error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74920" y="1965960"/>
            <a:ext cx="3520440" cy="1488449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5221224" y="2093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5422392" y="20939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5623560" y="20939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5303520" y="2295144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call_llm(prompt)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st.error(</a:t>
            </a:r>
            <a:r>
              <a:rPr lang="en-US" sz="125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f"Помилка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{e}")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83133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7"/>
          <p:cNvSpPr/>
          <p:nvPr/>
        </p:nvSpPr>
        <p:spPr>
          <a:xfrm>
            <a:off x="777240" y="39684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продукт — </a:t>
            </a: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той, де нічого не ламається, а той, де користувач розуміє, що саме пішло не так.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Прості налаштування моделі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202A52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568196" y="1600200"/>
            <a:ext cx="548640" cy="548640"/>
          </a:xfrm>
          <a:prstGeom prst="ellipse">
            <a:avLst/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./icons/lis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19" y="16715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st.selectbox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моделі або режиму роботи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3108960"/>
            <a:ext cx="2368296" cy="1207008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804672" y="3236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1005840" y="32369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1207008" y="32369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886968" y="3438144"/>
            <a:ext cx="1911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st.selectbox(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"Модель",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["gpt-4o-mini", "claude"]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19272" y="137160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202A52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4338828" y="1600200"/>
            <a:ext cx="548640" cy="548640"/>
          </a:xfrm>
          <a:prstGeom prst="ellipse">
            <a:avLst/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./icons/slid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51" y="1671523"/>
            <a:ext cx="405994" cy="4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6432" y="22860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st.slider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56432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max_tokens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429000" y="3108960"/>
            <a:ext cx="2368296" cy="1207008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3575304" y="3236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7"/>
          <p:cNvSpPr/>
          <p:nvPr/>
        </p:nvSpPr>
        <p:spPr>
          <a:xfrm>
            <a:off x="3776472" y="32369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8"/>
          <p:cNvSpPr/>
          <p:nvPr/>
        </p:nvSpPr>
        <p:spPr>
          <a:xfrm>
            <a:off x="3977640" y="32369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9"/>
          <p:cNvSpPr/>
          <p:nvPr/>
        </p:nvSpPr>
        <p:spPr>
          <a:xfrm>
            <a:off x="3657600" y="3438144"/>
            <a:ext cx="1911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st.slider(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"Температура",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0.0, 1.0, 0.7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089904" y="137160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202A52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1"/>
          <p:cNvSpPr/>
          <p:nvPr/>
        </p:nvSpPr>
        <p:spPr>
          <a:xfrm>
            <a:off x="7109460" y="1600200"/>
            <a:ext cx="548640" cy="548640"/>
          </a:xfrm>
          <a:prstGeom prst="ellipse">
            <a:avLst/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2" descr="./icons/alig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783" y="1671523"/>
            <a:ext cx="405994" cy="4059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27064" y="22860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st.text_area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27064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системний промпт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199632" y="3108960"/>
            <a:ext cx="2368296" cy="1207008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5"/>
          <p:cNvSpPr/>
          <p:nvPr/>
        </p:nvSpPr>
        <p:spPr>
          <a:xfrm>
            <a:off x="6345936" y="32369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Shape 26"/>
          <p:cNvSpPr/>
          <p:nvPr/>
        </p:nvSpPr>
        <p:spPr>
          <a:xfrm>
            <a:off x="6547104" y="32369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27"/>
          <p:cNvSpPr/>
          <p:nvPr/>
        </p:nvSpPr>
        <p:spPr>
          <a:xfrm>
            <a:off x="6748272" y="32369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Text 28"/>
          <p:cNvSpPr/>
          <p:nvPr/>
        </p:nvSpPr>
        <p:spPr>
          <a:xfrm>
            <a:off x="6428232" y="3438144"/>
            <a:ext cx="1911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 = st.text_area(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"Системний промпт",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"Ти корисний асистент"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Готуємо застосунок до деплою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0F1530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./icons/fold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1602029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my-chatbot/</a:t>
            </a:r>
            <a:endParaRPr lang="en-US" sz="1300" dirty="0"/>
          </a:p>
        </p:txBody>
      </p:sp>
      <p:pic>
        <p:nvPicPr>
          <p:cNvPr id="8" name="Image 1" descr="./icons/fi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6712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325880" y="2395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застосунку</a:t>
            </a:r>
            <a:endParaRPr lang="en-US" sz="950" dirty="0"/>
          </a:p>
        </p:txBody>
      </p:sp>
      <p:pic>
        <p:nvPicPr>
          <p:cNvPr id="11" name="Image 2" descr="./icons/fi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157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32588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залежності</a:t>
            </a:r>
            <a:endParaRPr lang="en-US" sz="950" dirty="0"/>
          </a:p>
        </p:txBody>
      </p:sp>
      <p:pic>
        <p:nvPicPr>
          <p:cNvPr id="14" name="Image 3" descr="./icons/fi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6440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325880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виключення для Git</a:t>
            </a:r>
            <a:endParaRPr lang="en-US" sz="950" dirty="0"/>
          </a:p>
        </p:txBody>
      </p:sp>
      <p:pic>
        <p:nvPicPr>
          <p:cNvPr id="17" name="Image 4" descr="./icons/fi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1304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3794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.streamlit/secrets.toml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325880" y="4041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секрети (не в Git!)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206240" y="1371600"/>
            <a:ext cx="457200" cy="45720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5" descr="./icons/lo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676" y="1431036"/>
            <a:ext cx="338328" cy="3383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0060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Секрети: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st.secrets["API_KEY"] замість ключів прямо в коді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206240" y="201168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1B24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6"/>
          <p:cNvSpPr/>
          <p:nvPr/>
        </p:nvSpPr>
        <p:spPr>
          <a:xfrm>
            <a:off x="4389120" y="2084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.streamlit/secrets.toml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20624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Найпоширеніша помилка — закомітити API-ключ у Git.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206240" y="3429000"/>
            <a:ext cx="502920" cy="502920"/>
          </a:xfrm>
          <a:prstGeom prst="ellipse">
            <a:avLst/>
          </a:prstGeom>
          <a:solidFill>
            <a:srgbClr val="24292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6" descr="./icons/githu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1620" y="3494380"/>
            <a:ext cx="372161" cy="372161"/>
          </a:xfrm>
          <a:prstGeom prst="rect">
            <a:avLst/>
          </a:prstGeom>
        </p:spPr>
      </p:pic>
      <p:pic>
        <p:nvPicPr>
          <p:cNvPr id="28" name="Image 7" descr="./icons/arrow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575304"/>
            <a:ext cx="365760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257800" y="3429000"/>
            <a:ext cx="502920" cy="50292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8" descr="./icons/clou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3180" y="3494380"/>
            <a:ext cx="372161" cy="37216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897880" y="3447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— деплой з GitHub у кілька кліків, безкоштовно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І 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</a:t>
            </a:r>
            <a:r>
              <a:rPr lang="en-US" sz="30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омашнє</a:t>
            </a: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завдання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3063240"/>
          </a:xfrm>
          <a:prstGeom prst="roundRect">
            <a:avLst>
              <a:gd name="adj" fmla="val 2985"/>
            </a:avLst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ми зібрали: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337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з налаштуваннями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chat_input + chat_message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пам'ять діалогу (session_state)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очищення чату та st.error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selectbox / slider / text_area</a:t>
            </a:r>
            <a:endParaRPr lang="en-US" sz="1200" dirty="0"/>
          </a:p>
          <a:p>
            <a:pPr marL="171450" indent="-17145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проєкту для деплою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77640" cy="3063240"/>
          </a:xfrm>
          <a:prstGeom prst="roundRect">
            <a:avLst>
              <a:gd name="adj" fmla="val 2985"/>
            </a:avLst>
          </a:prstGeom>
          <a:solidFill>
            <a:srgbClr val="1B2447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818888" y="1554480"/>
            <a:ext cx="457200" cy="457200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./icons/puzz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1613916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21214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B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Візьміть чат-бота із заняття і зробіть 2 невеликі доробки: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2758228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4846320" y="27582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30952" y="26576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Виберіть режим асистента через st.selectbox у sidebar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3366304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4846320" y="3366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30952" y="32794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експорт історії діалогу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3877056"/>
            <a:ext cx="3520440" cy="9144"/>
          </a:xfrm>
          <a:prstGeom prst="rect">
            <a:avLst/>
          </a:prstGeom>
          <a:solidFill>
            <a:srgbClr val="3A457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384048" cy="384048"/>
          </a:xfrm>
          <a:prstGeom prst="ellipse">
            <a:avLst/>
          </a:prstGeom>
          <a:solidFill>
            <a:srgbClr val="202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1" descr="./icons/rock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246" y="4018422"/>
            <a:ext cx="284196" cy="2841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30952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Задеплойте застосунок на Streamlit Community Cloud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ДЛЯ AI ДОДАТКІВ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857</Words>
  <Application>Microsoft Macintosh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Streamlit для AI додатків</dc:title>
  <dc:subject>PptxGenJS Presentation</dc:subject>
  <dc:creator>Dmytro</dc:creator>
  <cp:lastModifiedBy>Штефан Дмитро</cp:lastModifiedBy>
  <cp:revision>2</cp:revision>
  <dcterms:created xsi:type="dcterms:W3CDTF">2026-07-08T20:17:55Z</dcterms:created>
  <dcterms:modified xsi:type="dcterms:W3CDTF">2026-07-08T20:29:32Z</dcterms:modified>
</cp:coreProperties>
</file>