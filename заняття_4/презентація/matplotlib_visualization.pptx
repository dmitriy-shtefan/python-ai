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3266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3454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AI додатків з використанням Python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Візуалізація даних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Matplotlib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6151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2. Обробка та аналіз даних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4937760" cy="36576"/>
          </a:xfrm>
          <a:prstGeom prst="rect">
            <a:avLst/>
          </a:prstGeom>
          <a:solidFill>
            <a:srgbClr val="4F9CF9">
              <a:alpha val="60000"/>
            </a:srgbClr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4F9CF9">
              <a:alpha val="24000"/>
            </a:srgbClr>
          </a:solidFill>
          <a:ln w="1524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57400" y="324612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00D4FF">
              <a:alpha val="24000"/>
            </a:srgbClr>
          </a:solidFill>
          <a:ln w="1524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2057400" y="3246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0" y="324612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00FF9F">
              <a:alpha val="24000"/>
            </a:srgbClr>
          </a:solidFill>
          <a:ln w="1524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3657600" y="3246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57800" y="324612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A855F7">
              <a:alpha val="24000"/>
            </a:srgbClr>
          </a:solidFill>
          <a:ln w="1524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257800" y="3246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вже вивчили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260604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2606040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FF9F"/>
                </a:solidFill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9F"/>
                </a:solidFill>
              </a:rPr>
              <a:t>Минулого разу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2331720"/>
            <a:ext cx="2276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</a:rPr>
              <a:t>Описували дані статистиками: mean, median, std, quantile, correlation.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0604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3200400" y="129844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FF"/>
                </a:solidFill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37560" y="18745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</a:rPr>
              <a:t>Сьогодні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64992" y="2331720"/>
            <a:ext cx="2276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</a:rPr>
              <a:t>Перетворюємо числа на графіки, які можна швидко прочитати і пояснити.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1097280"/>
            <a:ext cx="260604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989320" y="1097280"/>
            <a:ext cx="26060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989320" y="129844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35"/>
                </a:solidFill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26480" y="18745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35"/>
                </a:solidFill>
              </a:rPr>
              <a:t>Головне питання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53912" y="2331720"/>
            <a:ext cx="2276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</a:rPr>
              <a:t>Як вибрати правильний тип графіка і зробити його читабельним?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" y="4572000"/>
            <a:ext cx="740664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868680" y="4572000"/>
            <a:ext cx="54864" cy="34747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1014984" y="4645152"/>
            <a:ext cx="7168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відповідає на питання «що відбувається?», а графік допомагає побачити це за кілька секунд.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потрібна візуалізація даних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813816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54864" cy="5852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13232" y="11795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0D4FF"/>
                </a:solidFill>
              </a:rPr>
              <a:t>Побачити тренд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3063240" y="109728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</a:rPr>
              <a:t>Наприклад, продажі зростають чи падають по місяцях.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813816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54864" cy="585216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713232" y="18928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0FF9F"/>
                </a:solidFill>
              </a:rPr>
              <a:t>Порівняти категорії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3063240" y="18105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</a:rPr>
              <a:t>Який місяць, товар або група має найбільше значення.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450592"/>
            <a:ext cx="813816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02920" y="2450592"/>
            <a:ext cx="54864" cy="58521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713232" y="26060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A855F7"/>
                </a:solidFill>
              </a:rPr>
              <a:t>Знайти розподіл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3063240" y="2523744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</a:rPr>
              <a:t>Чи є більшість значень біля середини, чи є довгий хвіст.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163824"/>
            <a:ext cx="813816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502920" y="3163824"/>
            <a:ext cx="54864" cy="5852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713232" y="33192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F6B35"/>
                </a:solidFill>
              </a:rPr>
              <a:t>Помітити викиди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3063240" y="3236976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</a:rPr>
              <a:t>Окремі точки можуть сильно впливати на середнє і модель.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877056"/>
            <a:ext cx="813816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502920" y="3877056"/>
            <a:ext cx="54864" cy="58521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713232" y="40325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F0C040"/>
                </a:solidFill>
              </a:rPr>
              <a:t>Пояснити висновок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3063240" y="395020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</a:rPr>
              <a:t>Графік часто працює краще за довгий текст із числами.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як базовий інструмент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- це фундаментальна бібліотека Python для побудови графіків.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3977640" cy="3337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54864" cy="333756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667512" y="1234440"/>
            <a:ext cx="3721608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matplotlib.pyplot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plt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Підготувати дані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1, 2, 3, 4, 5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[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1, 4, 9, 16, 25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Побудувати графік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plt.plot(x, y)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Оформити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 = x^2'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3611880" cy="58521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983480" y="1282805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9CF9"/>
                </a:solidFill>
              </a:rPr>
              <a:t>Дані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0" y="1279631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E0E8FF"/>
                </a:solidFill>
              </a:rPr>
              <a:t>списки, NumPy-масиви або колонки DataFrame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4800600" y="1892808"/>
            <a:ext cx="3611880" cy="58521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983480" y="204043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Графік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200385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E0E8FF"/>
                </a:solidFill>
              </a:rPr>
              <a:t>`plot`, `bar`, `pie`, `scatter`, `hist`, `boxplot`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4800600" y="2642616"/>
            <a:ext cx="3611880" cy="58521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983480" y="279946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9F"/>
                </a:solidFill>
              </a:rPr>
              <a:t>Оформлення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276288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E0E8FF"/>
                </a:solidFill>
              </a:rPr>
              <a:t>title, xlabel, ylabel, legend, grid, colors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4800600" y="3392424"/>
            <a:ext cx="3611880" cy="58521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983480" y="352958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</a:rPr>
              <a:t>Висновок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34930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E0E8FF"/>
                </a:solidFill>
              </a:rPr>
              <a:t>що видно на графіку і що це означає</a:t>
            </a:r>
            <a:endParaRPr lang="en-US" sz="10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Анатомія графіка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- усе полотно, Axes - конкретна область із даними.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95546" y="1078992"/>
            <a:ext cx="3419854" cy="3429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5495546" y="1078992"/>
            <a:ext cx="54864" cy="3429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660138" y="1170432"/>
            <a:ext cx="3328416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figsize=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ax.plot(x, y, 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label=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'Продажі'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ax.set_title(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'Продажі за місяцями'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ax.set_xlabel(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'Місяць'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ax.set_ylabel(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'Продажі'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ax.legend()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ax.grid(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9BD8AA33-2B4F-4FBA-B35E-2135D4B05287}"/>
              </a:ext>
            </a:extLst>
          </p:cNvPr>
          <p:cNvSpPr/>
          <p:nvPr/>
        </p:nvSpPr>
        <p:spPr>
          <a:xfrm>
            <a:off x="301752" y="1060704"/>
            <a:ext cx="4892040" cy="3429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9258A4A5-948D-DF64-0C45-661A99A00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70432"/>
            <a:ext cx="4672584" cy="3209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plot: y = x²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Лінійний графік показує зміну числової величини за порядком або часом.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388620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54864" cy="361188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76072" y="1170432"/>
            <a:ext cx="363016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matplotlib.pyplot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plt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list(range(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[n ** 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x]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plt.plot(x, y)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'Графік y = x^2'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'x^2'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4B0B8B5-4EF9-0850-FB8C-4B967910165E}"/>
              </a:ext>
            </a:extLst>
          </p:cNvPr>
          <p:cNvSpPr/>
          <p:nvPr/>
        </p:nvSpPr>
        <p:spPr>
          <a:xfrm>
            <a:off x="4526280" y="1078992"/>
            <a:ext cx="420624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848C79E4-1F7D-B639-B451-B3F9EC3EF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188720"/>
            <a:ext cx="3986784" cy="33924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Колір, маркери і стиль лінії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Оформлення не має прикрашати графік, воно має допомагати читати дані.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388620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54864" cy="361188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76072" y="1170432"/>
            <a:ext cx="363016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color=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marker=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linestyle=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'--'</a:t>
            </a:r>
            <a:endParaRPr lang="en-US" sz="12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plt.grid(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 = x^2'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 rot="16200000">
            <a:off x="4709160" y="1444752"/>
            <a:ext cx="2743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</a:rPr>
              <a:t>x^2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31341" y="478779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uk-UA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</a:t>
            </a: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ряд - один колір; маркери корисні, коли точок небагато.</a:t>
            </a:r>
            <a:endParaRPr lang="en-US" sz="1200" dirty="0"/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34E12A3E-890D-6D55-6D66-264BE622282B}"/>
              </a:ext>
            </a:extLst>
          </p:cNvPr>
          <p:cNvSpPr/>
          <p:nvPr/>
        </p:nvSpPr>
        <p:spPr>
          <a:xfrm>
            <a:off x="4526280" y="1078992"/>
            <a:ext cx="420624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6E3860F-6D60-3DF8-7984-80C8BCDDE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188720"/>
            <a:ext cx="3986784" cy="33924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продажі за місяцями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Стовпчики добре працюють для порівняння окремих категорій.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388620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54864" cy="361188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76072" y="1170432"/>
            <a:ext cx="363016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= 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cs typeface="Consolas" pitchFamily="34" charset="-120"/>
              </a:rPr>
              <a:t>[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cs typeface="Consolas" pitchFamily="34" charset="-120"/>
              </a:rPr>
              <a:t>'Січ', 'Лют', 'Бер',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'Кві', 'Тра', 'Чер'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cs typeface="Consolas" pitchFamily="34" charset="-120"/>
              </a:rPr>
              <a:t>]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cs typeface="Consolas" pitchFamily="34" charset="-120"/>
              </a:rPr>
              <a:t>[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cs typeface="Consolas" pitchFamily="34" charset="-120"/>
              </a:rPr>
              <a:t>150, 200, 250,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300, 280, 320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cs typeface="Consolas" pitchFamily="34" charset="-120"/>
              </a:rPr>
              <a:t>]</a:t>
            </a:r>
          </a:p>
          <a:p>
            <a:pPr marL="0" indent="0">
              <a:buNone/>
            </a:pP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plt.bar(months, sales, 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color=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cs typeface="Consolas" pitchFamily="34" charset="-120"/>
              </a:rPr>
              <a:t>'blue'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cs typeface="Consolas" pitchFamily="34" charset="-120"/>
              </a:rPr>
              <a:t>'Продажі за місяцями'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cs typeface="Consolas" pitchFamily="34" charset="-120"/>
              </a:rPr>
              <a:t>'Місяць'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cs typeface="Consolas" pitchFamily="34" charset="-120"/>
              </a:rPr>
              <a:t>'Продажі'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10EAF350-8391-A707-4102-CA33036498FA}"/>
              </a:ext>
            </a:extLst>
          </p:cNvPr>
          <p:cNvSpPr/>
          <p:nvPr/>
        </p:nvSpPr>
        <p:spPr>
          <a:xfrm>
            <a:off x="4526280" y="1078992"/>
            <a:ext cx="420624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F28BC64-655C-4AFF-8D04-9EFC5F97A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188720"/>
            <a:ext cx="3986784" cy="33924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використовувати стовпчасту діаграму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1078992"/>
            <a:ext cx="79552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94360" y="1078992"/>
            <a:ext cx="54864" cy="749808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818879" y="13258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FF9F"/>
                </a:solidFill>
              </a:rPr>
              <a:t>Так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874520" y="1252728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</a:rPr>
              <a:t>Порівняти продажі за місяцями, оцінки студентів, кількість заявок за категоріями.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066544"/>
            <a:ext cx="79552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594360" y="2066544"/>
            <a:ext cx="54864" cy="7498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818879" y="23134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C040"/>
                </a:solidFill>
              </a:rPr>
              <a:t>Обережно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874520" y="2249424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</a:rPr>
              <a:t>Якщо категорій дуже багато, підписи злипнуться. Краще відсортувати або взяти top-N.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054096"/>
            <a:ext cx="79552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94360" y="3054096"/>
            <a:ext cx="54864" cy="7498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818879" y="3291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6B35"/>
                </a:solidFill>
              </a:rPr>
              <a:t>Не варто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874520" y="3227832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</a:rPr>
              <a:t>Для безперервної зміни за часом line plot часто читається краще за bar chart.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60120" y="4343400"/>
            <a:ext cx="722376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960120" y="4343400"/>
            <a:ext cx="54864" cy="42062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1106424" y="441655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uk-UA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</a:t>
            </a: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X назви категорій, починайте з `plt.bar()`.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chart: частки категорій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Кругова діаграма показує частини одного цілого, коли категорій небагато.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402336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54864" cy="361188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76072" y="1170432"/>
            <a:ext cx="385876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 = [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'Продукти'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'Одяг'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'Техніка'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shares = [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40, 30, 30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plt.pie(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shares,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labels=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categories,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autopct=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'%1.1f%%'</a:t>
            </a:r>
            <a:endParaRPr lang="en-US" sz="120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'Частки продажів'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D5A9BCF0-595A-D23B-3DF0-8C6138A35EAB}"/>
              </a:ext>
            </a:extLst>
          </p:cNvPr>
          <p:cNvSpPr/>
          <p:nvPr/>
        </p:nvSpPr>
        <p:spPr>
          <a:xfrm>
            <a:off x="4526280" y="1078992"/>
            <a:ext cx="420624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E7409BD-F398-104B-CEBA-2078A4526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188720"/>
            <a:ext cx="3986784" cy="33924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Обмеження pie chart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не універсальний. Його легко прочитати неправильно.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9545" y="1243584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Використовуйте pie chart лише для частин одного цілого.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додавайте багато секторів: 3-5 категорій зазвичай достатньо.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потрібно точно порівняти значення, bar chart читається краще.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показуйте на pie chart від'ємні значення або незалежні метрики.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93043" y="4059936"/>
            <a:ext cx="356616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4793043" y="4059936"/>
            <a:ext cx="54864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4939347" y="4133088"/>
            <a:ext cx="3328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uk-UA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</a:t>
            </a: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сектори близькі за розміром, око погано порівнює кути. Стовпчики дають точнішу відповідь.</a:t>
            </a:r>
            <a:endParaRPr lang="en-US" sz="1200" dirty="0"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A473F867-7D76-1D8B-8DE3-8A1989F45842}"/>
              </a:ext>
            </a:extLst>
          </p:cNvPr>
          <p:cNvSpPr/>
          <p:nvPr/>
        </p:nvSpPr>
        <p:spPr>
          <a:xfrm>
            <a:off x="4738255" y="1060704"/>
            <a:ext cx="388620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EE2E0E3-31F0-82FA-198F-8483B086C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983" y="1170432"/>
            <a:ext cx="3666744" cy="27066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plot: залежність ваги від зросту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Точковий графік показує зв'язок між двома числовими ознаками.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388620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54864" cy="361188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76072" y="1170432"/>
            <a:ext cx="363016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= [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160, 165, 170, 175, 180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= [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55, 60, 70, 72, 80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plt.scatter(height, weight, 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color=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'green'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'Зріст і вага'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'Зріст, см'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'Вага, кг'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4F8FAABC-E040-416B-727B-E7F67D758297}"/>
              </a:ext>
            </a:extLst>
          </p:cNvPr>
          <p:cNvSpPr/>
          <p:nvPr/>
        </p:nvSpPr>
        <p:spPr>
          <a:xfrm>
            <a:off x="4526280" y="1078992"/>
            <a:ext cx="420624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8C7767A0-CDA2-85EF-69F7-A08FE433B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188720"/>
            <a:ext cx="3986784" cy="33924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читати scatter plot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983480" y="1234440"/>
            <a:ext cx="3429000" cy="62179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148072" y="1417319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9F"/>
                </a:solidFill>
              </a:rPr>
              <a:t>Напрям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136702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</a:rPr>
              <a:t>Точки йдуть вгору - зв'язок позитивний.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983480" y="2103120"/>
            <a:ext cx="3429000" cy="62179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148072" y="23256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Сила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223726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</a:rPr>
              <a:t>Чим ближче точки до умовної лінії, тим сильніший зв'язок.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983480" y="2971800"/>
            <a:ext cx="3429000" cy="62179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143491" y="3154529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Викиди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3112069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E0E8FF"/>
                </a:solidFill>
              </a:rPr>
              <a:t>Окрема точка може показувати помилку або особливий випадок.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983480" y="3886200"/>
            <a:ext cx="3429000" cy="47548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4983480" y="3886200"/>
            <a:ext cx="54864" cy="47548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129784" y="3959352"/>
            <a:ext cx="3191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показує зв'язок, але сам по собі не доводить причинність.</a:t>
            </a:r>
            <a:endParaRPr lang="en-US" sz="12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1D7C66BC-08F7-361D-B070-4E1ED10FD886}"/>
              </a:ext>
            </a:extLst>
          </p:cNvPr>
          <p:cNvSpPr/>
          <p:nvPr/>
        </p:nvSpPr>
        <p:spPr>
          <a:xfrm>
            <a:off x="502920" y="1097280"/>
            <a:ext cx="4251960" cy="3429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97002C6-06D3-23C5-FBF2-A398261A1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07008"/>
            <a:ext cx="4032504" cy="32095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Графік температури протягом доби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часової послідовності line plot зазвичай перший вибір.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388620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54864" cy="361188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76072" y="1170432"/>
            <a:ext cx="363016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 = [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0, 4, 8, 12, 16, 20, 24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= [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15, 14, 18, 22, 25, 20, 17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plt.plot(hours, temp, 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marker=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'Температура протягом доби'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'Година'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'Температура, C'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plt.grid(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1CE446AF-BB6F-E321-B070-8CA35884B0CC}"/>
              </a:ext>
            </a:extLst>
          </p:cNvPr>
          <p:cNvSpPr/>
          <p:nvPr/>
        </p:nvSpPr>
        <p:spPr>
          <a:xfrm>
            <a:off x="4526280" y="1078992"/>
            <a:ext cx="420624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3101990-27DB-172C-3CB1-35A88D5A7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188720"/>
            <a:ext cx="3986784" cy="33924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Сітка, підписи осей і поворот підписів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3749040" cy="3337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54864" cy="333756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667512" y="1188720"/>
            <a:ext cx="3493008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plt.plot(days, visitors, 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marker=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'Відвідувачі за тиждень'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'Дата'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'Кількість'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plt.grid(</a:t>
            </a:r>
            <a:r>
              <a:rPr lang="en-US" sz="12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alpha=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plt.xticks(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rotation=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BF74968D-516B-34F3-61B0-32512174284C}"/>
              </a:ext>
            </a:extLst>
          </p:cNvPr>
          <p:cNvSpPr/>
          <p:nvPr/>
        </p:nvSpPr>
        <p:spPr>
          <a:xfrm>
            <a:off x="4526280" y="1078992"/>
            <a:ext cx="420624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5C35C1C-9D57-27D2-A102-8C1443774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188720"/>
            <a:ext cx="3986784" cy="3392424"/>
          </a:xfrm>
          <a:prstGeom prst="rect">
            <a:avLst/>
          </a:prstGeom>
        </p:spPr>
      </p:pic>
      <p:sp>
        <p:nvSpPr>
          <p:cNvPr id="31" name="Text 3">
            <a:extLst>
              <a:ext uri="{FF2B5EF4-FFF2-40B4-BE49-F238E27FC236}">
                <a16:creationId xmlns:a16="http://schemas.microsoft.com/office/drawing/2014/main" id="{779AEB7C-0A5F-A22F-A4FD-CC5CF495B298}"/>
              </a:ext>
            </a:extLst>
          </p:cNvPr>
          <p:cNvSpPr/>
          <p:nvPr/>
        </p:nvSpPr>
        <p:spPr>
          <a:xfrm>
            <a:off x="411480" y="70408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Читабельність часто важливіша за тип графіка.</a:t>
            </a:r>
            <a:endParaRPr lang="en-US" sz="12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рядів на одному графіку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одному Axes можна порівняти два або більше рядів з однаковою шкалою X.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388620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54864" cy="361188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76072" y="1170432"/>
            <a:ext cx="363016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 = [</a:t>
            </a:r>
            <a:r>
              <a:rPr lang="en-US" sz="112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'Січ','Лют','Бер','Кві','Тра','Чер'</a:t>
            </a:r>
            <a:r>
              <a:rPr lang="en-US" sz="112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2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12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= [</a:t>
            </a:r>
            <a:r>
              <a:rPr lang="en-US" sz="112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180, 210, 240, 270, 300, 330</a:t>
            </a:r>
            <a:r>
              <a:rPr lang="en-US" sz="112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2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12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 = [</a:t>
            </a:r>
            <a:r>
              <a:rPr lang="en-US" sz="112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150, 200, 250, 300, 280, 320</a:t>
            </a:r>
            <a:r>
              <a:rPr lang="en-US" sz="112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2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12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12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plt.plot(months, plan, </a:t>
            </a:r>
            <a:r>
              <a:rPr lang="en-US" sz="112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label=</a:t>
            </a:r>
            <a:r>
              <a:rPr lang="en-US" sz="112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'План'</a:t>
            </a:r>
            <a:r>
              <a:rPr lang="en-US" sz="112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2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12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plt.plot(months, fact, </a:t>
            </a:r>
            <a:r>
              <a:rPr lang="en-US" sz="112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label=</a:t>
            </a:r>
            <a:r>
              <a:rPr lang="en-US" sz="112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'Факт'</a:t>
            </a:r>
            <a:r>
              <a:rPr lang="en-US" sz="112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2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12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plt.legend()</a:t>
            </a:r>
            <a:endParaRPr lang="en-US" sz="112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12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plt.grid(</a:t>
            </a:r>
            <a:r>
              <a:rPr lang="en-US" sz="112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2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2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12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20" dirty="0">
              <a:solidFill>
                <a:schemeClr val="bg2"/>
              </a:solidFill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0D8156C4-0072-3547-080C-E1264A1ED811}"/>
              </a:ext>
            </a:extLst>
          </p:cNvPr>
          <p:cNvSpPr/>
          <p:nvPr/>
        </p:nvSpPr>
        <p:spPr>
          <a:xfrm>
            <a:off x="4526280" y="1078992"/>
            <a:ext cx="420624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E5519F0-081E-21EC-780F-9A9B84420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188720"/>
            <a:ext cx="3986784" cy="33924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Легенда і порівняння планових та фактичних продажів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016752" y="12344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Легенда потрібна, коли на графіку більше одного ряду.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Кольори мають бути контрастними і стабільними.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графіка формулюємо короткий висновок: у травні факт нижчий за план, у квітні - вищий.</a:t>
            </a:r>
            <a:endParaRPr lang="en-US" sz="125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02B963EB-D831-4A30-2A8B-E826640FC5A7}"/>
              </a:ext>
            </a:extLst>
          </p:cNvPr>
          <p:cNvSpPr/>
          <p:nvPr/>
        </p:nvSpPr>
        <p:spPr>
          <a:xfrm>
            <a:off x="594360" y="960120"/>
            <a:ext cx="516636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FF819A2-6505-F72E-CAFF-F92D11362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069848"/>
            <a:ext cx="4946904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Histogram: розподіл віку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Гістограма показує, у яких інтервалах зосереджені значення.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388620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54864" cy="361188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76072" y="1170432"/>
            <a:ext cx="363016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 = [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18, 19, 21, 22, 25, 27, 28,</a:t>
            </a:r>
            <a:endParaRPr lang="en-US" sz="12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31, 33, 35, 37, 40, 41,</a:t>
            </a:r>
            <a:endParaRPr lang="en-US" sz="12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44, 47, 50, 53, 55, 58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plt.hist(ages, 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bins=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color=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'purple'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plt.axvline(sum(ages)</a:t>
            </a:r>
            <a:r>
              <a:rPr lang="uk-UA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uk-UA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len(ages),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color=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'orange'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'Вік'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'Кількість'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 rot="16200000">
            <a:off x="4709160" y="1444752"/>
            <a:ext cx="27432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</a:rPr>
              <a:t>К-сть</a:t>
            </a:r>
            <a:endParaRPr lang="en-US" sz="900" dirty="0"/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C7F8A020-7979-B976-E3B0-96ED0EF6C1F5}"/>
              </a:ext>
            </a:extLst>
          </p:cNvPr>
          <p:cNvSpPr/>
          <p:nvPr/>
        </p:nvSpPr>
        <p:spPr>
          <a:xfrm>
            <a:off x="4526280" y="1078992"/>
            <a:ext cx="420624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440B956-A2BE-9492-34B6-2E377E5F0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188720"/>
            <a:ext cx="3986784" cy="339242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Boxplot: медіана, квартилі, розкид і викиди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швидко показує центр розподілу, розкид і незвичні значення.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388620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54864" cy="361188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76072" y="1170432"/>
            <a:ext cx="363016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group_a = [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70, 72, 75, 80, 82, 85, 90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group_b = [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60, 65, 67, 73, 78, 83, 95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group_c = [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76, 78, 80, 82, 84, 86, 88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plt.boxplot([group_a, group_b, group_c],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labels=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'Бали'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'Результати іспитів'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 rot="16200000">
            <a:off x="4709160" y="1444752"/>
            <a:ext cx="274320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B0"/>
                </a:solidFill>
              </a:rPr>
              <a:t>Бали</a:t>
            </a:r>
            <a:endParaRPr lang="en-US" sz="900" dirty="0"/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B9A49E8A-AECE-08F6-BD06-E2B667150D75}"/>
              </a:ext>
            </a:extLst>
          </p:cNvPr>
          <p:cNvSpPr/>
          <p:nvPr/>
        </p:nvSpPr>
        <p:spPr>
          <a:xfrm>
            <a:off x="4526280" y="1078992"/>
            <a:ext cx="420624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72FF8D7-A46D-C9F7-6C20-549868513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188720"/>
            <a:ext cx="3986784" cy="33924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 через fill_between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`fill_between` зафарбовує область під лінією або між двома лініями.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388620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11480" y="1078992"/>
            <a:ext cx="54864" cy="361188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76072" y="1170432"/>
            <a:ext cx="3630168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 = list(range(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= [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20,18,17,16,18,25,40,55,</a:t>
            </a:r>
            <a:endParaRPr lang="en-US" sz="12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70,78,82,79,74,72,76,80,</a:t>
            </a:r>
            <a:endParaRPr lang="en-US" sz="12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85,88,82,70,58,45,34,26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plt.plot(hours, load, 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color=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'cyan'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plt.fill_between(hours, load, 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alpha=</a:t>
            </a:r>
            <a:r>
              <a:rPr lang="en-US" sz="12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'Година'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'Навантаження, %'</a:t>
            </a: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70B2094E-64B4-7ECE-E9FD-D503B50009F8}"/>
              </a:ext>
            </a:extLst>
          </p:cNvPr>
          <p:cNvSpPr/>
          <p:nvPr/>
        </p:nvSpPr>
        <p:spPr>
          <a:xfrm>
            <a:off x="4526280" y="1078992"/>
            <a:ext cx="420624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F75045C-101E-564E-B0E5-B7DC32298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188720"/>
            <a:ext cx="3986784" cy="339242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Сітка підграфіків 2x2 для кількох метрик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метрики мають різний масштаб, краще дати кожній окремий Axes.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4133082" cy="3703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54864" cy="3703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76071" y="1143000"/>
            <a:ext cx="3968491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axs = plt.subplots(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figsize=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axs[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].plot(days, conversion)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axs[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].set_title(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'Конверсія'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axs[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].plot(days, retention)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axs[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].set_title(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'Утримання'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axs[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].plot(days, avg_check)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axs[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].set_title(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'Середній чек'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axs[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].bar(days, orders)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axs[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00B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].set_title(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'Замовлення'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fig.suptitle(</a:t>
            </a:r>
            <a:r>
              <a:rPr lang="en-US" sz="120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'Метрики продукту'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Shape 7">
            <a:extLst>
              <a:ext uri="{FF2B5EF4-FFF2-40B4-BE49-F238E27FC236}">
                <a16:creationId xmlns:a16="http://schemas.microsoft.com/office/drawing/2014/main" id="{B63635C7-4C9B-6F61-E5C9-DD9BB8F0DF88}"/>
              </a:ext>
            </a:extLst>
          </p:cNvPr>
          <p:cNvSpPr/>
          <p:nvPr/>
        </p:nvSpPr>
        <p:spPr>
          <a:xfrm>
            <a:off x="4599440" y="1056623"/>
            <a:ext cx="420624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CAF8C93-3762-1C29-1D4B-9D28E1276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8" y="1166351"/>
            <a:ext cx="3986784" cy="339242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281499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Практичний чекліст вибору графіка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065919"/>
            <a:ext cx="77724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868680" y="1163895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E0E8FF"/>
                </a:solidFill>
              </a:rPr>
              <a:t>Зміна за часом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5486400" y="1184791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D4FF"/>
                </a:solidFill>
              </a:rPr>
              <a:t>line plot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685800" y="1559695"/>
            <a:ext cx="777240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868680" y="1678567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E0E8FF"/>
                </a:solidFill>
              </a:rPr>
              <a:t>Порівняння категорій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5486400" y="1678567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4F9CF9"/>
                </a:solidFill>
              </a:rPr>
              <a:t>bar chart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85800" y="2053471"/>
            <a:ext cx="77724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868680" y="2172343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E0E8FF"/>
                </a:solidFill>
              </a:rPr>
              <a:t>Частини одного цілого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5486400" y="2172343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FF9F"/>
                </a:solidFill>
              </a:rPr>
              <a:t>pie chart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85800" y="2547247"/>
            <a:ext cx="777240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868680" y="2666119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E0E8FF"/>
                </a:solidFill>
              </a:rPr>
              <a:t>Зв'язок двох числових ознак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5486400" y="2666119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FF6B35"/>
                </a:solidFill>
              </a:rPr>
              <a:t>scatter plot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685800" y="3041023"/>
            <a:ext cx="77724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868680" y="3159895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E0E8FF"/>
                </a:solidFill>
              </a:rPr>
              <a:t>Розподіл однієї числової ознаки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5486400" y="3159895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A855F7"/>
                </a:solidFill>
              </a:rPr>
              <a:t>histogram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685800" y="3534799"/>
            <a:ext cx="777240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868680" y="3653671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E0E8FF"/>
                </a:solidFill>
              </a:rPr>
              <a:t>Розкид між групами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5486400" y="3653671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F0C040"/>
                </a:solidFill>
              </a:rPr>
              <a:t>boxplot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685800" y="4028575"/>
            <a:ext cx="777240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868680" y="4147447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E0E8FF"/>
                </a:solidFill>
              </a:rPr>
              <a:t>Кілька різних метрик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5486400" y="4147447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FF4757"/>
                </a:solidFill>
              </a:rPr>
              <a:t>subplots 2x2</a:t>
            </a:r>
            <a:endParaRPr lang="en-US" sz="11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9CF9"/>
                </a:solidFill>
              </a:rPr>
              <a:t>Підсумок заняття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3000" b="1" dirty="0">
                <a:solidFill>
                  <a:srgbClr val="E0E8FF"/>
                </a:solidFill>
              </a:rPr>
              <a:t>Сьогодні розглянули як: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60520" cy="78638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78638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658368" y="1463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E0E8FF"/>
                </a:solidFill>
              </a:rPr>
              <a:t>Будувати line plot, bar chart, pie chart і scatter plot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160520" cy="78638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54864" cy="78638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58368" y="24231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E0E8FF"/>
                </a:solidFill>
              </a:rPr>
              <a:t>Додавати title, xlabel, ylabel, legend і grid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4160520" cy="78638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54864" cy="78638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58368" y="33832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E0E8FF"/>
                </a:solidFill>
              </a:rPr>
              <a:t>Читати histogram і boxplot для розподілу та викидів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4892040" y="1371600"/>
            <a:ext cx="4160520" cy="78638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892040" y="1371600"/>
            <a:ext cx="54864" cy="7863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093208" y="1463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E0E8FF"/>
                </a:solidFill>
              </a:rPr>
              <a:t>Порівнювати кілька рядів на одному графіку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4892040" y="2331720"/>
            <a:ext cx="4160520" cy="78638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892040" y="2331720"/>
            <a:ext cx="54864" cy="78638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093208" y="24231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E0E8FF"/>
                </a:solidFill>
              </a:rPr>
              <a:t>Використовувати fill_between для area chart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4892040" y="3291840"/>
            <a:ext cx="4160520" cy="78638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4892040" y="3291840"/>
            <a:ext cx="54864" cy="78638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093208" y="33832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E0E8FF"/>
                </a:solidFill>
              </a:rPr>
              <a:t>Створювати сітку підграфіків 2x2 через plt.subplots</a:t>
            </a:r>
            <a:endParaRPr lang="en-US" sz="123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2B0"/>
                </a:solidFill>
              </a:rPr>
              <a:t>Домашнє завдання: bar chart продажів і line plot температури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1821</Words>
  <Application>Microsoft Macintosh PowerPoint</Application>
  <PresentationFormat>On-screen Show (16:9)</PresentationFormat>
  <Paragraphs>282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IT Step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Візуалізація даних у Matplotlib</dc:title>
  <dc:subject>Заняття 4. Створення AI додатків з використанням Python</dc:subject>
  <dc:creator>Data Science Course</dc:creator>
  <cp:lastModifiedBy>Штефан Дмитро</cp:lastModifiedBy>
  <cp:revision>7</cp:revision>
  <dcterms:created xsi:type="dcterms:W3CDTF">2026-06-07T12:41:54Z</dcterms:created>
  <dcterms:modified xsi:type="dcterms:W3CDTF">2026-06-07T16:04:06Z</dcterms:modified>
</cp:coreProperties>
</file>