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1"/>
    <a:srgbClr val="242E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94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3179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1E2761">
              <a:alpha val="48235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242E73">
              <a:alpha val="54118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805869" y="1325025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DEVELOPMENT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5869" y="1782225"/>
            <a:ext cx="9692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 LLM до agentic workflow</a:t>
            </a:r>
            <a:endParaRPr lang="en-US" sz="4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CrewAI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05869" y="3702465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текстова модель перетворюється на систему, що діє: інструменти, агенти та безпечна оркестрація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5869" y="4616865"/>
            <a:ext cx="566928" cy="566928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0" descr="/home/claude/agentic/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01" y="4758597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7389" y="4690017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3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uk-UA" sz="13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додатків з використанням </a:t>
            </a:r>
            <a:r>
              <a:rPr lang="en-US" sz="13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ЗАНЯТТЯ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Куди ми йдемо сьогодні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91640" y="3268980"/>
            <a:ext cx="919886" cy="0"/>
          </a:xfrm>
          <a:prstGeom prst="line">
            <a:avLst/>
          </a:prstGeom>
          <a:noFill/>
          <a:ln w="25400">
            <a:solidFill>
              <a:srgbClr val="2FA89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051560" cy="1051560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agentic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3006090"/>
            <a:ext cx="525780" cy="5257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395935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63086" y="3268980"/>
            <a:ext cx="919886" cy="0"/>
          </a:xfrm>
          <a:prstGeom prst="line">
            <a:avLst/>
          </a:prstGeom>
          <a:noFill/>
          <a:ln w="25400">
            <a:solidFill>
              <a:srgbClr val="2FA89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2611526" y="2743200"/>
            <a:ext cx="1051560" cy="1051560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/home/claude/agentic/icons/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416" y="3006090"/>
            <a:ext cx="525780" cy="5257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91486" y="395935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634533" y="3268980"/>
            <a:ext cx="919886" cy="0"/>
          </a:xfrm>
          <a:prstGeom prst="line">
            <a:avLst/>
          </a:prstGeom>
          <a:noFill/>
          <a:ln w="25400">
            <a:solidFill>
              <a:srgbClr val="2FA89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9"/>
          <p:cNvSpPr/>
          <p:nvPr/>
        </p:nvSpPr>
        <p:spPr>
          <a:xfrm>
            <a:off x="4582973" y="2743200"/>
            <a:ext cx="1051560" cy="1051560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2" descr="/home/claude/agentic/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863" y="3006090"/>
            <a:ext cx="525780" cy="5257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62933" y="395935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605979" y="3268980"/>
            <a:ext cx="919886" cy="0"/>
          </a:xfrm>
          <a:prstGeom prst="line">
            <a:avLst/>
          </a:prstGeom>
          <a:noFill/>
          <a:ln w="25400">
            <a:solidFill>
              <a:srgbClr val="2FA89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2"/>
          <p:cNvSpPr/>
          <p:nvPr/>
        </p:nvSpPr>
        <p:spPr>
          <a:xfrm>
            <a:off x="6554419" y="2743200"/>
            <a:ext cx="1051560" cy="1051560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3" descr="/home/claude/agentic/icons/arrowRep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7309" y="3006090"/>
            <a:ext cx="525780" cy="5257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34379" y="395935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577426" y="3268980"/>
            <a:ext cx="919886" cy="0"/>
          </a:xfrm>
          <a:prstGeom prst="line">
            <a:avLst/>
          </a:prstGeom>
          <a:noFill/>
          <a:ln w="25400">
            <a:solidFill>
              <a:srgbClr val="2FA89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5"/>
          <p:cNvSpPr/>
          <p:nvPr/>
        </p:nvSpPr>
        <p:spPr>
          <a:xfrm>
            <a:off x="8525866" y="2743200"/>
            <a:ext cx="1051560" cy="1051560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4" descr="/home/claude/agentic/icons/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8756" y="3006090"/>
            <a:ext cx="525780" cy="5257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05826" y="395935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10497312" y="2743200"/>
            <a:ext cx="1051560" cy="105156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5" name="Image 5" descr="/home/claude/agentic/icons/termin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0202" y="3006090"/>
            <a:ext cx="525780" cy="5257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177272" y="395935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822960" y="48920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наступний блок додає моделі нову здатність — від генерації тексту до самостійного виконання задач.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ЗАНЯТТЯ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ЗВИЧАЙНА LLM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вміє LLM і чого </a:t>
            </a:r>
            <a:r>
              <a:rPr lang="uk-UA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вона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не вміє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77440" y="2171700"/>
            <a:ext cx="457200" cy="0"/>
          </a:xfrm>
          <a:prstGeom prst="line">
            <a:avLst/>
          </a:prstGeom>
          <a:noFill/>
          <a:ln w="2540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2834640" y="17830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2834640" y="17830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2171700"/>
            <a:ext cx="457200" cy="0"/>
          </a:xfrm>
          <a:prstGeom prst="line">
            <a:avLst/>
          </a:prstGeom>
          <a:noFill/>
          <a:ln w="2540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846320" y="17830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аналізує і генерує текст,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 без інструментів не бачить актуальний стан світу і не може його змінити.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70332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1051560" y="39136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0" descr="/home/claude/agentic/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" y="4037076"/>
            <a:ext cx="301752" cy="30175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37360" y="3913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737360" y="418795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«Яка зараз погода у Києві?» — модель не має доступу до актуальних даних і не може дати достовірну відповідь без tool.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370332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6"/>
          <p:cNvSpPr/>
          <p:nvPr/>
        </p:nvSpPr>
        <p:spPr>
          <a:xfrm>
            <a:off x="6400800" y="3913632"/>
            <a:ext cx="548640" cy="54864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1" descr="/home/claude/agentic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244" y="4037076"/>
            <a:ext cx="301752" cy="3017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86600" y="39136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Ключова думка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086600" y="418795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— це інструмент, а не внутрішня магія LLM. Search дозволяє AI читати світ; tools можуть дозволити AI змінювати світ.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1346781" y="5440680"/>
            <a:ext cx="585216" cy="585216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4" name="Image 2" descr="/home/claude/agentic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085" y="5586984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45029" y="6053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2979638" y="5440680"/>
            <a:ext cx="585216" cy="585216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7" name="Image 3" descr="/home/claude/agentic/icons/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5942" y="5586984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677886" y="6053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612495" y="5440680"/>
            <a:ext cx="585216" cy="585216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0" name="Image 4" descr="/home/claude/agentic/icons/m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8799" y="5586984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310743" y="6053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245352" y="5440680"/>
            <a:ext cx="585216" cy="585216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3" name="Image 5" descr="/home/claude/agentic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656" y="5586984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943600" y="6053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7878209" y="5440680"/>
            <a:ext cx="585216" cy="585216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6" name="Image 6" descr="/home/claude/agentic/icons/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4513" y="5586984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576457" y="6053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9511066" y="5440680"/>
            <a:ext cx="585216" cy="585216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9" name="Image 7" descr="/home/claude/agentic/icons/pyth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7370" y="5586984"/>
            <a:ext cx="292608" cy="29260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9209314" y="6053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11143923" y="5440680"/>
            <a:ext cx="585216" cy="585216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2" name="Image 8" descr="/home/claude/agentic/icons/ap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90227" y="5586984"/>
            <a:ext cx="292608" cy="29260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10842171" y="6053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44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ЗВИЧАЙНА LLM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Хто що виконує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23360" y="19202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023360" y="1920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23760" y="19202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223760" y="1920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Host-застосунок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54680" y="16276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 на tool 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2308860"/>
            <a:ext cx="914400" cy="0"/>
          </a:xfrm>
          <a:prstGeom prst="line">
            <a:avLst/>
          </a:prstGeom>
          <a:noFill/>
          <a:ln w="2540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6309360" y="2308860"/>
            <a:ext cx="914400" cy="0"/>
          </a:xfrm>
          <a:prstGeom prst="line">
            <a:avLst/>
          </a:prstGeom>
          <a:noFill/>
          <a:ln w="2540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7223760" y="2971800"/>
            <a:ext cx="0" cy="274320"/>
          </a:xfrm>
          <a:prstGeom prst="line">
            <a:avLst/>
          </a:prstGeom>
          <a:noFill/>
          <a:ln w="12700">
            <a:solidFill>
              <a:srgbClr val="8891C4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822960" y="3246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← результат tool ← валідація і виконання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лише просить викликати tool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Python-застосунок валідує аргументи і виконує дію самостійно.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572000"/>
            <a:ext cx="5577840" cy="1600200"/>
          </a:xfrm>
          <a:prstGeom prst="roundRect">
            <a:avLst>
              <a:gd name="adj" fmla="val 5143"/>
            </a:avLst>
          </a:prstGeom>
          <a:solidFill>
            <a:srgbClr val="141A45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105156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 TOOL CALL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51560" y="5074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get_dataset_summary(file_name)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5532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Проста, конкретна дія з чітким аргументом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4572000"/>
            <a:ext cx="4709160" cy="1600200"/>
          </a:xfrm>
          <a:prstGeom prst="roundRect">
            <a:avLst>
              <a:gd name="adj" fmla="val 5143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6903720" y="47365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SCHEMA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03720" y="5047488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  <a:buSzPct val="100000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 призначення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 та обов’язкові аргументи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ПРОЄКТУВАННЯ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проєктувати безпечні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472184" y="2377440"/>
            <a:ext cx="822960" cy="82296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agentic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924" y="25831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47472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tool — одна чітка дія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20299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прихованих побічних ефектів і подвійного призначення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47288" y="196596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4279392" y="2377440"/>
            <a:ext cx="822960" cy="82296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/home/claude/agentic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25831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347472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Вузькі аргументи та валідація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75888" y="4297680"/>
            <a:ext cx="20299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Передбачуваний формат результату, мінімальні права доступу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54496" y="196596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1"/>
          <p:cNvSpPr/>
          <p:nvPr/>
        </p:nvSpPr>
        <p:spPr>
          <a:xfrm>
            <a:off x="7086600" y="2377440"/>
            <a:ext cx="822960" cy="82296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/home/claude/agentic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40" y="25831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83096" y="347472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і write розділені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83096" y="4297680"/>
            <a:ext cx="20299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Читання даних і зміна стану — різні tools з різними правами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61704" y="196596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5"/>
          <p:cNvSpPr/>
          <p:nvPr/>
        </p:nvSpPr>
        <p:spPr>
          <a:xfrm>
            <a:off x="9893808" y="2377440"/>
            <a:ext cx="822960" cy="82296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3" descr="/home/claude/agentic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9548" y="25831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0304" y="347472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Підтвердження людини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90304" y="4297680"/>
            <a:ext cx="20299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незворотних і ризикових дій — обов’язковий human review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БЕЗПЕЧНІ TOOLS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TOOL CALLING ДО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calling і agentic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68680" y="1993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TOOL CALL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команда — одна дія.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4FD8C4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6263640" y="19933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63640" y="23317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отримує ціль, сам обирає кроки, аналізує результати і вирішує, що робити далі.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«Чатботу ми ставимо питання, агенту — задачу»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645920" y="4777740"/>
            <a:ext cx="1011326" cy="0"/>
          </a:xfrm>
          <a:prstGeom prst="line">
            <a:avLst/>
          </a:prstGeom>
          <a:noFill/>
          <a:ln w="2540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685800" y="4297680"/>
            <a:ext cx="960120" cy="960120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0" descr="/home/claude/agentic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1" y="4547311"/>
            <a:ext cx="460858" cy="46085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53675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17366" y="4777740"/>
            <a:ext cx="1011326" cy="0"/>
          </a:xfrm>
          <a:prstGeom prst="line">
            <a:avLst/>
          </a:prstGeom>
          <a:noFill/>
          <a:ln w="2540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3"/>
          <p:cNvSpPr/>
          <p:nvPr/>
        </p:nvSpPr>
        <p:spPr>
          <a:xfrm>
            <a:off x="2657246" y="4297680"/>
            <a:ext cx="960120" cy="960120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1" descr="/home/claude/agentic/icons/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878" y="4547311"/>
            <a:ext cx="460858" cy="46085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28646" y="53675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588813" y="4777740"/>
            <a:ext cx="1011326" cy="0"/>
          </a:xfrm>
          <a:prstGeom prst="line">
            <a:avLst/>
          </a:prstGeom>
          <a:noFill/>
          <a:ln w="2540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6"/>
          <p:cNvSpPr/>
          <p:nvPr/>
        </p:nvSpPr>
        <p:spPr>
          <a:xfrm>
            <a:off x="4628693" y="4297680"/>
            <a:ext cx="960120" cy="960120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2" descr="/home/claude/agentic/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8324" y="4547311"/>
            <a:ext cx="460858" cy="46085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00093" y="53675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560259" y="4777740"/>
            <a:ext cx="1011326" cy="0"/>
          </a:xfrm>
          <a:prstGeom prst="line">
            <a:avLst/>
          </a:prstGeom>
          <a:noFill/>
          <a:ln w="2540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19"/>
          <p:cNvSpPr/>
          <p:nvPr/>
        </p:nvSpPr>
        <p:spPr>
          <a:xfrm>
            <a:off x="6600139" y="4297680"/>
            <a:ext cx="960120" cy="960120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5" name="Image 3" descr="/home/claude/agentic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9770" y="4547311"/>
            <a:ext cx="460858" cy="46085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71539" y="53675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9531706" y="4777740"/>
            <a:ext cx="1011326" cy="0"/>
          </a:xfrm>
          <a:prstGeom prst="line">
            <a:avLst/>
          </a:prstGeom>
          <a:noFill/>
          <a:ln w="2540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2"/>
          <p:cNvSpPr/>
          <p:nvPr/>
        </p:nvSpPr>
        <p:spPr>
          <a:xfrm>
            <a:off x="8571586" y="4297680"/>
            <a:ext cx="960120" cy="960120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9" name="Image 4" descr="/home/claude/agentic/icons/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1217" y="4547311"/>
            <a:ext cx="460858" cy="46085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342986" y="53675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10543032" y="4297680"/>
            <a:ext cx="960120" cy="960120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2" name="Image 5" descr="/home/claude/agentic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2663" y="4547311"/>
            <a:ext cx="460858" cy="46085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314432" y="53675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1165860" y="4069080"/>
            <a:ext cx="9857232" cy="0"/>
          </a:xfrm>
          <a:prstGeom prst="line">
            <a:avLst/>
          </a:prstGeom>
          <a:noFill/>
          <a:ln w="19050">
            <a:solidFill>
              <a:srgbClr val="4FD8C4"/>
            </a:solidFill>
            <a:prstDash val="dash"/>
            <a:head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27"/>
          <p:cNvSpPr/>
          <p:nvPr/>
        </p:nvSpPr>
        <p:spPr>
          <a:xfrm>
            <a:off x="685800" y="37307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if needed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Зупинка циклу: ціль досягнуто · вичерпано ліміт · сталася помилка · потрібне рішення людини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→ WORKFLOW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ВИМОГИ ДО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потрібно agentic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/home/claude/agentic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023110"/>
            <a:ext cx="205740" cy="2057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9019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Чітка ціль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309360" y="1920240"/>
            <a:ext cx="411480" cy="41148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1" descr="/home/claude/agentic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0" y="2023110"/>
            <a:ext cx="205740" cy="2057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0" y="19019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Релевантний context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2578608"/>
            <a:ext cx="411480" cy="41148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2" descr="/home/claude/agentic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681478"/>
            <a:ext cx="205740" cy="2057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560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Дозволені tools і межі доступу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309360" y="2578608"/>
            <a:ext cx="411480" cy="41148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3" descr="/home/claude/agentic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0" y="2681478"/>
            <a:ext cx="205740" cy="2057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0" y="2560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та проміжні результати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40080" y="3236976"/>
            <a:ext cx="411480" cy="41148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4" descr="/home/claude/agentic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339846"/>
            <a:ext cx="205740" cy="2057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32186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й verification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6309360" y="3236976"/>
            <a:ext cx="411480" cy="41148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5" descr="/home/claude/agentic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0" y="3339846"/>
            <a:ext cx="205740" cy="2057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58000" y="32186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Ліміти кроків, часу та вартості</a:t>
            </a:r>
            <a:endParaRPr lang="en-US" sz="1450" dirty="0"/>
          </a:p>
        </p:txBody>
      </p:sp>
      <p:sp>
        <p:nvSpPr>
          <p:cNvPr id="22" name="Shape 14"/>
          <p:cNvSpPr/>
          <p:nvPr/>
        </p:nvSpPr>
        <p:spPr>
          <a:xfrm>
            <a:off x="640080" y="397764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3" name="Text 15"/>
          <p:cNvSpPr/>
          <p:nvPr/>
        </p:nvSpPr>
        <p:spPr>
          <a:xfrm>
            <a:off x="868680" y="4160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НЕЧІТКОГО PROMPT…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868680" y="44805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«Проаналізуй CSV»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868680" y="49377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аудиторії, метрик, перевірок і формату результату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6035040" y="397764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4FD8C4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Text 19"/>
          <p:cNvSpPr/>
          <p:nvPr/>
        </p:nvSpPr>
        <p:spPr>
          <a:xfrm>
            <a:off x="6263640" y="4160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…ДО ACCEPTANCE CRITERIA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6263640" y="4480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Аудиторія, метрики, перевірки, формат звіту, обмеження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6263640" y="507492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Наприклад: пропуски і дублікати пораховано; метрики відтворюються кодом; висновки не суперечать даним.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ВИМОГИ ДО WORKFLOW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МЕЖІ ЗАСТОСУВАННЯ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Коли агенти доречні, а коли зайві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 ДОРЕЧНИЙ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6263640" y="187452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КРАЩЕ ЗВИЧАЙНИЙ КОД АБО PROMPT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5257800" cy="685800"/>
          </a:xfrm>
          <a:prstGeom prst="roundRect">
            <a:avLst>
              <a:gd name="adj" fmla="val 12000"/>
            </a:avLst>
          </a:prstGeom>
          <a:solidFill>
            <a:srgbClr val="2830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822960" y="2720340"/>
            <a:ext cx="365760" cy="36576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0" descr="/home/claude/agentic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80263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25603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кроків і невизначений шлях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2560320"/>
            <a:ext cx="5257800" cy="685800"/>
          </a:xfrm>
          <a:prstGeom prst="roundRect">
            <a:avLst>
              <a:gd name="adj" fmla="val 12000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6446520" y="2720340"/>
            <a:ext cx="365760" cy="365760"/>
          </a:xfrm>
          <a:prstGeom prst="ellipse">
            <a:avLst/>
          </a:prstGeom>
          <a:solidFill>
            <a:srgbClr val="5B6199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1" descr="/home/claude/agentic/icons/cr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80263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49440" y="25603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Детермінована операція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429000"/>
            <a:ext cx="5257800" cy="685800"/>
          </a:xfrm>
          <a:prstGeom prst="roundRect">
            <a:avLst>
              <a:gd name="adj" fmla="val 12000"/>
            </a:avLst>
          </a:prstGeom>
          <a:solidFill>
            <a:srgbClr val="2830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3"/>
          <p:cNvSpPr/>
          <p:nvPr/>
        </p:nvSpPr>
        <p:spPr>
          <a:xfrm>
            <a:off x="822960" y="3589020"/>
            <a:ext cx="365760" cy="36576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2" descr="/home/claude/agentic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671316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4290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Потрібно оцінювати контекст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63640" y="3429000"/>
            <a:ext cx="5257800" cy="685800"/>
          </a:xfrm>
          <a:prstGeom prst="roundRect">
            <a:avLst>
              <a:gd name="adj" fmla="val 12000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6"/>
          <p:cNvSpPr/>
          <p:nvPr/>
        </p:nvSpPr>
        <p:spPr>
          <a:xfrm>
            <a:off x="6446520" y="3589020"/>
            <a:ext cx="365760" cy="365760"/>
          </a:xfrm>
          <a:prstGeom prst="ellipse">
            <a:avLst/>
          </a:prstGeom>
          <a:solidFill>
            <a:srgbClr val="5B6199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3" descr="/home/claude/agentic/icons/cr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3671316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34290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 чіткий алгоритм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4297680"/>
            <a:ext cx="5257800" cy="685800"/>
          </a:xfrm>
          <a:prstGeom prst="roundRect">
            <a:avLst>
              <a:gd name="adj" fmla="val 12000"/>
            </a:avLst>
          </a:prstGeom>
          <a:solidFill>
            <a:srgbClr val="2830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19"/>
          <p:cNvSpPr/>
          <p:nvPr/>
        </p:nvSpPr>
        <p:spPr>
          <a:xfrm>
            <a:off x="822960" y="4457700"/>
            <a:ext cx="365760" cy="36576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6" name="Image 4" descr="/home/claude/agentic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539996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29768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Потрібні tools та проміжні результати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263640" y="4297680"/>
            <a:ext cx="5257800" cy="685800"/>
          </a:xfrm>
          <a:prstGeom prst="roundRect">
            <a:avLst>
              <a:gd name="adj" fmla="val 12000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9" name="Shape 22"/>
          <p:cNvSpPr/>
          <p:nvPr/>
        </p:nvSpPr>
        <p:spPr>
          <a:xfrm>
            <a:off x="6446520" y="4457700"/>
            <a:ext cx="365760" cy="365760"/>
          </a:xfrm>
          <a:prstGeom prst="ellipse">
            <a:avLst/>
          </a:prstGeom>
          <a:solidFill>
            <a:srgbClr val="5B6199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0" name="Image 5" descr="/home/claude/agentic/icons/cr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539996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49440" y="429768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Достатньо однієї якісної відповіді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640080" y="5166360"/>
            <a:ext cx="5257800" cy="685800"/>
          </a:xfrm>
          <a:prstGeom prst="roundRect">
            <a:avLst>
              <a:gd name="adj" fmla="val 12000"/>
            </a:avLst>
          </a:prstGeom>
          <a:solidFill>
            <a:srgbClr val="2830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3" name="Shape 25"/>
          <p:cNvSpPr/>
          <p:nvPr/>
        </p:nvSpPr>
        <p:spPr>
          <a:xfrm>
            <a:off x="822960" y="5326380"/>
            <a:ext cx="365760" cy="36576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4" name="Image 6" descr="/home/claude/agentic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408676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325880" y="51663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можна перевірити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6263640" y="5166360"/>
            <a:ext cx="5257800" cy="685800"/>
          </a:xfrm>
          <a:prstGeom prst="roundRect">
            <a:avLst>
              <a:gd name="adj" fmla="val 12000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7" name="Shape 28"/>
          <p:cNvSpPr/>
          <p:nvPr/>
        </p:nvSpPr>
        <p:spPr>
          <a:xfrm>
            <a:off x="6446520" y="5326380"/>
            <a:ext cx="365760" cy="365760"/>
          </a:xfrm>
          <a:prstGeom prst="ellipse">
            <a:avLst/>
          </a:prstGeom>
          <a:solidFill>
            <a:srgbClr val="5B6199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8" name="Image 7" descr="/home/claude/agentic/icons/cr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5408676"/>
            <a:ext cx="201168" cy="20116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949440" y="51663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Помилка має неприйнятну ціну</a:t>
            </a:r>
            <a:endParaRPr lang="en-US" sz="1250" dirty="0"/>
          </a:p>
        </p:txBody>
      </p:sp>
      <p:sp>
        <p:nvSpPr>
          <p:cNvPr id="40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МЕЖІ ЗАСТОСУВАННЯ АГЕНТІВ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00" b="1" kern="0" spc="2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МЕНТАЛЬНА МОДЕЛЬ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CREW AI: команда спеціалістів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оркеструє агентів і tasks;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він не є окремою LLM.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011680" y="2926080"/>
            <a:ext cx="1920240" cy="0"/>
          </a:xfrm>
          <a:prstGeom prst="line">
            <a:avLst/>
          </a:prstGeom>
          <a:noFill/>
          <a:ln w="2540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188720" cy="1188720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agentic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" y="2640787"/>
            <a:ext cx="570586" cy="5705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657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120640" y="2926080"/>
            <a:ext cx="1920240" cy="0"/>
          </a:xfrm>
          <a:prstGeom prst="line">
            <a:avLst/>
          </a:prstGeom>
          <a:noFill/>
          <a:ln w="2540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3931920" y="2331720"/>
            <a:ext cx="1188720" cy="1188720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/home/claude/agentic/icons/magnif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987" y="2640787"/>
            <a:ext cx="570586" cy="5705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657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229600" y="2926080"/>
            <a:ext cx="1920240" cy="0"/>
          </a:xfrm>
          <a:prstGeom prst="line">
            <a:avLst/>
          </a:prstGeom>
          <a:noFill/>
          <a:ln w="2540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0"/>
          <p:cNvSpPr/>
          <p:nvPr/>
        </p:nvSpPr>
        <p:spPr>
          <a:xfrm>
            <a:off x="7040880" y="2331720"/>
            <a:ext cx="1188720" cy="1188720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2" descr="/home/claude/agentic/icons/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947" y="2640787"/>
            <a:ext cx="570586" cy="5705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6560" y="3657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10149840" y="2331720"/>
            <a:ext cx="1188720" cy="118872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3" descr="/home/claude/agentic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8907" y="2640787"/>
            <a:ext cx="570586" cy="57058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75520" y="3657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22960" y="3977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Ролі розділяють відповідальність та контекст, а не магічно збільшують інтелект.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526280"/>
          <a:ext cx="10515600" cy="172821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Сутність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D8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Відповідає на питання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D8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Основні поля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D8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2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Хто виконує роботу?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2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role, goal, backstory, llm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2E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830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саме потрібно зробити?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830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description, expected_output, agent, context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8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2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 координується робота?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2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agents, tasks, process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2E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— МЕНТАЛЬНА МОДЕЛЬ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СУТНОСТІ CREWAI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Agent, Task та Crew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92424" cy="4434840"/>
          </a:xfrm>
          <a:prstGeom prst="roundRect">
            <a:avLst>
              <a:gd name="adj" fmla="val 2426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947672" y="2194560"/>
            <a:ext cx="777240" cy="77724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agentic/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982" y="23888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08960"/>
            <a:ext cx="3392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19" y="3703320"/>
            <a:ext cx="2885487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спеціалізація агента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вимірюваний результат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backstory — контекст експертизи і стилю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мінімально необхідні tools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98264" y="1874520"/>
            <a:ext cx="3392424" cy="4434840"/>
          </a:xfrm>
          <a:prstGeom prst="roundRect">
            <a:avLst>
              <a:gd name="adj" fmla="val 2426"/>
            </a:avLst>
          </a:prstGeom>
          <a:solidFill>
            <a:srgbClr val="4FD8C4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5705856" y="2194560"/>
            <a:ext cx="777240" cy="77724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/home/claude/agentic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166" y="23888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98264" y="3108960"/>
            <a:ext cx="3392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718304" y="3703320"/>
            <a:ext cx="275234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— дія, дані, обмеження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expected_output — формат і деталізація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передані виходи попередніх tasks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хто відповідає за роботу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56448" y="1874520"/>
            <a:ext cx="3392424" cy="4434840"/>
          </a:xfrm>
          <a:prstGeom prst="roundRect">
            <a:avLst>
              <a:gd name="adj" fmla="val 2426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1"/>
          <p:cNvSpPr/>
          <p:nvPr/>
        </p:nvSpPr>
        <p:spPr>
          <a:xfrm>
            <a:off x="9464040" y="2194560"/>
            <a:ext cx="777240" cy="77724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/home/claude/agentic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8350" y="238887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56448" y="3108960"/>
            <a:ext cx="3392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Crew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476488" y="3703320"/>
            <a:ext cx="275234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Process.sequential — явний порядок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найпрозоріший старт для конвеєрів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ієрархічний процес: гнучкіше, менш передбачувано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TASK · CREW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PRODUCTION-АРХІТЕКТУРА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та інтелект у production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1508760"/>
          </a:xfrm>
          <a:prstGeom prst="roundRect">
            <a:avLst>
              <a:gd name="adj" fmla="val 5455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097280" y="2240280"/>
            <a:ext cx="960120" cy="960120"/>
          </a:xfrm>
          <a:prstGeom prst="ellipse">
            <a:avLst/>
          </a:prstGeom>
          <a:solidFill>
            <a:srgbClr val="8891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agentic/icons/c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10" y="2480310"/>
            <a:ext cx="480060" cy="480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21945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/ ЗВИЧАЙНИЙ КОД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0" y="24871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умови, ліміти, retry, guardrails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286000" y="2926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Детермінований Flow є «хребтом» системи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80760" y="3474720"/>
            <a:ext cx="0" cy="502920"/>
          </a:xfrm>
          <a:prstGeom prst="line">
            <a:avLst/>
          </a:prstGeom>
          <a:noFill/>
          <a:ln w="31750">
            <a:solidFill>
              <a:srgbClr val="4FD8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822959" y="4005072"/>
            <a:ext cx="10515600" cy="1508760"/>
          </a:xfrm>
          <a:prstGeom prst="roundRect">
            <a:avLst>
              <a:gd name="adj" fmla="val 5455"/>
            </a:avLst>
          </a:prstGeom>
          <a:solidFill>
            <a:srgbClr val="4FD8C4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1097279" y="4279392"/>
            <a:ext cx="960120" cy="96012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/home/claude/agentic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309" y="4519422"/>
            <a:ext cx="480060" cy="4800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85999" y="4233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/ АГЕНТИ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285999" y="4526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складне міркування, аналіз, творчість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285999" y="49651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викликається лише там, де потрібне судження або мовне розуміння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 структура там, де вона потрібна; інтелект там, де він доречний.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ТА ІНТЕЛЕКТ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ПАМ’ЯТЬ АГЕНТА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Пам’ять і контекст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92424" cy="2011680"/>
          </a:xfrm>
          <a:prstGeom prst="roundRect">
            <a:avLst>
              <a:gd name="adj" fmla="val 4091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970532" y="2148840"/>
            <a:ext cx="731520" cy="73152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agentic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412" y="2331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3392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Короткострокова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401568"/>
            <a:ext cx="2935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Деталі поточного запуску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98264" y="1874520"/>
            <a:ext cx="3392424" cy="2011680"/>
          </a:xfrm>
          <a:prstGeom prst="roundRect">
            <a:avLst>
              <a:gd name="adj" fmla="val 4091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5728716" y="2148840"/>
            <a:ext cx="731520" cy="73152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/home/claude/agentic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2331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98264" y="3017520"/>
            <a:ext cx="3392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Довгострокова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26864" y="3401568"/>
            <a:ext cx="2935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Дозволені знання між запусками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56448" y="1874520"/>
            <a:ext cx="3392424" cy="2011680"/>
          </a:xfrm>
          <a:prstGeom prst="roundRect">
            <a:avLst>
              <a:gd name="adj" fmla="val 4091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1"/>
          <p:cNvSpPr/>
          <p:nvPr/>
        </p:nvSpPr>
        <p:spPr>
          <a:xfrm>
            <a:off x="9486900" y="2148840"/>
            <a:ext cx="731520" cy="73152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/home/claude/agentic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0" y="23317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56448" y="3017520"/>
            <a:ext cx="3392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memory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85048" y="3401568"/>
            <a:ext cx="2935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 про сутності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141A45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5"/>
          <p:cNvSpPr/>
          <p:nvPr/>
        </p:nvSpPr>
        <p:spPr>
          <a:xfrm>
            <a:off x="868680" y="4343400"/>
            <a:ext cx="640080" cy="640080"/>
          </a:xfrm>
          <a:prstGeom prst="ellipse">
            <a:avLst/>
          </a:prstGeom>
          <a:solidFill>
            <a:srgbClr val="8891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3" descr="/home/claude/agentic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45034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34340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Пам’ять — не навчання; вона може містити помилки чи застарілі дані.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0080" y="54406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Потрібні: джерело · строк зберігання · ізоляція користувачів · можливість видалення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ПАМ’ЯТЬ І КОНТЕКСТ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АВТОНОМНІСТЬ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21458" cy="1965960"/>
          </a:xfrm>
          <a:prstGeom prst="roundRect">
            <a:avLst>
              <a:gd name="adj" fmla="val 4186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571625" y="2103120"/>
            <a:ext cx="658368" cy="658368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agentic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217" y="226771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07792"/>
            <a:ext cx="22471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пропонує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401568"/>
            <a:ext cx="2247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людина діє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61538" y="2834640"/>
            <a:ext cx="274320" cy="0"/>
          </a:xfrm>
          <a:prstGeom prst="line">
            <a:avLst/>
          </a:prstGeom>
          <a:noFill/>
          <a:ln w="1905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3435858" y="1874520"/>
            <a:ext cx="2521458" cy="1965960"/>
          </a:xfrm>
          <a:prstGeom prst="roundRect">
            <a:avLst>
              <a:gd name="adj" fmla="val 4186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4367403" y="2103120"/>
            <a:ext cx="658368" cy="658368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/home/claude/agentic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995" y="226771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3018" y="2907792"/>
            <a:ext cx="22471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готує tool call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73018" y="3401568"/>
            <a:ext cx="2247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людина підтверджує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57316" y="2834640"/>
            <a:ext cx="274320" cy="0"/>
          </a:xfrm>
          <a:prstGeom prst="line">
            <a:avLst/>
          </a:prstGeom>
          <a:noFill/>
          <a:ln w="1905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2"/>
          <p:cNvSpPr/>
          <p:nvPr/>
        </p:nvSpPr>
        <p:spPr>
          <a:xfrm>
            <a:off x="6231636" y="1874520"/>
            <a:ext cx="2521458" cy="1965960"/>
          </a:xfrm>
          <a:prstGeom prst="roundRect">
            <a:avLst>
              <a:gd name="adj" fmla="val 4186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3"/>
          <p:cNvSpPr/>
          <p:nvPr/>
        </p:nvSpPr>
        <p:spPr>
          <a:xfrm>
            <a:off x="7163181" y="2103120"/>
            <a:ext cx="658368" cy="658368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2" descr="/home/claude/agentic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773" y="226771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8796" y="2907792"/>
            <a:ext cx="22471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виконує сам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68796" y="3401568"/>
            <a:ext cx="2247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низькоризикові дії, ескалує винятки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753094" y="2834640"/>
            <a:ext cx="274320" cy="0"/>
          </a:xfrm>
          <a:prstGeom prst="line">
            <a:avLst/>
          </a:prstGeom>
          <a:noFill/>
          <a:ln w="1905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17"/>
          <p:cNvSpPr/>
          <p:nvPr/>
        </p:nvSpPr>
        <p:spPr>
          <a:xfrm>
            <a:off x="9027414" y="1874520"/>
            <a:ext cx="2521458" cy="1965960"/>
          </a:xfrm>
          <a:prstGeom prst="roundRect">
            <a:avLst>
              <a:gd name="adj" fmla="val 4186"/>
            </a:avLst>
          </a:prstGeom>
          <a:solidFill>
            <a:srgbClr val="4FD8C4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3" name="Shape 18"/>
          <p:cNvSpPr/>
          <p:nvPr/>
        </p:nvSpPr>
        <p:spPr>
          <a:xfrm>
            <a:off x="9958959" y="2103120"/>
            <a:ext cx="658368" cy="658368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4" name="Image 3" descr="/home/claude/agentic/icons/us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3551" y="2267712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64574" y="2907792"/>
            <a:ext cx="22471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Людина схвалює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164574" y="3401568"/>
            <a:ext cx="2247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платежі, публікації, видалення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Безпека: що має бути в кожному agentic-проєкті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1474927" y="4663440"/>
            <a:ext cx="512064" cy="512064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9" name="Image 4" descr="/home/claude/agentic/icons/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2943" y="4791456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5800" y="5257800"/>
            <a:ext cx="20903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API-ключі в secrets / env variables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656686" y="4663440"/>
            <a:ext cx="512064" cy="512064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2" name="Image 5" descr="/home/claude/agentic/icons/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4702" y="4791456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867558" y="5257800"/>
            <a:ext cx="20903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838444" y="4663440"/>
            <a:ext cx="512064" cy="512064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5" name="Image 6" descr="/home/claude/agentic/icons/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6460" y="4791456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049317" y="5257800"/>
            <a:ext cx="20903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Мінімізація та маскування PII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8020202" y="4663440"/>
            <a:ext cx="512064" cy="512064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8" name="Image 7" descr="/home/claude/agentic/icons/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8218" y="4791456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231075" y="5257800"/>
            <a:ext cx="20903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Ізоляція даних різних користувачів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10201961" y="4663440"/>
            <a:ext cx="512064" cy="512064"/>
          </a:xfrm>
          <a:prstGeom prst="ellipse">
            <a:avLst/>
          </a:prstGeom>
          <a:solidFill>
            <a:srgbClr val="242E73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1" name="Image 8" descr="/home/claude/agentic/icons/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9977" y="4791456"/>
            <a:ext cx="256032" cy="256032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412834" y="5257800"/>
            <a:ext cx="20903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 без витоку секретів</a:t>
            </a:r>
            <a:endParaRPr lang="en-US" sz="1050" dirty="0"/>
          </a:p>
        </p:txBody>
      </p:sp>
      <p:sp>
        <p:nvSpPr>
          <p:cNvPr id="43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БЕЗПЕКА ДАНИХ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injection: даним не можна довіряти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08792" cy="1600200"/>
          </a:xfrm>
          <a:prstGeom prst="roundRect">
            <a:avLst>
              <a:gd name="adj" fmla="val 5143"/>
            </a:avLst>
          </a:prstGeom>
          <a:solidFill>
            <a:srgbClr val="3A1F2E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960120" cy="960120"/>
          </a:xfrm>
          <a:prstGeom prst="ellipse">
            <a:avLst/>
          </a:prstGeom>
          <a:solidFill>
            <a:srgbClr val="C0435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agentic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2388870"/>
            <a:ext cx="480060" cy="480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084832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НЕДОВІРЕНІ ДЖЕРЕЛА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103120" y="2377440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Веб-сторінки, PDF, email, файли користувачів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03120" y="283464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Вони можуть містити текст, який імітує системну команду.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794760"/>
            <a:ext cx="5257800" cy="2194560"/>
          </a:xfrm>
          <a:prstGeom prst="roundRect">
            <a:avLst>
              <a:gd name="adj" fmla="val 3750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2857500" y="4069080"/>
            <a:ext cx="822960" cy="82296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/home/claude/agentic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42748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50292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Довірені інструкції треба відокремлювати від даних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17920" y="3794760"/>
            <a:ext cx="5257800" cy="2194560"/>
          </a:xfrm>
          <a:prstGeom prst="roundRect">
            <a:avLst>
              <a:gd name="adj" fmla="val 3750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1"/>
          <p:cNvSpPr/>
          <p:nvPr/>
        </p:nvSpPr>
        <p:spPr>
          <a:xfrm>
            <a:off x="8435340" y="4069080"/>
            <a:ext cx="822960" cy="82296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/home/claude/agentic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42748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50292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Ризикові дії має валідувати host-застосунок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ВІДПОВІДАЛЬНА РОЗРОБКА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ADLC: як розробляти агентів відповідально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A8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95044" y="2697480"/>
            <a:ext cx="777240" cy="77724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agentic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354" y="289179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Середовища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4343400"/>
            <a:ext cx="20299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→ staging → production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27248" y="3749040"/>
            <a:ext cx="320040" cy="0"/>
          </a:xfrm>
          <a:prstGeom prst="line">
            <a:avLst/>
          </a:prstGeom>
          <a:noFill/>
          <a:ln w="1905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3447288" y="196596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3630168" y="2103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A8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02252" y="2697480"/>
            <a:ext cx="777240" cy="77724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1" descr="/home/claude/agentic/icon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562" y="2891790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30168" y="3703320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Версіонування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675888" y="4343400"/>
            <a:ext cx="20299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код, prompts, моделі, tools, конфігурації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934456" y="3749040"/>
            <a:ext cx="320040" cy="0"/>
          </a:xfrm>
          <a:prstGeom prst="line">
            <a:avLst/>
          </a:prstGeom>
          <a:noFill/>
          <a:ln w="1905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4"/>
          <p:cNvSpPr/>
          <p:nvPr/>
        </p:nvSpPr>
        <p:spPr>
          <a:xfrm>
            <a:off x="6254496" y="196596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Text 15"/>
          <p:cNvSpPr/>
          <p:nvPr/>
        </p:nvSpPr>
        <p:spPr>
          <a:xfrm>
            <a:off x="6437376" y="2103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A8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7109460" y="2697480"/>
            <a:ext cx="777240" cy="77724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2" descr="/home/claude/agentic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770" y="2891790"/>
            <a:ext cx="388620" cy="3886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37376" y="3703320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483096" y="4343400"/>
            <a:ext cx="20299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тестові кейси та метрики якості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741664" y="3749040"/>
            <a:ext cx="320040" cy="0"/>
          </a:xfrm>
          <a:prstGeom prst="line">
            <a:avLst/>
          </a:prstGeom>
          <a:noFill/>
          <a:ln w="19050">
            <a:solidFill>
              <a:srgbClr val="8891C4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0"/>
          <p:cNvSpPr/>
          <p:nvPr/>
        </p:nvSpPr>
        <p:spPr>
          <a:xfrm>
            <a:off x="9061704" y="196596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242E73"/>
          </a:solidFill>
          <a:ln/>
          <a:effectLst>
            <a:outerShdw blurRad="101600" dist="38100" dir="5400000" algn="bl" rotWithShape="0">
              <a:srgbClr val="0A0E2E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Text 21"/>
          <p:cNvSpPr/>
          <p:nvPr/>
        </p:nvSpPr>
        <p:spPr>
          <a:xfrm>
            <a:off x="9244584" y="2103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A8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9916668" y="2697480"/>
            <a:ext cx="777240" cy="77724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8" name="Image 3" descr="/home/claude/agentic/icons/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0978" y="2891790"/>
            <a:ext cx="388620" cy="3886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44584" y="3703320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 rollback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290304" y="4343400"/>
            <a:ext cx="20299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workflow, audit trail, rollback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ADLC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1E2761">
              <a:alpha val="59216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варто запам’ятати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agentic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48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генерує; tool дає контрольовану дію; agent обирає кроки до цілі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1" descr="/home/claude/agentic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089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9260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не означає автоматично правильно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2" descr="/home/claude/agentic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690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8862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дає зрозумілу модель для агентів і tasks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22960" y="4892040"/>
            <a:ext cx="548640" cy="54864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3" descr="/home/claude/agentic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02920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00200" y="484632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Технічні обмеження, перевірка та людський контроль — частина архітектури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999</Words>
  <Application>Microsoft Macintosh PowerPoint</Application>
  <PresentationFormat>Widescreen</PresentationFormat>
  <Paragraphs>242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Штефан Дмитро</cp:lastModifiedBy>
  <cp:revision>2</cp:revision>
  <dcterms:created xsi:type="dcterms:W3CDTF">2026-07-12T19:48:09Z</dcterms:created>
  <dcterms:modified xsi:type="dcterms:W3CDTF">2026-07-12T20:15:41Z</dcterms:modified>
</cp:coreProperties>
</file>