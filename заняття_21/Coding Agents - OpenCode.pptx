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94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18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8778240" y="841248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8778240" y="1133856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778240" y="1426464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070848" y="548640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9070848" y="841248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9070848" y="1133856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9070848" y="1426464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9363456" y="548640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9363456" y="841248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9363456" y="1133856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9363456" y="1426464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9656064" y="548640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9656064" y="841248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9656064" y="1133856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9656064" y="1426464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9948672" y="548640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9948672" y="841248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9948672" y="1133856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9948672" y="1426464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10241280" y="548640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10241280" y="841248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10241280" y="1133856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10241280" y="1426464"/>
            <a:ext cx="41148" cy="41148"/>
          </a:xfrm>
          <a:prstGeom prst="ellipse">
            <a:avLst/>
          </a:prstGeom>
          <a:solidFill>
            <a:srgbClr val="2C34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kern="0" spc="200" dirty="0">
                <a:solidFill>
                  <a:srgbClr val="2ED9A0"/>
                </a:solidFill>
                <a:latin typeface="Consolas" pitchFamily="34" charset="0"/>
                <a:cs typeface="Consolas" pitchFamily="34" charset="-120"/>
              </a:rPr>
              <a:t>СТВОРЕННЯ АІ ДОДАТКІВ З ВИКОРИСТАННЯМ </a:t>
            </a:r>
            <a:r>
              <a:rPr lang="en-US" sz="1300" b="1" kern="0" spc="200" dirty="0">
                <a:solidFill>
                  <a:srgbClr val="2ED9A0"/>
                </a:solidFill>
                <a:latin typeface="Consolas" pitchFamily="34" charset="0"/>
                <a:cs typeface="Consolas" pitchFamily="34" charset="-120"/>
              </a:rPr>
              <a:t>PYTHON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18288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Agents &amp; OpenCode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822960" y="3063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влаштовані термінальні AI-агенти для розробки: OpenCode, Claude Code, Codex та Antigravity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" y="3977640"/>
            <a:ext cx="5852160" cy="2148840"/>
          </a:xfrm>
          <a:prstGeom prst="roundRect">
            <a:avLst>
              <a:gd name="adj" fmla="val 3404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822960" y="3977640"/>
            <a:ext cx="5852160" cy="329184"/>
          </a:xfrm>
          <a:prstGeom prst="roundRect">
            <a:avLst>
              <a:gd name="adj" fmla="val 22222"/>
            </a:avLst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822960" y="4142232"/>
            <a:ext cx="5852160" cy="164592"/>
          </a:xfrm>
          <a:prstGeom prst="rect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950976" y="409651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1133856" y="4096512"/>
            <a:ext cx="91440" cy="9144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1316736" y="4096512"/>
            <a:ext cx="91440" cy="91440"/>
          </a:xfrm>
          <a:prstGeom prst="ellipse">
            <a:avLst/>
          </a:prstGeom>
          <a:solidFill>
            <a:srgbClr val="5B657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1463040" y="397764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~/project — opencode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1560" y="44439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4754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v1.4  •  build agent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50657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r>
              <a:rPr lang="en-US" sz="120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Проаналізуй проєкт і онови README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51560" y="53766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Читаю файли… знайдено 42 модулі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51560" y="56875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 оновлено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95160" y="3977640"/>
            <a:ext cx="4370832" cy="2148840"/>
          </a:xfrm>
          <a:prstGeom prst="roundRect">
            <a:avLst>
              <a:gd name="adj" fmla="val 3404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1"/>
          <p:cNvSpPr/>
          <p:nvPr/>
        </p:nvSpPr>
        <p:spPr>
          <a:xfrm>
            <a:off x="736092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950976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7498080" y="5833872"/>
            <a:ext cx="1200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9576054" y="58041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pic>
        <p:nvPicPr>
          <p:cNvPr id="55" name="Picture 54" descr="Clip Videos from Claude Code — Vugola MCP">
            <a:extLst>
              <a:ext uri="{FF2B5EF4-FFF2-40B4-BE49-F238E27FC236}">
                <a16:creationId xmlns:a16="http://schemas.microsoft.com/office/drawing/2014/main" id="{3BA49544-A623-8F79-2620-C6F25DDA6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420" y="4306824"/>
            <a:ext cx="457652" cy="457652"/>
          </a:xfrm>
          <a:prstGeom prst="rect">
            <a:avLst/>
          </a:prstGeom>
        </p:spPr>
      </p:pic>
      <p:pic>
        <p:nvPicPr>
          <p:cNvPr id="56" name="Picture 55" descr="Codex (Beta) — бесплатно скачайте и установите в Windows | Microsoft Store">
            <a:extLst>
              <a:ext uri="{FF2B5EF4-FFF2-40B4-BE49-F238E27FC236}">
                <a16:creationId xmlns:a16="http://schemas.microsoft.com/office/drawing/2014/main" id="{3A8931C0-9EA2-BC8C-6CA1-1F358B9302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68" t="17367" r="18087" b="18615"/>
          <a:stretch>
            <a:fillRect/>
          </a:stretch>
        </p:blipFill>
        <p:spPr>
          <a:xfrm>
            <a:off x="7498080" y="5296140"/>
            <a:ext cx="519667" cy="519444"/>
          </a:xfrm>
          <a:prstGeom prst="rect">
            <a:avLst/>
          </a:prstGeom>
        </p:spPr>
      </p:pic>
      <p:pic>
        <p:nvPicPr>
          <p:cNvPr id="57" name="Picture 56" descr="Google Antigravity · GitHub">
            <a:extLst>
              <a:ext uri="{FF2B5EF4-FFF2-40B4-BE49-F238E27FC236}">
                <a16:creationId xmlns:a16="http://schemas.microsoft.com/office/drawing/2014/main" id="{BADDBD14-6632-84D1-C66A-666B5546C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777" y="5210782"/>
            <a:ext cx="631651" cy="631651"/>
          </a:xfrm>
          <a:prstGeom prst="rect">
            <a:avLst/>
          </a:prstGeom>
        </p:spPr>
      </p:pic>
      <p:pic>
        <p:nvPicPr>
          <p:cNvPr id="58" name="Picture 57" descr="OpenCode App for macOS | Applivery">
            <a:extLst>
              <a:ext uri="{FF2B5EF4-FFF2-40B4-BE49-F238E27FC236}">
                <a16:creationId xmlns:a16="http://schemas.microsoft.com/office/drawing/2014/main" id="{CB881FD8-9FC3-84EF-E9E9-6A728B9F4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499" y="4214006"/>
            <a:ext cx="656827" cy="656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coding agent?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— це AI-система, яка самостійно читає репозиторій, редагує файли, виконує команди в терміналі та перевіряє результат — у циклі, без постійного мікроменеджменту від людини.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3440" y="3520441"/>
            <a:ext cx="502920" cy="50292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icons/filetext_141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99" y="3651200"/>
            <a:ext cx="241402" cy="241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02080" y="3776473"/>
            <a:ext cx="868680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2316480" y="3520441"/>
            <a:ext cx="502920" cy="50292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1" descr="icons/command_1417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239" y="3651200"/>
            <a:ext cx="241402" cy="2414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65120" y="3776473"/>
            <a:ext cx="868680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7"/>
          <p:cNvSpPr/>
          <p:nvPr/>
        </p:nvSpPr>
        <p:spPr>
          <a:xfrm>
            <a:off x="3779520" y="3520441"/>
            <a:ext cx="502920" cy="50292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2" descr="icons/terminal_1417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0279" y="3651200"/>
            <a:ext cx="241402" cy="24140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28160" y="3776473"/>
            <a:ext cx="868680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9"/>
          <p:cNvSpPr/>
          <p:nvPr/>
        </p:nvSpPr>
        <p:spPr>
          <a:xfrm>
            <a:off x="5242560" y="3520441"/>
            <a:ext cx="502920" cy="50292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3" descr="icons/check_1417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3319" y="3651200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9120" y="4142233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Читає контекст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79120" y="4434841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Аналізує код, файли конфігурації, AGENTS.md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2042160" y="4142233"/>
            <a:ext cx="1295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Планує дії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2042160" y="4434841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Розбиває задачу на кроки та інструменти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3505200" y="4142233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Виконує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3505200" y="4434841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Редагує файли, запускає shell-команди, тести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968240" y="4142233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Перевіряє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968240" y="4434841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Аналізує результат і виправляє помилки сам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903720" y="1783080"/>
            <a:ext cx="4709160" cy="4297680"/>
          </a:xfrm>
          <a:prstGeom prst="roundRect">
            <a:avLst>
              <a:gd name="adj" fmla="val 1702"/>
            </a:avLst>
          </a:prstGeom>
          <a:solidFill>
            <a:srgbClr val="14171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19"/>
          <p:cNvSpPr/>
          <p:nvPr/>
        </p:nvSpPr>
        <p:spPr>
          <a:xfrm>
            <a:off x="7223760" y="20116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Чим агент відрізняється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автодоповнення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223760" y="288036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›"/>
            </a:pPr>
            <a:r>
              <a:rPr lang="en-US" sz="16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Автономність: сам вирішує, які інструменти й файли потрібні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›"/>
            </a:pPr>
            <a:r>
              <a:rPr lang="en-US" sz="16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дій: план → виконання → перевірка → повтор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›"/>
            </a:pPr>
            <a:r>
              <a:rPr lang="en-US" sz="16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Пам'ять проєкту: AGENTS.md, конфігурація, історія сесії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›"/>
            </a:pPr>
            <a:r>
              <a:rPr lang="en-US" sz="16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Термінал як інтерфейс: git, тести, білд — без переключення вікон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OpenCode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Відкритий термінальний AI-агент для розробки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open source coding agent, побудований для терміналу (TUI + CLI), із додатковими desktop- та веб-інтерфейсами. Головна ідея — model-agnostic: одна оболонка, будь-яка LLM.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icons/globe_141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3192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провайдерів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70432" y="3429000"/>
            <a:ext cx="5413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OpenAI, Google, AWS Bedrock, OpenRouter, локальні моделі через Ollama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822192"/>
            <a:ext cx="457200" cy="45720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icons/terminal_1417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4106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38039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 на Bubble Tea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70432" y="4050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Швидкий, зручний інтерфейс прямо в терміналі, є й desktop-додаток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443984"/>
            <a:ext cx="457200" cy="45720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icons/box_1417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56285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44256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SQLite-сесії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70432" y="46725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 розмов та сесій зберігається локально, дані належать вам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5065776"/>
            <a:ext cx="457200" cy="45720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9" name="Image 3" descr="icons/layers_1417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18464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70432" y="50474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LSP-інтеграція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70432" y="52943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Розуміння коду через Language Server Protocol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903720" y="1783080"/>
            <a:ext cx="4709160" cy="4297680"/>
          </a:xfrm>
          <a:prstGeom prst="roundRect">
            <a:avLst>
              <a:gd name="adj" fmla="val 1702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 dirty="0"/>
          </a:p>
        </p:txBody>
      </p:sp>
      <p:sp>
        <p:nvSpPr>
          <p:cNvPr id="23" name="Shape 17"/>
          <p:cNvSpPr/>
          <p:nvPr/>
        </p:nvSpPr>
        <p:spPr>
          <a:xfrm>
            <a:off x="6903720" y="1783080"/>
            <a:ext cx="4709160" cy="329184"/>
          </a:xfrm>
          <a:prstGeom prst="roundRect">
            <a:avLst>
              <a:gd name="adj" fmla="val 22222"/>
            </a:avLst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18"/>
          <p:cNvSpPr/>
          <p:nvPr/>
        </p:nvSpPr>
        <p:spPr>
          <a:xfrm>
            <a:off x="6903720" y="1947672"/>
            <a:ext cx="4709160" cy="164592"/>
          </a:xfrm>
          <a:prstGeom prst="rect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19"/>
          <p:cNvSpPr/>
          <p:nvPr/>
        </p:nvSpPr>
        <p:spPr>
          <a:xfrm>
            <a:off x="7031736" y="190195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0"/>
          <p:cNvSpPr/>
          <p:nvPr/>
        </p:nvSpPr>
        <p:spPr>
          <a:xfrm>
            <a:off x="7214616" y="1901952"/>
            <a:ext cx="91440" cy="9144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Shape 21"/>
          <p:cNvSpPr/>
          <p:nvPr/>
        </p:nvSpPr>
        <p:spPr>
          <a:xfrm>
            <a:off x="7397496" y="1901952"/>
            <a:ext cx="91440" cy="91440"/>
          </a:xfrm>
          <a:prstGeom prst="ellipse">
            <a:avLst/>
          </a:prstGeom>
          <a:solidFill>
            <a:srgbClr val="5B657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22"/>
          <p:cNvSpPr/>
          <p:nvPr/>
        </p:nvSpPr>
        <p:spPr>
          <a:xfrm>
            <a:off x="7543800" y="178308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--stats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223760" y="238658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160K+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7223760" y="28895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зірок на GitHub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223760" y="33924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7.5M+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7223760" y="38953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розробників щомісяця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7223760" y="439826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75+</a:t>
            </a:r>
            <a:endParaRPr lang="en-US" sz="3000" dirty="0"/>
          </a:p>
        </p:txBody>
      </p:sp>
      <p:sp>
        <p:nvSpPr>
          <p:cNvPr id="34" name="Text 28"/>
          <p:cNvSpPr/>
          <p:nvPr/>
        </p:nvSpPr>
        <p:spPr>
          <a:xfrm>
            <a:off x="7223760" y="4901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провайдерів моделей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223760" y="55869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Наступник команди SST — тепер Anomaly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НАЛАШТУВАННЯ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Конфігурація: найкорисніше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opencode.json — головний файл налаштувань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035040" cy="329184"/>
          </a:xfrm>
          <a:prstGeom prst="roundRect">
            <a:avLst>
              <a:gd name="adj" fmla="val 22222"/>
            </a:avLst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6035040" cy="164592"/>
          </a:xfrm>
          <a:prstGeom prst="rect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676656" y="194767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859536" y="1947672"/>
            <a:ext cx="91440" cy="9144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042416" y="1947672"/>
            <a:ext cx="91440" cy="91440"/>
          </a:xfrm>
          <a:prstGeom prst="ellipse">
            <a:avLst/>
          </a:prstGeom>
          <a:solidFill>
            <a:srgbClr val="5B657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opencode.json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3865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7523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"$schema"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"https://opencode.ai/config.json"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1181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"anthropic/claude-sonnet-4-6"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4838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"default_agent"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84962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"theme"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"opencode"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2153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"edit"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5811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"share"</a:t>
            </a: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"manual"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9469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03720" y="1874520"/>
            <a:ext cx="438912" cy="438912"/>
          </a:xfrm>
          <a:prstGeom prst="ellipse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0" descr="icons/settings_2ED9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837" y="1988637"/>
            <a:ext cx="210678" cy="21067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0" y="18470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/ model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98080" y="199796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і модель за замовчуванням для всіх інтерфейсів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03720" y="2926080"/>
            <a:ext cx="438912" cy="438912"/>
          </a:xfrm>
          <a:prstGeom prst="ellipse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1" descr="icons/shield_2ED9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837" y="3040197"/>
            <a:ext cx="210678" cy="21067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0" y="28986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498080" y="30540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Дозволи на edit / bash / webfetch: allow, ask, deny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903720" y="3977640"/>
            <a:ext cx="438912" cy="438912"/>
          </a:xfrm>
          <a:prstGeom prst="ellipse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9" name="Image 2" descr="icons/users_2ED9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837" y="4091757"/>
            <a:ext cx="210678" cy="21067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498080" y="39502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default_agent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7498080" y="4112589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Який агент (build / plan / свій) активний за замовчуванням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903720" y="5029200"/>
            <a:ext cx="438912" cy="438912"/>
          </a:xfrm>
          <a:prstGeom prst="ellipse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3" name="Image 3" descr="icons/sliders_2ED9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837" y="5143317"/>
            <a:ext cx="210678" cy="21067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98080" y="5001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theme, keybinds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498080" y="51480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оформлення TUI та власні сполучення клавіш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903720" y="597103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Ієрархія: глобальний config → .opencode/ у проєкті → кастомна директорія (перекриває решту)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ПРОВАЙДЕРИ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Підключення моделі через OpenRouter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API-ключ — доступ до сотень моделей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783080" cy="2395728"/>
          </a:xfrm>
          <a:prstGeom prst="roundRect">
            <a:avLst>
              <a:gd name="adj" fmla="val 4103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Отримати ключ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063239"/>
            <a:ext cx="1508760" cy="1086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Зареєструватись на openrouter.ai, поповнити баланс і скопіювати API-ключ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1874519"/>
            <a:ext cx="1783080" cy="2395727"/>
          </a:xfrm>
          <a:prstGeom prst="roundRect">
            <a:avLst>
              <a:gd name="adj" fmla="val 4103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2697480" y="2057400"/>
            <a:ext cx="457200" cy="457200"/>
          </a:xfrm>
          <a:prstGeom prst="ellipse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9"/>
          <p:cNvSpPr/>
          <p:nvPr/>
        </p:nvSpPr>
        <p:spPr>
          <a:xfrm>
            <a:off x="2651760" y="2606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Команда /connect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51760" y="3063240"/>
            <a:ext cx="1508760" cy="1086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TUI: /connect → обрати OpenRouter → вставити ключ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1874520"/>
            <a:ext cx="1783080" cy="2395726"/>
          </a:xfrm>
          <a:prstGeom prst="roundRect">
            <a:avLst>
              <a:gd name="adj" fmla="val 4103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4663440" y="2057400"/>
            <a:ext cx="457200" cy="457200"/>
          </a:xfrm>
          <a:prstGeom prst="ellipse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3"/>
          <p:cNvSpPr/>
          <p:nvPr/>
        </p:nvSpPr>
        <p:spPr>
          <a:xfrm>
            <a:off x="4617720" y="2606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Обрати модель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617720" y="3063240"/>
            <a:ext cx="1508760" cy="1086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/models — обрати будь-яку з переліку провайдера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537960" y="1874520"/>
            <a:ext cx="4846320" cy="3666744"/>
          </a:xfrm>
          <a:prstGeom prst="roundRect">
            <a:avLst>
              <a:gd name="adj" fmla="val 2500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6537960" y="1874520"/>
            <a:ext cx="4846320" cy="329184"/>
          </a:xfrm>
          <a:prstGeom prst="roundRect">
            <a:avLst>
              <a:gd name="adj" fmla="val 22222"/>
            </a:avLst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7"/>
          <p:cNvSpPr/>
          <p:nvPr/>
        </p:nvSpPr>
        <p:spPr>
          <a:xfrm>
            <a:off x="6537960" y="2039112"/>
            <a:ext cx="4846320" cy="164592"/>
          </a:xfrm>
          <a:prstGeom prst="rect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18"/>
          <p:cNvSpPr/>
          <p:nvPr/>
        </p:nvSpPr>
        <p:spPr>
          <a:xfrm>
            <a:off x="6665976" y="199339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19"/>
          <p:cNvSpPr/>
          <p:nvPr/>
        </p:nvSpPr>
        <p:spPr>
          <a:xfrm>
            <a:off x="6848856" y="1993392"/>
            <a:ext cx="91440" cy="9144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0"/>
          <p:cNvSpPr/>
          <p:nvPr/>
        </p:nvSpPr>
        <p:spPr>
          <a:xfrm>
            <a:off x="7031736" y="1993392"/>
            <a:ext cx="91440" cy="91440"/>
          </a:xfrm>
          <a:prstGeom prst="ellipse">
            <a:avLst/>
          </a:prstGeom>
          <a:solidFill>
            <a:srgbClr val="5B657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1"/>
          <p:cNvSpPr/>
          <p:nvPr/>
        </p:nvSpPr>
        <p:spPr>
          <a:xfrm>
            <a:off x="7178040" y="18745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opencode.json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766560" y="2432304"/>
            <a:ext cx="4389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766560" y="2738628"/>
            <a:ext cx="4389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"provider"</a:t>
            </a: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766560" y="3044952"/>
            <a:ext cx="4389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"openrouter"</a:t>
            </a: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766560" y="3351276"/>
            <a:ext cx="4389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"models"</a:t>
            </a: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766560" y="3657600"/>
            <a:ext cx="4389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"anthropic/claude-sonnet"</a:t>
            </a: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{}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766560" y="3963924"/>
            <a:ext cx="4389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766560" y="4270248"/>
            <a:ext cx="4389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766560" y="4576572"/>
            <a:ext cx="4389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766560" y="4882896"/>
            <a:ext cx="4389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548640" y="4882896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2"/>
          <p:cNvSpPr/>
          <p:nvPr/>
        </p:nvSpPr>
        <p:spPr>
          <a:xfrm>
            <a:off x="777240" y="5020056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Переваги: </a:t>
            </a:r>
            <a:r>
              <a:rPr lang="en-US" sz="14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білінг, автоперемикання при недоступності провайдера, </a:t>
            </a:r>
            <a:r>
              <a:rPr lang="uk-UA" sz="14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наявність безкоштовних моделей.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pic>
        <p:nvPicPr>
          <p:cNvPr id="39" name="Image 0" descr="icons/tool_terracotta.png">
            <a:extLst>
              <a:ext uri="{FF2B5EF4-FFF2-40B4-BE49-F238E27FC236}">
                <a16:creationId xmlns:a16="http://schemas.microsoft.com/office/drawing/2014/main" id="{E91F8D34-4C42-9EB8-6140-3362ABB7CBF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52106" y="2177986"/>
            <a:ext cx="216027" cy="216027"/>
          </a:xfrm>
          <a:prstGeom prst="rect">
            <a:avLst/>
          </a:prstGeom>
        </p:spPr>
      </p:pic>
      <p:pic>
        <p:nvPicPr>
          <p:cNvPr id="40" name="Image 3" descr="icons/link_terracotta.png">
            <a:extLst>
              <a:ext uri="{FF2B5EF4-FFF2-40B4-BE49-F238E27FC236}">
                <a16:creationId xmlns:a16="http://schemas.microsoft.com/office/drawing/2014/main" id="{6C20CCE4-65D7-57D5-FE9E-4792B7E0E02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820797" y="2173560"/>
            <a:ext cx="212598" cy="212598"/>
          </a:xfrm>
          <a:prstGeom prst="rect">
            <a:avLst/>
          </a:prstGeom>
        </p:spPr>
      </p:pic>
      <p:pic>
        <p:nvPicPr>
          <p:cNvPr id="42" name="Image 3" descr="icons/database_terracotta.png">
            <a:extLst>
              <a:ext uri="{FF2B5EF4-FFF2-40B4-BE49-F238E27FC236}">
                <a16:creationId xmlns:a16="http://schemas.microsoft.com/office/drawing/2014/main" id="{6D7ED43E-68B7-1CFC-3FB2-557D552747C0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4763494" y="2159792"/>
            <a:ext cx="254317" cy="2543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ІНТЕРФЕЙС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TUI: команди та керування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Слеш-команди та клавіатурні скорочення в терміналі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Слеш-команди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22860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репо, генерація AGENTS.md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48640" y="2907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/connect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290779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Підключити провайдера моделі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48640" y="35295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3529584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модель зі списку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08576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41513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/share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4151376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Поділитись сесією посиланням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230368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48640" y="4773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/undo · /redo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477316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Скасувати або повторити зміну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036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команд і скорочень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1828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CLI-команди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2743200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17220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run "…"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22860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Неінтерактивний запуск (автоматизація)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364992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6172200" y="2907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auth login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290779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Налаштувати облікові дані провайдера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3986784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6172200" y="35295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serve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3529584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HTTP-сервер (OpenAPI)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4608576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6172200" y="41513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session list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4151376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усіх сесій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5230368"/>
            <a:ext cx="5303520" cy="4572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6172200" y="4773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stats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03920" y="477316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токенів і вартості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Leader-клавіша </a:t>
            </a:r>
            <a:r>
              <a:rPr lang="en-US" sz="14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(типово ctrl+x) — більшість скорочень працюють як «Leader + клавіша», щоб не конфліктувати з терміналом.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КОНТЕКСТ ПРОЄКТУ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AGENTS.md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файл-інструкція для будь-якого агента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— відкритий стандарт: markdown-файл у корені репозиторію з описом структури проєкту, конвенцій коду, команд збірки й тестування. Його розуміють OpenCode, Claude Code, Codex та інші агенти — один файл замість окремих інструкцій для кожного інструмента.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438912" cy="438912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icons/zap_141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543117"/>
            <a:ext cx="210678" cy="2106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410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Генерується автоматично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3000" y="36850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/init аналізує репозиторій і створює перший чернетковий варіант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438912" cy="438912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icons/gitbranch_1417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4228917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4096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Комітиться в Git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43000" y="43708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— частина проєкту, спільна пам'ять для всієї команди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438912" cy="438912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icons/layers_1417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7" y="4914717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47823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Каскадність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43000" y="50566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мати кілька AGENTS.md у під-директоріях — ближчий файл має пріоритет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66560" y="178308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4"/>
          <p:cNvSpPr/>
          <p:nvPr/>
        </p:nvSpPr>
        <p:spPr>
          <a:xfrm>
            <a:off x="6766560" y="1783080"/>
            <a:ext cx="4846320" cy="329184"/>
          </a:xfrm>
          <a:prstGeom prst="roundRect">
            <a:avLst>
              <a:gd name="adj" fmla="val 22222"/>
            </a:avLst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6766560" y="1947672"/>
            <a:ext cx="4846320" cy="164592"/>
          </a:xfrm>
          <a:prstGeom prst="rect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6894576" y="190195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7"/>
          <p:cNvSpPr/>
          <p:nvPr/>
        </p:nvSpPr>
        <p:spPr>
          <a:xfrm>
            <a:off x="7077456" y="1901952"/>
            <a:ext cx="91440" cy="9144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18"/>
          <p:cNvSpPr/>
          <p:nvPr/>
        </p:nvSpPr>
        <p:spPr>
          <a:xfrm>
            <a:off x="7260336" y="1901952"/>
            <a:ext cx="91440" cy="91440"/>
          </a:xfrm>
          <a:prstGeom prst="ellipse">
            <a:avLst/>
          </a:prstGeom>
          <a:solidFill>
            <a:srgbClr val="5B657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19"/>
          <p:cNvSpPr/>
          <p:nvPr/>
        </p:nvSpPr>
        <p:spPr>
          <a:xfrm>
            <a:off x="7406640" y="17830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995160" y="234086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Agents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995160" y="26334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995160" y="29260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Stack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995160" y="321868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FastAPI, React, PostgreSQL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995160" y="351129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995160" y="38039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Commands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995160" y="409651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pytest -q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995160" y="43891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lint: ruff check .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995160" y="46817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995160" y="497433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995160" y="52669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type hints обов'язкові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995160" y="55595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commit style: conventional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АВТОМАТИЗАЦІЯ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Commands: власні команди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Перевикористовувані промпти-шаблони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— це збережені шаблони запитів, які запускаються слеш-командою. Замість повторення однакового промпту вручну — одна команда з параметрами.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icons/chevrons_141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071652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Глобально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68880" y="2944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~/.config/opencode/command/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icons/chevrons_141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638580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35112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проєкті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68880" y="35112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.opencode/command/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05656"/>
            <a:ext cx="384048" cy="384048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icons/chevrons_141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205508"/>
            <a:ext cx="184343" cy="184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407822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конфізі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468880" y="407822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"commands": { "test": {…} }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537960" y="178308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4"/>
          <p:cNvSpPr/>
          <p:nvPr/>
        </p:nvSpPr>
        <p:spPr>
          <a:xfrm>
            <a:off x="6537960" y="1783080"/>
            <a:ext cx="5074920" cy="329184"/>
          </a:xfrm>
          <a:prstGeom prst="roundRect">
            <a:avLst>
              <a:gd name="adj" fmla="val 22222"/>
            </a:avLst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6537960" y="1947672"/>
            <a:ext cx="5074920" cy="164592"/>
          </a:xfrm>
          <a:prstGeom prst="rect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6665976" y="190195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7"/>
          <p:cNvSpPr/>
          <p:nvPr/>
        </p:nvSpPr>
        <p:spPr>
          <a:xfrm>
            <a:off x="6848856" y="1901952"/>
            <a:ext cx="91440" cy="9144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18"/>
          <p:cNvSpPr/>
          <p:nvPr/>
        </p:nvSpPr>
        <p:spPr>
          <a:xfrm>
            <a:off x="7031736" y="1901952"/>
            <a:ext cx="91440" cy="91440"/>
          </a:xfrm>
          <a:prstGeom prst="ellipse">
            <a:avLst/>
          </a:prstGeom>
          <a:solidFill>
            <a:srgbClr val="5B657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19"/>
          <p:cNvSpPr/>
          <p:nvPr/>
        </p:nvSpPr>
        <p:spPr>
          <a:xfrm>
            <a:off x="7178040" y="178308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.opencode/command/test.md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766560" y="234086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766560" y="267004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Запустити тести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766560" y="299923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build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766560" y="332841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766560" y="365760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Запусти $ARGUMENTS,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766560" y="398678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проаналізуй помилки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6766560" y="431596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та запропонуй фікс.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766560" y="464515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6766560" y="497433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/test unit/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ЗНАННЯ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Skills: підвантажувані навички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— стандарт, спільний для OpenCode, Claude Code, Codex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папка з файлом SKILL.md: назва, опис і покрокові інструкції. Агент бачить лише короткий опис у списку доступних навичок, а повний вміст підвантажує тільки тоді, коли він справді потрібен — це економить контекст.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402336" cy="402336"/>
          </a:xfrm>
          <a:prstGeom prst="ellipse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icons/book_2ED9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3533607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10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.opencode/skills/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97280" y="36667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Проєктний рівень (найвищий пріоритет)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4050792"/>
            <a:ext cx="402336" cy="402336"/>
          </a:xfrm>
          <a:prstGeom prst="ellipse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icons/book_2ED9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4155399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0325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~/.config/opencode/skills/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097280" y="42885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Глобальний рівень для всіх проєктів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4672584"/>
            <a:ext cx="402336" cy="402336"/>
          </a:xfrm>
          <a:prstGeom prst="ellipse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icons/book_2ED9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4777191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46542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 · .agents/skills/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097280" y="49103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Сумісність зі спільним стандартом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537960" y="187452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4"/>
          <p:cNvSpPr/>
          <p:nvPr/>
        </p:nvSpPr>
        <p:spPr>
          <a:xfrm>
            <a:off x="6537960" y="1874520"/>
            <a:ext cx="5074920" cy="329184"/>
          </a:xfrm>
          <a:prstGeom prst="roundRect">
            <a:avLst>
              <a:gd name="adj" fmla="val 22222"/>
            </a:avLst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6537960" y="2039112"/>
            <a:ext cx="5074920" cy="164592"/>
          </a:xfrm>
          <a:prstGeom prst="rect">
            <a:avLst/>
          </a:prstGeom>
          <a:solidFill>
            <a:srgbClr val="262C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6665976" y="199339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7"/>
          <p:cNvSpPr/>
          <p:nvPr/>
        </p:nvSpPr>
        <p:spPr>
          <a:xfrm>
            <a:off x="6848856" y="1993392"/>
            <a:ext cx="91440" cy="9144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18"/>
          <p:cNvSpPr/>
          <p:nvPr/>
        </p:nvSpPr>
        <p:spPr>
          <a:xfrm>
            <a:off x="7031736" y="1993392"/>
            <a:ext cx="91440" cy="91440"/>
          </a:xfrm>
          <a:prstGeom prst="ellipse">
            <a:avLst/>
          </a:prstGeom>
          <a:solidFill>
            <a:srgbClr val="5B657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19"/>
          <p:cNvSpPr/>
          <p:nvPr/>
        </p:nvSpPr>
        <p:spPr>
          <a:xfrm>
            <a:off x="7178040" y="18745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766560" y="243230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766560" y="276148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pr-review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766560" y="309067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Ревʼю pull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766560" y="341985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 перед мержем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766560" y="374904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766560" y="407822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Перевір тести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6766560" y="440740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Перевір стиль коду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766560" y="47365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Онов. changelog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РОЛІ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Агенти: build, plan, кастомні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Спеціалізовані персони з власними правами доступу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270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icons/cpu_141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2795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88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Основний режим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доступ на читання/запис файлів, виконання команд, пошук по коду. Тут відбувається основна робота.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270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4617720" y="2148840"/>
            <a:ext cx="502920" cy="50292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icons/filetext_1417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79" y="22795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788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планування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617720" y="352044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читання й аналіз — без змін у файлах. Підходить для обговорення підходу перед реалізацією.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18745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270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4"/>
          <p:cNvSpPr/>
          <p:nvPr/>
        </p:nvSpPr>
        <p:spPr>
          <a:xfrm>
            <a:off x="8412480" y="2148840"/>
            <a:ext cx="502920" cy="50292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9" name="Image 2" descr="icons/users_1417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239" y="227959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2788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власний агент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248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Кастомна персона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412480" y="352044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Створюється через /agent create: свій системний промпт, дозволи, підмодель для вузької задачі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r>
              <a:rPr lang="en-US" sz="14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перемикає між build і plan прямо в TUI · агенти можуть викликати один одного як підагенти (subagents) для делегування частини задачі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ОЦІНКА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OpenCode: переваги та недоліки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FFBF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2ED9A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icons/check_141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219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Переваги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Model-agnostic: 75+ провайдерів, легко порівнювати моделі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Повністю open source — можна аудитувати й змінювати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сесій локально (SQLite) — контроль над своїм кодом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Активний розвиток, велика спільнота (160K+ зірок)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Спільні стандарти AGENTS.md і SKILL.md з іншими агентами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DF3E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583680" y="21031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icons/x_1417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2219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Недоліки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78892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результату залежить від обраної моделі — сам агент її не «розумніший»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 «відполірований» UX, ніж у комерційних інструментів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Документація ще змінюється разом зі швидким релізним циклом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Потрібне ручне налаштування провайдерів і ключів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✗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готових інтеграцій з IDE, ніж у vendor-рішень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ЕКОСИСТЕМА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50876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агент від Anthropic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Нативний shell-інструмент: виконує команди, керує файлами, працює з Git у циклі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Плагіни: власні слеш-команди та підагенти (subagents) для типових процесів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 сторона — дотримання складних, багатоступеневих інструкцій без втрати контексту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Підтримує AGENTS.md/CLAUDE.md, MCP-сервери, skills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Встановлення: npm install -g @anthropic-ai/claude-code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0" y="196596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270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726948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КЛЮЧОВІ ФАКТИ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6948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6948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69480" y="35844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69480" y="38587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+ </a:t>
            </a:r>
            <a:r>
              <a:rPr lang="en-US" sz="1600" b="1" dirty="0" err="1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Термінал</a:t>
            </a: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IDE-розширення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69480" y="44256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69480" y="47000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Сімейство Claude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pic>
        <p:nvPicPr>
          <p:cNvPr id="17" name="Picture 16" descr="Clip Videos from Claude Code — Vugola MCP">
            <a:extLst>
              <a:ext uri="{FF2B5EF4-FFF2-40B4-BE49-F238E27FC236}">
                <a16:creationId xmlns:a16="http://schemas.microsoft.com/office/drawing/2014/main" id="{6EF3FE0A-5D91-BB08-CC2E-399A1F354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777240"/>
            <a:ext cx="759404" cy="7594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ЕКОСИСТЕМА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Codex CLI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50876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Термінальний агент від OpenAI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Написаний на Rust: легкий бінарник, швидкий старт, невелике споживання пам'яті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Пісочниця (sandbox) для безпечного виконання команд — важлива відмінність від конкурентів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Підтримує AGENTS.md, власні skills у .codex/skills, MCP-сервери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Автентифікація: через акаунт ChatGPT Plus/Pro або власний OpenAI API-ключ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Встановлення: npm install -g @openai/codex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0" y="196596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726948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КЛЮЧОВІ ФАКТИ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6948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6948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69480" y="35844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 реалізації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69480" y="38587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69480" y="44256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69480" y="47000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GPT-5-Codex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pic>
        <p:nvPicPr>
          <p:cNvPr id="17" name="Picture 16" descr="Codex (Beta) — бесплатно скачайте и установите в Windows | Microsoft Store">
            <a:extLst>
              <a:ext uri="{FF2B5EF4-FFF2-40B4-BE49-F238E27FC236}">
                <a16:creationId xmlns:a16="http://schemas.microsoft.com/office/drawing/2014/main" id="{FF92253A-4103-0418-E57B-697B71D82D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68" t="17367" r="18087" b="18615"/>
          <a:stretch>
            <a:fillRect/>
          </a:stretch>
        </p:blipFill>
        <p:spPr>
          <a:xfrm>
            <a:off x="548640" y="843894"/>
            <a:ext cx="738335" cy="738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— ЕКОСИСТЕМА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Antigravity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50876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Агентна платформа від Google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Форк VS Code з керуванням кількома паралельними агентами (Manager View / Mission Control)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Вбудований браузер Chrome для візуальної перевірки фронтенд-змін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Мульти-модельність: Gemini 3 Pro/Flash, Claude Sonnet/Opus, GPT-OSS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Версія 2.0 (2026): окремий desktop-застосунок, CLI, SDK, скриньки Skills/Hooks/Subagents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Безкоштовний публічний доступ; платні рівні з вищими лімітами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0" y="196596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270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726948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КЛЮЧОВІ ФАКТИ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6948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6948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69480" y="35844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69480" y="38587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IDE + CLI + App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69480" y="44256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Паралельні агенти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69480" y="47000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5 одночасно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pic>
        <p:nvPicPr>
          <p:cNvPr id="17" name="Picture 16" descr="Google Antigravity · GitHub">
            <a:extLst>
              <a:ext uri="{FF2B5EF4-FFF2-40B4-BE49-F238E27FC236}">
                <a16:creationId xmlns:a16="http://schemas.microsoft.com/office/drawing/2014/main" id="{811DE913-2038-BBBB-A910-0534CC15F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814218"/>
            <a:ext cx="767694" cy="7676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ВИСНОВОК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Який агент обрати?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6916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Гнучкість, свобода вибору моделі, open source, навчання й експерименти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26517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Найкраще дотримання складних інструкцій, стабільна якість у великих кодових базах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CLI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Швидкість, легкість, безпечна пісочниця, якщо ви вже в екосистемі OpenAI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32B"/>
          </a:solidFill>
          <a:ln w="12700">
            <a:solidFill>
              <a:srgbClr val="2C34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457200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 оркестрація й візуальна перевірка UI прямо в 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Спільна ідея всіх чотирьох — агент, що працює в циклі «читай → плануй → дій → перевіряй», а не просто підказує рядок коду.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1561</Words>
  <Application>Microsoft Macintosh PowerPoint</Application>
  <PresentationFormat>Widescreen</PresentationFormat>
  <Paragraphs>290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4</cp:revision>
  <dcterms:created xsi:type="dcterms:W3CDTF">2026-07-15T19:44:19Z</dcterms:created>
  <dcterms:modified xsi:type="dcterms:W3CDTF">2026-07-15T20:58:00Z</dcterms:modified>
</cp:coreProperties>
</file>