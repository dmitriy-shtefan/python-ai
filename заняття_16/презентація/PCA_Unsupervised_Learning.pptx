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85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9EEFC"/>
                </a:solidFill>
                <a:latin typeface="Arial"/>
              </a:defRPr>
            </a:pPr>
            <a:r>
              <a:rPr lang="ru-RU" sz="1200" b="0" i="0" u="none" strike="noStrike">
                <a:solidFill>
                  <a:srgbClr val="E9EEFC"/>
                </a:solidFill>
                <a:latin typeface="Arial"/>
              </a:rPr>
              <a:t>Зріст (см) </a:t>
            </a:r>
            <a:r>
              <a:rPr lang="en-US" sz="1200" b="0" i="0" u="none" strike="noStrike">
                <a:solidFill>
                  <a:srgbClr val="E9EEFC"/>
                </a:solidFill>
                <a:latin typeface="Arial"/>
              </a:rPr>
              <a:t>vs </a:t>
            </a:r>
            <a:r>
              <a:rPr lang="ru-RU" sz="1200" b="0" i="0" u="none" strike="noStrike">
                <a:solidFill>
                  <a:srgbClr val="E9EEFC"/>
                </a:solidFill>
                <a:latin typeface="Arial"/>
              </a:rPr>
              <a:t>Вага (кг) — сильна кореляція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Дані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5EEAD4"/>
              </a:solidFill>
              <a:ln w="9525" cap="flat">
                <a:solidFill>
                  <a:srgbClr val="5EEAD4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150</c:v>
                </c:pt>
                <c:pt idx="1">
                  <c:v>158</c:v>
                </c:pt>
                <c:pt idx="2">
                  <c:v>162</c:v>
                </c:pt>
                <c:pt idx="3">
                  <c:v>165</c:v>
                </c:pt>
                <c:pt idx="4">
                  <c:v>168</c:v>
                </c:pt>
                <c:pt idx="5">
                  <c:v>170</c:v>
                </c:pt>
                <c:pt idx="6">
                  <c:v>173</c:v>
                </c:pt>
                <c:pt idx="7">
                  <c:v>176</c:v>
                </c:pt>
                <c:pt idx="8">
                  <c:v>180</c:v>
                </c:pt>
                <c:pt idx="9">
                  <c:v>183</c:v>
                </c:pt>
                <c:pt idx="10">
                  <c:v>186</c:v>
                </c:pt>
                <c:pt idx="11">
                  <c:v>190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50</c:v>
                </c:pt>
                <c:pt idx="1">
                  <c:v>55</c:v>
                </c:pt>
                <c:pt idx="2">
                  <c:v>58</c:v>
                </c:pt>
                <c:pt idx="3">
                  <c:v>60</c:v>
                </c:pt>
                <c:pt idx="4">
                  <c:v>63</c:v>
                </c:pt>
                <c:pt idx="5">
                  <c:v>66</c:v>
                </c:pt>
                <c:pt idx="6">
                  <c:v>68</c:v>
                </c:pt>
                <c:pt idx="7">
                  <c:v>70</c:v>
                </c:pt>
                <c:pt idx="8">
                  <c:v>75</c:v>
                </c:pt>
                <c:pt idx="9">
                  <c:v>78</c:v>
                </c:pt>
                <c:pt idx="10">
                  <c:v>82</c:v>
                </c:pt>
                <c:pt idx="11">
                  <c:v>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850-BC4D-A2FB-81A3B2C20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1C265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6316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1C265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17204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7204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9EEFC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E9EEFC"/>
                </a:solidFill>
                <a:latin typeface="Arial"/>
              </a:rPr>
              <a:t>Scree Plot — </a:t>
            </a:r>
            <a:r>
              <a:rPr lang="ru-RU" sz="1200" b="0" i="0" u="none" strike="noStrike">
                <a:solidFill>
                  <a:srgbClr val="E9EEFC"/>
                </a:solidFill>
                <a:latin typeface="Arial"/>
              </a:rPr>
              <a:t>дисперсія по компонентах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Дисперсія, %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PC1</c:v>
                </c:pt>
                <c:pt idx="1">
                  <c:v>PC2</c:v>
                </c:pt>
                <c:pt idx="2">
                  <c:v>PC3</c:v>
                </c:pt>
                <c:pt idx="3">
                  <c:v>PC4</c:v>
                </c:pt>
                <c:pt idx="4">
                  <c:v>PC5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23</c:v>
                </c:pt>
                <c:pt idx="2">
                  <c:v>9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97-EA42-955D-C4410E3E19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Кумулятивна, %</c:v>
                </c:pt>
              </c:strCache>
            </c:strRef>
          </c:tx>
          <c:spPr>
            <a:ln w="31750" cap="flat">
              <a:solidFill>
                <a:srgbClr val="5EEA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EEAD4"/>
              </a:solidFill>
              <a:ln w="9525" cap="flat">
                <a:solidFill>
                  <a:srgbClr val="5EEAD4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PC1</c:v>
                </c:pt>
                <c:pt idx="1">
                  <c:v>PC2</c:v>
                </c:pt>
                <c:pt idx="2">
                  <c:v>PC3</c:v>
                </c:pt>
                <c:pt idx="3">
                  <c:v>PC4</c:v>
                </c:pt>
                <c:pt idx="4">
                  <c:v>PC5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62</c:v>
                </c:pt>
                <c:pt idx="1">
                  <c:v>85</c:v>
                </c:pt>
                <c:pt idx="2">
                  <c:v>94</c:v>
                </c:pt>
                <c:pt idx="3">
                  <c:v>98</c:v>
                </c:pt>
                <c:pt idx="4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97-EA42-955D-C4410E3E19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C265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6316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C265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204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9EEF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7204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9EEFC"/>
                </a:solidFill>
                <a:latin typeface="Arial"/>
              </a:defRPr>
            </a:pPr>
            <a:r>
              <a:rPr lang="ru-RU" sz="1200" b="0" i="0" u="none" strike="noStrike">
                <a:solidFill>
                  <a:srgbClr val="E9EEFC"/>
                </a:solidFill>
                <a:latin typeface="Arial"/>
              </a:rPr>
              <a:t>Проєкція даних </a:t>
            </a:r>
            <a:r>
              <a:rPr lang="en-US" sz="1200" b="0" i="0" u="none" strike="noStrike">
                <a:solidFill>
                  <a:srgbClr val="E9EEFC"/>
                </a:solidFill>
                <a:latin typeface="Arial"/>
              </a:rPr>
              <a:t>Iris </a:t>
            </a:r>
            <a:r>
              <a:rPr lang="ru-RU" sz="1200" b="0" i="0" u="none" strike="noStrike">
                <a:solidFill>
                  <a:srgbClr val="E9EEFC"/>
                </a:solidFill>
                <a:latin typeface="Arial"/>
              </a:rPr>
              <a:t>на </a:t>
            </a:r>
            <a:r>
              <a:rPr lang="en-US" sz="1200" b="0" i="0" u="none" strike="noStrike">
                <a:solidFill>
                  <a:srgbClr val="E9EEFC"/>
                </a:solidFill>
                <a:latin typeface="Arial"/>
              </a:rPr>
              <a:t>PC1-PC2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Setosa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5EEAD4"/>
              </a:solidFill>
              <a:ln w="9525" cap="flat">
                <a:solidFill>
                  <a:srgbClr val="5EEAD4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-2.6574340887397763</c:v>
                </c:pt>
                <c:pt idx="1">
                  <c:v>-3.4148937329854774</c:v>
                </c:pt>
                <c:pt idx="2">
                  <c:v>-2.8440628677539426</c:v>
                </c:pt>
                <c:pt idx="3">
                  <c:v>-2.6787609886656867</c:v>
                </c:pt>
                <c:pt idx="4">
                  <c:v>-3.7309093268275424</c:v>
                </c:pt>
                <c:pt idx="5">
                  <c:v>-2.2128025904700164</c:v>
                </c:pt>
                <c:pt idx="6">
                  <c:v>-3.3889465866899342</c:v>
                </c:pt>
                <c:pt idx="7">
                  <c:v>-3.2958553879247905</c:v>
                </c:pt>
                <c:pt idx="8">
                  <c:v>-2.0962577801164759</c:v>
                </c:pt>
                <c:pt idx="9">
                  <c:v>-4.0739256078319261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1.5604036128261591</c:v>
                </c:pt>
                <c:pt idx="1">
                  <c:v>1.7643164586804525</c:v>
                </c:pt>
                <c:pt idx="2">
                  <c:v>0.91803469967112683</c:v>
                </c:pt>
                <c:pt idx="3">
                  <c:v>2.1170943992591029</c:v>
                </c:pt>
                <c:pt idx="4">
                  <c:v>1.2339707610872273</c:v>
                </c:pt>
                <c:pt idx="5">
                  <c:v>1.1739321567077134</c:v>
                </c:pt>
                <c:pt idx="6">
                  <c:v>2.3340986468651352</c:v>
                </c:pt>
                <c:pt idx="7">
                  <c:v>0.5616665894065842</c:v>
                </c:pt>
                <c:pt idx="8">
                  <c:v>2.0217758139277824</c:v>
                </c:pt>
                <c:pt idx="9">
                  <c:v>1.7380835753319135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9CF-B84B-A486-FE21904D15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PC1 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-2.6574340887397763</c:v>
                </c:pt>
                <c:pt idx="1">
                  <c:v>-3.4148937329854774</c:v>
                </c:pt>
                <c:pt idx="2">
                  <c:v>-2.8440628677539426</c:v>
                </c:pt>
                <c:pt idx="3">
                  <c:v>-2.6787609886656867</c:v>
                </c:pt>
                <c:pt idx="4">
                  <c:v>-3.7309093268275424</c:v>
                </c:pt>
                <c:pt idx="5">
                  <c:v>-2.2128025904700164</c:v>
                </c:pt>
                <c:pt idx="6">
                  <c:v>-3.3889465866899342</c:v>
                </c:pt>
                <c:pt idx="7">
                  <c:v>-3.2958553879247905</c:v>
                </c:pt>
                <c:pt idx="8">
                  <c:v>-2.0962577801164759</c:v>
                </c:pt>
                <c:pt idx="9">
                  <c:v>-4.0739256078319261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0.76424747678482086</c:v>
                </c:pt>
                <c:pt idx="1">
                  <c:v>-7.6403907553420969E-2</c:v>
                </c:pt>
                <c:pt idx="2">
                  <c:v>1.0832684684886171</c:v>
                </c:pt>
                <c:pt idx="3">
                  <c:v>0.32204503945769791</c:v>
                </c:pt>
                <c:pt idx="4">
                  <c:v>4.0380592228743684E-2</c:v>
                </c:pt>
                <c:pt idx="5">
                  <c:v>1.4603697654833367</c:v>
                </c:pt>
                <c:pt idx="6">
                  <c:v>-0.48575294629515975</c:v>
                </c:pt>
                <c:pt idx="7">
                  <c:v>0.94496720768826781</c:v>
                </c:pt>
                <c:pt idx="8">
                  <c:v>0.92180943684087646</c:v>
                </c:pt>
                <c:pt idx="9">
                  <c:v>-0.65311408313168839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9CF-B84B-A486-FE21904D15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Versicolor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-2.6574340887397763</c:v>
                </c:pt>
                <c:pt idx="1">
                  <c:v>-3.4148937329854774</c:v>
                </c:pt>
                <c:pt idx="2">
                  <c:v>-2.8440628677539426</c:v>
                </c:pt>
                <c:pt idx="3">
                  <c:v>-2.6787609886656867</c:v>
                </c:pt>
                <c:pt idx="4">
                  <c:v>-3.7309093268275424</c:v>
                </c:pt>
                <c:pt idx="5">
                  <c:v>-2.2128025904700164</c:v>
                </c:pt>
                <c:pt idx="6">
                  <c:v>-3.3889465866899342</c:v>
                </c:pt>
                <c:pt idx="7">
                  <c:v>-3.2958553879247905</c:v>
                </c:pt>
                <c:pt idx="8">
                  <c:v>-2.0962577801164759</c:v>
                </c:pt>
                <c:pt idx="9">
                  <c:v>-4.0739256078319261</c:v>
                </c:pt>
              </c:numCache>
            </c:numRef>
          </c:xVal>
          <c:yVal>
            <c:numRef>
              <c:f>Sheet1!$D$2:$D$11</c:f>
              <c:numCache>
                <c:formatCode>General</c:formatCode>
                <c:ptCount val="10"/>
                <c:pt idx="0">
                  <c:v>-0.68508212020773485</c:v>
                </c:pt>
                <c:pt idx="1">
                  <c:v>-1.0758850140485421</c:v>
                </c:pt>
                <c:pt idx="2">
                  <c:v>-1.4084089784357627</c:v>
                </c:pt>
                <c:pt idx="3">
                  <c:v>-0.19729704621299182</c:v>
                </c:pt>
                <c:pt idx="4">
                  <c:v>-1.7960841664045328</c:v>
                </c:pt>
                <c:pt idx="5">
                  <c:v>-0.6971965760671105</c:v>
                </c:pt>
                <c:pt idx="6">
                  <c:v>-0.54033585209371382</c:v>
                </c:pt>
                <c:pt idx="7">
                  <c:v>-2.0742458676123015</c:v>
                </c:pt>
                <c:pt idx="8">
                  <c:v>0.15891190303317804</c:v>
                </c:pt>
                <c:pt idx="9">
                  <c:v>-1.600273197205544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9CF-B84B-A486-FE21904D15D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PC1  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2DD4BF"/>
              </a:solidFill>
              <a:ln w="9525" cap="flat">
                <a:solidFill>
                  <a:srgbClr val="5EEAD4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-2.6574340887397763</c:v>
                </c:pt>
                <c:pt idx="1">
                  <c:v>-3.4148937329854774</c:v>
                </c:pt>
                <c:pt idx="2">
                  <c:v>-2.8440628677539426</c:v>
                </c:pt>
                <c:pt idx="3">
                  <c:v>-2.6787609886656867</c:v>
                </c:pt>
                <c:pt idx="4">
                  <c:v>-3.7309093268275424</c:v>
                </c:pt>
                <c:pt idx="5">
                  <c:v>-2.2128025904700164</c:v>
                </c:pt>
                <c:pt idx="6">
                  <c:v>-3.3889465866899342</c:v>
                </c:pt>
                <c:pt idx="7">
                  <c:v>-3.2958553879247905</c:v>
                </c:pt>
                <c:pt idx="8">
                  <c:v>-2.0962577801164759</c:v>
                </c:pt>
                <c:pt idx="9">
                  <c:v>-4.0739256078319261</c:v>
                </c:pt>
              </c:numCache>
            </c:numRef>
          </c:xVal>
          <c:yVal>
            <c:numRef>
              <c:f>Sheet1!$E$2:$E$11</c:f>
              <c:numCache>
                <c:formatCode>General</c:formatCode>
                <c:ptCount val="10"/>
                <c:pt idx="0">
                  <c:v>3.5</c:v>
                </c:pt>
                <c:pt idx="1">
                  <c:v>3.1978668741676373</c:v>
                </c:pt>
                <c:pt idx="2">
                  <c:v>4.045638307811898</c:v>
                </c:pt>
                <c:pt idx="3">
                  <c:v>2.998239291075413</c:v>
                </c:pt>
                <c:pt idx="4">
                  <c:v>3.6227878039689725</c:v>
                </c:pt>
                <c:pt idx="5">
                  <c:v>3.9161904870102031</c:v>
                </c:pt>
                <c:pt idx="6">
                  <c:v>2.6918484725470391</c:v>
                </c:pt>
                <c:pt idx="7">
                  <c:v>4.2933666079060924</c:v>
                </c:pt>
                <c:pt idx="8">
                  <c:v>3.1755312024300952</c:v>
                </c:pt>
                <c:pt idx="9">
                  <c:v>3.1173165676349104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59CF-B84B-A486-FE21904D15D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Virginica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CADCFC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-2.6574340887397763</c:v>
                </c:pt>
                <c:pt idx="1">
                  <c:v>-3.4148937329854774</c:v>
                </c:pt>
                <c:pt idx="2">
                  <c:v>-2.8440628677539426</c:v>
                </c:pt>
                <c:pt idx="3">
                  <c:v>-2.6787609886656867</c:v>
                </c:pt>
                <c:pt idx="4">
                  <c:v>-3.7309093268275424</c:v>
                </c:pt>
                <c:pt idx="5">
                  <c:v>-2.2128025904700164</c:v>
                </c:pt>
                <c:pt idx="6">
                  <c:v>-3.3889465866899342</c:v>
                </c:pt>
                <c:pt idx="7">
                  <c:v>-3.2958553879247905</c:v>
                </c:pt>
                <c:pt idx="8">
                  <c:v>-2.0962577801164759</c:v>
                </c:pt>
                <c:pt idx="9">
                  <c:v>-4.0739256078319261</c:v>
                </c:pt>
              </c:numCache>
            </c:numRef>
          </c:xVal>
          <c:yVal>
            <c:numRef>
              <c:f>Sheet1!$F$2:$F$11</c:f>
              <c:numCache>
                <c:formatCode>General</c:formatCode>
                <c:ptCount val="10"/>
                <c:pt idx="0">
                  <c:v>2.316227766016838</c:v>
                </c:pt>
                <c:pt idx="1">
                  <c:v>1.670279551324511</c:v>
                </c:pt>
                <c:pt idx="2">
                  <c:v>2.0477371663190098</c:v>
                </c:pt>
                <c:pt idx="3">
                  <c:v>2.385014533465291</c:v>
                </c:pt>
                <c:pt idx="4">
                  <c:v>1.303635759679981</c:v>
                </c:pt>
                <c:pt idx="5">
                  <c:v>2.6532882047934203</c:v>
                </c:pt>
                <c:pt idx="6">
                  <c:v>1.7834564508570012</c:v>
                </c:pt>
                <c:pt idx="7">
                  <c:v>1.5869994849160822</c:v>
                </c:pt>
                <c:pt idx="8">
                  <c:v>2.8914706946409066</c:v>
                </c:pt>
                <c:pt idx="9">
                  <c:v>1.076120467488713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59CF-B84B-A486-FE21904D15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94A3C4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94A3C4"/>
                    </a:solidFill>
                    <a:latin typeface="Arial"/>
                  </a:rPr>
                  <a:t>PC1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1C265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6316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94A3C4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94A3C4"/>
                    </a:solidFill>
                    <a:latin typeface="Arial"/>
                  </a:rPr>
                  <a:t>PC2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1C265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17204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9EEF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720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149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-1645920" y="4114800"/>
            <a:ext cx="4114800" cy="411480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UNSUPERVISED LEARNING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для аналізу даних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Зменшення розмірності та пошук прихованих закономірностей у даних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7863840" cy="18288"/>
          </a:xfrm>
          <a:prstGeom prst="rect">
            <a:avLst/>
          </a:prstGeom>
          <a:solidFill>
            <a:srgbClr val="1C26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2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АІ додатків з використанням </a:t>
            </a:r>
            <a:r>
              <a:rPr lang="en-US" sz="12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Від Supervised до Unsupervised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3200400"/>
          </a:xfrm>
          <a:prstGeom prst="roundRect">
            <a:avLst>
              <a:gd name="adj" fmla="val 3429"/>
            </a:avLst>
          </a:prstGeom>
          <a:solidFill>
            <a:srgbClr val="17204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68680" y="20116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EEAD4"/>
                </a:solidFill>
                <a:latin typeface="Cambria" pitchFamily="34" charset="0"/>
              </a:rPr>
              <a:t>Supervised</a:t>
            </a: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900" b="1" dirty="0">
                <a:solidFill>
                  <a:srgbClr val="5EEAD4"/>
                </a:solidFill>
                <a:latin typeface="Cambria" pitchFamily="34" charset="0"/>
              </a:rPr>
              <a:t>Learning</a:t>
            </a:r>
          </a:p>
        </p:txBody>
      </p:sp>
      <p:sp>
        <p:nvSpPr>
          <p:cNvPr id="7" name="Text 4"/>
          <p:cNvSpPr/>
          <p:nvPr/>
        </p:nvSpPr>
        <p:spPr>
          <a:xfrm>
            <a:off x="868680" y="2743200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мають мітки (y)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вчиться передбачати відповідь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Приклади: класифікація спаму, прогноз ціни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65392" y="1691640"/>
            <a:ext cx="5074920" cy="32004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6885432" y="20116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25512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885432" y="2743200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Міток немає — шукаємо структуру самі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Задачі: кластеризація, зменшення розмірності, аномалії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Сьогодні: PCA — зменшення розмірності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C26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7240" y="53492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512064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350" i="1" noProof="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Уявіть, що вам дали купу фотографій без підписів — і треба самим розібратись, що на них спільного.</a:t>
            </a:r>
            <a:endParaRPr lang="uk-UA" sz="1350" noProof="0" dirty="0"/>
          </a:p>
        </p:txBody>
      </p:sp>
      <p:sp>
        <p:nvSpPr>
          <p:cNvPr id="15" name="Text 10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МОТИВАЦІЯ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 високої розмірності даних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8640" y="17830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Curse of dimensionality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242316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Чим більше ознак — тим складніше візуалізувати й аналізувати дані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датасет із 50 колонками — як його ‘побачити’ одразу?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Ознаки часто корельовані — дублюють інформацію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Більше ознак = повільніше навчання і ризик перенавчання</a:t>
            </a:r>
            <a:endParaRPr lang="en-US" sz="14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126480" y="1737360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50164" y="5740624"/>
            <a:ext cx="11091672" cy="604408"/>
          </a:xfrm>
          <a:prstGeom prst="roundRect">
            <a:avLst>
              <a:gd name="adj" fmla="val 11765"/>
            </a:avLst>
          </a:prstGeom>
          <a:solidFill>
            <a:srgbClr val="1C2652"/>
          </a:solidFill>
          <a:ln/>
        </p:spPr>
        <p:txBody>
          <a:bodyPr/>
          <a:lstStyle/>
          <a:p>
            <a:endParaRPr lang="en-UA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8764" y="5824728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7404" y="5623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зріст і вага людини сильно корелюють — навіщо тримати обидві ознаки як незалежні </a:t>
            </a:r>
            <a:r>
              <a:rPr lang="en-US" sz="1350" i="1" dirty="0" err="1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виміри</a:t>
            </a:r>
            <a:r>
              <a:rPr lang="en-US" sz="1350" i="1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ІНТУЇЦІЯ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PCA: головна ідея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шукає нові осі (головні компоненти), вздовж яких дані варіюються найбільше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— напрямок максимальної дисперсії даних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— перпендикулярний до PC1, наступний за варіативністю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73736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1720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7452360" y="388620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7726680" y="365760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001000" y="352044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8275320" y="333756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8549640" y="315468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8823960" y="329184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9006840" y="347472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9281160" y="361188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9555480" y="342900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9829800" y="324612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10104120" y="310896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10378440" y="288036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8092440" y="384048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9738360" y="292608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8915400" y="370332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8915400" y="306324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 flipV="1">
            <a:off x="7132320" y="2834640"/>
            <a:ext cx="3337560" cy="1216152"/>
          </a:xfrm>
          <a:prstGeom prst="line">
            <a:avLst/>
          </a:prstGeom>
          <a:noFill/>
          <a:ln w="381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10561320" y="2560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823960" y="2633472"/>
            <a:ext cx="640080" cy="1481328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9098280" y="4023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39" y="4160520"/>
            <a:ext cx="5430129" cy="1386170"/>
          </a:xfrm>
          <a:prstGeom prst="roundRect">
            <a:avLst>
              <a:gd name="adj" fmla="val 5714"/>
            </a:avLst>
          </a:prstGeom>
          <a:solidFill>
            <a:srgbClr val="1C26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1520" y="4480560"/>
            <a:ext cx="365760" cy="3657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80160" y="4250452"/>
            <a:ext cx="4389120" cy="1155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Аналогія:
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"Уявіть тінь від об’єкта під різними кутами світла — обираємо кут, при якому тінь показує найбільше деталей."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ЦЕ ПРАЦЮЄ ПІД КАПОТОМ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PCA у 5 кроків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17204A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335024" y="2011680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1335024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26517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Стандартизація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Привести ознаки до єдиного масштабу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51760" y="2926080"/>
            <a:ext cx="128016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2798064" y="178308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1C2652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3584448" y="2011680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3584448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07792" y="26517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Коваріаційна матриця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35224" y="32004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Порахувати зв'язки між ознаками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01184" y="2926080"/>
            <a:ext cx="128016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047488" y="178308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17204A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5833872" y="2011680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833872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57216" y="26517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Власні вектори/значення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184648" y="32004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Знайти напрямки і ‘силу’ варіації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50608" y="2926080"/>
            <a:ext cx="128016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7296912" y="178308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1C2652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8083296" y="2011680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8083296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06640" y="26517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Сортування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434072" y="32004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величиною власних значень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00032" y="2926080"/>
            <a:ext cx="128016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9546336" y="178308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17204A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10332720" y="2011680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1033272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56064" y="26517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Проєкція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683496" y="32004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Перевести дані у нові координати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34340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C26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7240" y="4544568"/>
            <a:ext cx="384048" cy="38404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325880" y="4343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Власні значення показують, скільки ‘інформації’ (дисперсії) несе кожна </a:t>
            </a:r>
            <a:r>
              <a:rPr lang="en-US" sz="1350" i="1" dirty="0" err="1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вісь</a:t>
            </a:r>
            <a:r>
              <a:rPr lang="en-US" sz="1350" i="1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548640" y="530352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7240" y="5440680"/>
            <a:ext cx="347472" cy="34747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128016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стандартизації ознака з більшим масштабом домінуватиме в результаті PCA</a:t>
            </a:r>
            <a:endParaRPr lang="en-US" sz="1250" dirty="0"/>
          </a:p>
        </p:txBody>
      </p:sp>
      <p:sp>
        <p:nvSpPr>
          <p:cNvPr id="39" name="Text 35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· КРОК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Підготовка даних: стандартизація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8640" y="16916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Датасет: Wine / Iris (класичні, зрозумілі)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0A1024"/>
          </a:solidFill>
          <a:ln w="12700">
            <a:solidFill>
              <a:srgbClr val="1C265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4"/>
          <p:cNvSpPr/>
          <p:nvPr/>
        </p:nvSpPr>
        <p:spPr>
          <a:xfrm>
            <a:off x="713232" y="2414016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5"/>
          <p:cNvSpPr/>
          <p:nvPr/>
        </p:nvSpPr>
        <p:spPr>
          <a:xfrm>
            <a:off x="914400" y="2414016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1115568" y="2414016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777240" y="2670048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PCA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X_scaled = StandardScaler().fit_transform(X)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22860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1720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9"/>
          <p:cNvSpPr/>
          <p:nvPr/>
        </p:nvSpPr>
        <p:spPr>
          <a:xfrm>
            <a:off x="6492240" y="24505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/ Після стандартизації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880360"/>
          <a:ext cx="4937759" cy="1417320"/>
        </p:xfrm>
        <a:graphic>
          <a:graphicData uri="http://schemas.openxmlformats.org/drawingml/2006/table">
            <a:tbl>
              <a:tblPr/>
              <a:tblGrid>
                <a:gridCol w="207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Ознака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Після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9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Зарплата, грн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9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9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9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Вік, років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9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9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9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Стаж, років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9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9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7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48640" y="470916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C26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7240" y="49834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470916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350" i="1" noProof="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не стандартизувати — і PCA виділить компоненту з ознаки, яка просто має більші числа (наприклад, зарплата в гривнях проти віку).</a:t>
            </a:r>
            <a:endParaRPr lang="uk-UA" sz="1350" noProof="0" dirty="0"/>
          </a:p>
        </p:txBody>
      </p:sp>
      <p:sp>
        <p:nvSpPr>
          <p:cNvPr id="17" name="Text 1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· КРОК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Скільки компонент обрати?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0A1024"/>
          </a:solidFill>
          <a:ln w="12700">
            <a:solidFill>
              <a:srgbClr val="1C265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13232" y="1865376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914400" y="1865376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115568" y="1865376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777240" y="2121408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PCA(n_components=2)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X_pca = pca.fit_transform(X_scaled)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print(pca.explained_variance_ratio_)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[0.62, 0.23]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explained_variance_ratio_ — % дисперсії, яку пояснює кожна компонента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вибору: кумулятивно 90-95%, або ‘лікоть’ на графіку</a:t>
            </a:r>
            <a:endParaRPr lang="en-US" sz="13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035040" y="1737360"/>
          <a:ext cx="56235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· РЕЗУЛЬТАТ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‘бачить’ приховані групи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1600200"/>
          </a:xfrm>
          <a:prstGeom prst="roundRect">
            <a:avLst>
              <a:gd name="adj" fmla="val 4571"/>
            </a:avLst>
          </a:prstGeom>
          <a:solidFill>
            <a:srgbClr val="0A1024"/>
          </a:solidFill>
          <a:ln w="12700">
            <a:solidFill>
              <a:srgbClr val="1C265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13232" y="1819656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914400" y="1819656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115568" y="1819656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777240" y="207568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plt.scatter(X_pca[:,0], X_pca[:,1],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c=y, cmap='viridis')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plt.xlabel('PC1'); plt.ylabel('PC2')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5029200" cy="1153048"/>
          </a:xfrm>
          <a:prstGeom prst="roundRect">
            <a:avLst>
              <a:gd name="adj" fmla="val 4651"/>
            </a:avLst>
          </a:prstGeom>
          <a:solidFill>
            <a:srgbClr val="1C26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9812" y="3790188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3429000"/>
            <a:ext cx="4114800" cy="115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300" i="1" noProof="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 не показували моделі мітки класів, а вона сама розділила квіти на групи через структуру даних!</a:t>
            </a:r>
            <a:endParaRPr lang="uk-UA" sz="1300" noProof="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035040" y="1737360"/>
          <a:ext cx="56235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ЗАСТОСУВАННЯ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 PCA застосовують на практиці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84832" cy="2834640"/>
          </a:xfrm>
          <a:prstGeom prst="roundRect">
            <a:avLst>
              <a:gd name="adj" fmla="val 5263"/>
            </a:avLst>
          </a:prstGeom>
          <a:solidFill>
            <a:srgbClr val="17204A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225296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71600" y="22037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97180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Стиснення зображень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365760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Попередня обробка перед ML-моделями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98064" y="1783080"/>
            <a:ext cx="2084832" cy="2834640"/>
          </a:xfrm>
          <a:prstGeom prst="roundRect">
            <a:avLst>
              <a:gd name="adj" fmla="val 5263"/>
            </a:avLst>
          </a:prstGeom>
          <a:solidFill>
            <a:srgbClr val="17204A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347472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21024" y="220370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07792" y="297180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Усунення мультиколінеарності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35224" y="365760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регресійними моделями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47488" y="1783080"/>
            <a:ext cx="2084832" cy="2834640"/>
          </a:xfrm>
          <a:prstGeom prst="roundRect">
            <a:avLst>
              <a:gd name="adj" fmla="val 5263"/>
            </a:avLst>
          </a:prstGeom>
          <a:solidFill>
            <a:srgbClr val="17204A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1"/>
          <p:cNvSpPr/>
          <p:nvPr/>
        </p:nvSpPr>
        <p:spPr>
          <a:xfrm>
            <a:off x="5724144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70448" y="220370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57216" y="297180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Прискорення тренування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184648" y="365760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 ознак — швидше навчання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296912" y="1783080"/>
            <a:ext cx="2084832" cy="2834640"/>
          </a:xfrm>
          <a:prstGeom prst="roundRect">
            <a:avLst>
              <a:gd name="adj" fmla="val 5263"/>
            </a:avLst>
          </a:prstGeom>
          <a:solidFill>
            <a:srgbClr val="17204A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5"/>
          <p:cNvSpPr/>
          <p:nvPr/>
        </p:nvSpPr>
        <p:spPr>
          <a:xfrm>
            <a:off x="7973568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19872" y="220370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297180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Виявлення аномалій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34072" y="365760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Точки, що сильно відхиляються після проєкції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546336" y="1783080"/>
            <a:ext cx="2084832" cy="2834640"/>
          </a:xfrm>
          <a:prstGeom prst="roundRect">
            <a:avLst>
              <a:gd name="adj" fmla="val 5263"/>
            </a:avLst>
          </a:prstGeom>
          <a:solidFill>
            <a:srgbClr val="17204A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Shape 19"/>
          <p:cNvSpPr/>
          <p:nvPr/>
        </p:nvSpPr>
        <p:spPr>
          <a:xfrm>
            <a:off x="10222992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369296" y="2203704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56064" y="297180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кластеризацією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683496" y="365760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після PCA працює швидше й чистіше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48920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C26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786384" y="5088636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408176" y="4892040"/>
            <a:ext cx="9930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рідко є кінцевою метою — це майже завжди підготовчий крок перед іншою моделлю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Головне про PCA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17204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2296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Чек-лист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Завжди стандартизуйте дані перед PCA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Обирайте компоненти за explained_variance / scree plot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лінійний метод, не завжди підходить для складних залежностей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Компоненти важко інтерпретувати змістовно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підготовчий крок, а не самоціль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468112" cy="3977640"/>
          </a:xfrm>
          <a:prstGeom prst="roundRect">
            <a:avLst>
              <a:gd name="adj" fmla="val 275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9202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Практичне завдання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446520" y="2514600"/>
            <a:ext cx="4892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Візьміть датасет Wine (або власні дані)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Застосуйте StandardScaler + PCA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Визначте оптимальну кількість компонент через scree plot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Візуалізуйте результат у координатах PC1-PC2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Опишіть висновок: чи видно природні групи в даних?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715</Words>
  <Application>Microsoft Macintosh PowerPoint</Application>
  <PresentationFormat>Widescreen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Learning: PCA для аналізу даних</dc:title>
  <dc:subject>PptxGenJS Presentation</dc:subject>
  <dc:creator>Dmytro</dc:creator>
  <cp:lastModifiedBy>Штефан Дмитро</cp:lastModifiedBy>
  <cp:revision>7</cp:revision>
  <dcterms:created xsi:type="dcterms:W3CDTF">2026-07-05T12:43:10Z</dcterms:created>
  <dcterms:modified xsi:type="dcterms:W3CDTF">2026-07-05T17:29:06Z</dcterms:modified>
</cp:coreProperties>
</file>