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10"/>
    <p:restoredTop sz="94610"/>
  </p:normalViewPr>
  <p:slideViewPr>
    <p:cSldViewPr snapToGrid="0" snapToObjects="1">
      <p:cViewPr varScale="1">
        <p:scale>
          <a:sx n="199" d="100"/>
          <a:sy n="199" d="100"/>
        </p:scale>
        <p:origin x="1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063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Вступ: більшість 'секретних промптів' в інтернеті — шум. Реальна перевага — у способі мислення. Навіть інженери, що будують просунуті AI-tools, покладаються на прості принципи.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Фінальний меседж для студентів: не гнатися за хаками, а тренувати специфічність, критичне мислення та ітерацію. Можна закрити презентацію практичною вправою — переписати один зі своїх старих промптів за принципом Role+Goal+Constraints+Format.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0" y="-1188720"/>
            <a:ext cx="4572000" cy="4572000"/>
          </a:xfrm>
          <a:prstGeom prst="ellipse">
            <a:avLst/>
          </a:prstGeom>
          <a:solidFill>
            <a:srgbClr val="CC785C">
              <a:alpha val="22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-1463040" y="3291840"/>
            <a:ext cx="3657600" cy="3657600"/>
          </a:xfrm>
          <a:prstGeom prst="ellipse">
            <a:avLst/>
          </a:prstGeom>
          <a:solidFill>
            <a:srgbClr val="CC785C">
              <a:alpha val="15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Мислити чітко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97180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Сучасні техніки та практичні поради для щоденної роботи з ChatGPT, Claude, Gemini та іншими чат-моделями.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977640"/>
            <a:ext cx="1280160" cy="0"/>
          </a:xfrm>
          <a:prstGeom prst="line">
            <a:avLst/>
          </a:prstGeom>
          <a:noFill/>
          <a:ln w="31750">
            <a:solidFill>
              <a:srgbClr val="CC785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713232" y="4114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200" i="1" dirty="0">
                <a:solidFill>
                  <a:srgbClr val="9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Створення АІ додатків з використанням </a:t>
            </a:r>
            <a:r>
              <a:rPr lang="en-US" sz="1200" i="1" dirty="0">
                <a:solidFill>
                  <a:srgbClr val="9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AF5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 №1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300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Конкретика</a:t>
            </a:r>
            <a:r>
              <a:rPr lang="en-US" sz="300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uk-UA" sz="300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важливіша за поспіх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66928" cy="566928"/>
          </a:xfrm>
          <a:prstGeom prst="ellipse">
            <a:avLst/>
          </a:prstGeom>
          <a:solidFill>
            <a:srgbClr val="CC785C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21" y="1491021"/>
            <a:ext cx="419527" cy="4195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549" y="135661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26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Найчастіша причина слабких відповідей — розмитий запит.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6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Role + Goal + Constraints + Format дає моделі все, що потрібно для влучного результату.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02920" y="3063240"/>
            <a:ext cx="3840480" cy="1554480"/>
          </a:xfrm>
          <a:prstGeom prst="roundRect">
            <a:avLst>
              <a:gd name="adj" fmla="val 4706"/>
            </a:avLst>
          </a:prstGeom>
          <a:solidFill>
            <a:srgbClr val="F0EEE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Text 5"/>
          <p:cNvSpPr/>
          <p:nvPr/>
        </p:nvSpPr>
        <p:spPr>
          <a:xfrm>
            <a:off x="731520" y="324612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uk-UA" sz="1250" b="1" dirty="0">
                <a:solidFill>
                  <a:srgbClr val="AF5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Часто недостатньо</a:t>
            </a:r>
            <a:r>
              <a:rPr lang="en-US" sz="1250" b="1" dirty="0">
                <a:solidFill>
                  <a:srgbClr val="AF5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uk-UA" sz="1250" b="1" dirty="0">
              <a:solidFill>
                <a:srgbClr val="AF5B4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E5C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"Explain recursion"</a:t>
            </a:r>
            <a:endParaRPr lang="en-US" sz="1250" dirty="0"/>
          </a:p>
          <a:p>
            <a:pPr marL="0" indent="0">
              <a:buNone/>
            </a:pPr>
            <a:r>
              <a:rPr lang="en-US" sz="1150" i="1" dirty="0">
                <a:solidFill>
                  <a:srgbClr val="5E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без аудиторії, обсягу, формату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986478" y="1342369"/>
            <a:ext cx="3931920" cy="3246120"/>
          </a:xfrm>
          <a:prstGeom prst="roundRect">
            <a:avLst>
              <a:gd name="adj" fmla="val 2254"/>
            </a:avLst>
          </a:prstGeom>
          <a:solidFill>
            <a:srgbClr val="1F1E1C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0" name="Text 7"/>
          <p:cNvSpPr/>
          <p:nvPr/>
        </p:nvSpPr>
        <p:spPr>
          <a:xfrm>
            <a:off x="5187646" y="1470384"/>
            <a:ext cx="3529584" cy="2756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 world-class technical writer.</a:t>
            </a:r>
            <a:endParaRPr lang="uk-UA" sz="1250" dirty="0">
              <a:solidFill>
                <a:srgbClr val="E8E6DD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goal is to explain recursion to a</a:t>
            </a:r>
            <a:r>
              <a:rPr lang="uk-UA" sz="1250" dirty="0"/>
              <a:t> </a:t>
            </a:r>
            <a:r>
              <a:rPr lang="en-US" sz="1250" dirty="0">
                <a:solidFill>
                  <a:srgbClr val="E8E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first-year CS student.</a:t>
            </a:r>
            <a:endParaRPr lang="uk-UA" sz="1250" dirty="0">
              <a:solidFill>
                <a:srgbClr val="E8E6DD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Constraints: max 150 words, no jargon.</a:t>
            </a:r>
            <a:endParaRPr lang="uk-UA" sz="1250" dirty="0">
              <a:solidFill>
                <a:srgbClr val="E8E6DD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format: 3 short paragraphs +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code example.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366760" y="4864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AF5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ТЕХНІКА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 prompts: промпт про промпт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66928" cy="566928"/>
          </a:xfrm>
          <a:prstGeom prst="ellipse">
            <a:avLst/>
          </a:prstGeom>
          <a:solidFill>
            <a:srgbClr val="CC785C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21" y="1491021"/>
            <a:ext cx="419527" cy="4195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549" y="1371600"/>
            <a:ext cx="34010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6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Попроси модель спочатку покращити сам запит, а вже потім виконати задачу. Модель 'думає про думання' — уточнює вхідні дані ще до того, як почне відповідати.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02920" y="3264408"/>
            <a:ext cx="3794760" cy="1274913"/>
          </a:xfrm>
          <a:prstGeom prst="roundRect">
            <a:avLst>
              <a:gd name="adj" fmla="val 5333"/>
            </a:avLst>
          </a:prstGeom>
          <a:solidFill>
            <a:srgbClr val="F0EEE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Text 5"/>
          <p:cNvSpPr/>
          <p:nvPr/>
        </p:nvSpPr>
        <p:spPr>
          <a:xfrm>
            <a:off x="731520" y="3429000"/>
            <a:ext cx="3337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AF5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 використовувати: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E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 сам не впевнений, як точно сформулювати задачу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709160" y="1554480"/>
            <a:ext cx="3931920" cy="2926080"/>
          </a:xfrm>
          <a:prstGeom prst="roundRect">
            <a:avLst>
              <a:gd name="adj" fmla="val 2500"/>
            </a:avLst>
          </a:prstGeom>
          <a:solidFill>
            <a:srgbClr val="1F1E1C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0" name="Text 7"/>
          <p:cNvSpPr/>
          <p:nvPr/>
        </p:nvSpPr>
        <p:spPr>
          <a:xfrm>
            <a:off x="4910328" y="1682496"/>
            <a:ext cx="3529584" cy="1872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300" dirty="0">
                <a:solidFill>
                  <a:srgbClr val="E8E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Help me write a complete and detailed prompt that I can give to another AI, so it can analyze this sales page and suggest high-quality improvements.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366760" y="4864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AF5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ТЕХНІКА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Спочатку план, потім виконання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66928" cy="566928"/>
          </a:xfrm>
          <a:prstGeom prst="ellipse">
            <a:avLst/>
          </a:prstGeom>
          <a:solidFill>
            <a:srgbClr val="CC785C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21" y="1491021"/>
            <a:ext cx="419527" cy="4195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371600"/>
            <a:ext cx="3200401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6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Змусь модель спланувати роботу, перш ніж писати фінальний текст. Це рятує від «хорошого першого абзацу, але хаотичного цілого».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02920" y="3154680"/>
            <a:ext cx="1170432" cy="566928"/>
          </a:xfrm>
          <a:prstGeom prst="roundRect">
            <a:avLst>
              <a:gd name="adj" fmla="val 12903"/>
            </a:avLst>
          </a:prstGeom>
          <a:solidFill>
            <a:srgbClr val="F0EEE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Text 5"/>
          <p:cNvSpPr/>
          <p:nvPr/>
        </p:nvSpPr>
        <p:spPr>
          <a:xfrm>
            <a:off x="502920" y="3154680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673352" y="3154680"/>
            <a:ext cx="301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F5B42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975104" y="3154680"/>
            <a:ext cx="1170432" cy="566928"/>
          </a:xfrm>
          <a:prstGeom prst="roundRect">
            <a:avLst>
              <a:gd name="adj" fmla="val 12903"/>
            </a:avLst>
          </a:prstGeom>
          <a:solidFill>
            <a:srgbClr val="CC785C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1" name="Text 8"/>
          <p:cNvSpPr/>
          <p:nvPr/>
        </p:nvSpPr>
        <p:spPr>
          <a:xfrm>
            <a:off x="1975104" y="3154680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Твоє OK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145536" y="3154680"/>
            <a:ext cx="301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F5B42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447288" y="3154680"/>
            <a:ext cx="1170432" cy="566928"/>
          </a:xfrm>
          <a:prstGeom prst="roundRect">
            <a:avLst>
              <a:gd name="adj" fmla="val 12903"/>
            </a:avLst>
          </a:prstGeom>
          <a:solidFill>
            <a:srgbClr val="F0EEE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4" name="Text 11"/>
          <p:cNvSpPr/>
          <p:nvPr/>
        </p:nvSpPr>
        <p:spPr>
          <a:xfrm>
            <a:off x="3447288" y="3154680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Виконання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02920" y="39776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E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Практична порада: не давай моделі одразу писати фінал — спочатку структуру.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709160" y="1554480"/>
            <a:ext cx="3931920" cy="2926080"/>
          </a:xfrm>
          <a:prstGeom prst="roundRect">
            <a:avLst>
              <a:gd name="adj" fmla="val 2500"/>
            </a:avLst>
          </a:prstGeom>
          <a:solidFill>
            <a:srgbClr val="1F1E1C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7" name="Text 14"/>
          <p:cNvSpPr/>
          <p:nvPr/>
        </p:nvSpPr>
        <p:spPr>
          <a:xfrm>
            <a:off x="4910328" y="1682496"/>
            <a:ext cx="3529584" cy="1930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create a detailed step-by-step</a:t>
            </a:r>
            <a:r>
              <a:rPr lang="en-US" sz="1350" dirty="0"/>
              <a:t>  </a:t>
            </a:r>
            <a:r>
              <a:rPr lang="en-US" sz="1350" dirty="0">
                <a:solidFill>
                  <a:srgbClr val="E8E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 for this essay. Do not write the</a:t>
            </a:r>
            <a:r>
              <a:rPr lang="en-US" sz="1350" dirty="0"/>
              <a:t>. </a:t>
            </a:r>
            <a:r>
              <a:rPr lang="en-US" sz="1350" dirty="0">
                <a:solidFill>
                  <a:srgbClr val="E8E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essay yet. Wait for my approval,</a:t>
            </a:r>
            <a:r>
              <a:rPr lang="en-US" sz="1350" dirty="0"/>
              <a:t> </a:t>
            </a:r>
            <a:r>
              <a:rPr lang="en-US" sz="1350" dirty="0">
                <a:solidFill>
                  <a:srgbClr val="E8E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execute.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366760" y="4864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AF5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ТЕХНІКА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як опонент, а не виконавець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21208" y="1591056"/>
            <a:ext cx="530352" cy="530352"/>
          </a:xfrm>
          <a:prstGeom prst="ellipse">
            <a:avLst/>
          </a:prstGeom>
          <a:solidFill>
            <a:srgbClr val="CC785C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154" y="1660002"/>
            <a:ext cx="392460" cy="3924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591056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6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 me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E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проси критику, а не похвалу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21208" y="2368296"/>
            <a:ext cx="530352" cy="530352"/>
          </a:xfrm>
          <a:prstGeom prst="ellipse">
            <a:avLst/>
          </a:prstGeom>
          <a:solidFill>
            <a:srgbClr val="CC785C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154" y="2437242"/>
            <a:ext cx="392460" cy="3924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2368296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6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E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проси перевірити власну відповідь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02920" y="3063240"/>
            <a:ext cx="3611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uk-UA" sz="1300" i="1" dirty="0">
                <a:solidFill>
                  <a:srgbClr val="5E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варто уникати</a:t>
            </a:r>
            <a:r>
              <a:rPr lang="en-US" sz="1300" i="1" dirty="0">
                <a:solidFill>
                  <a:srgbClr val="5E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критики від AI — її </a:t>
            </a:r>
            <a:r>
              <a:rPr lang="uk-UA" sz="1300" i="1" dirty="0">
                <a:solidFill>
                  <a:srgbClr val="5E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варто </a:t>
            </a:r>
            <a:r>
              <a:rPr lang="en-US" sz="1300" i="1" dirty="0">
                <a:solidFill>
                  <a:srgbClr val="5E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навпаки провокувати.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709160" y="137160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1F1E1C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2" name="Text 8"/>
          <p:cNvSpPr/>
          <p:nvPr/>
        </p:nvSpPr>
        <p:spPr>
          <a:xfrm>
            <a:off x="4910328" y="1499616"/>
            <a:ext cx="35295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Grill me on this essay and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don't hold back.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709160" y="2514600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1F1E1C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4" name="Text 10"/>
          <p:cNvSpPr/>
          <p:nvPr/>
        </p:nvSpPr>
        <p:spPr>
          <a:xfrm>
            <a:off x="4910328" y="2642616"/>
            <a:ext cx="35295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 devil's advocate on my argument.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709160" y="342900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1F1E1C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6" name="Text 12"/>
          <p:cNvSpPr/>
          <p:nvPr/>
        </p:nvSpPr>
        <p:spPr>
          <a:xfrm>
            <a:off x="4910328" y="3557016"/>
            <a:ext cx="352958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 this problem, then double-check</a:t>
            </a:r>
            <a:r>
              <a:rPr lang="uk-UA" sz="1300" dirty="0"/>
              <a:t>   </a:t>
            </a:r>
            <a:r>
              <a:rPr lang="en-US" sz="1300" dirty="0">
                <a:solidFill>
                  <a:srgbClr val="E8E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own answer for logical errors</a:t>
            </a:r>
            <a:r>
              <a:rPr lang="uk-UA" sz="1300" dirty="0"/>
              <a:t>   </a:t>
            </a:r>
            <a:r>
              <a:rPr lang="en-US" sz="1300" dirty="0">
                <a:solidFill>
                  <a:srgbClr val="E8E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 missing steps.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8366760" y="4864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AF5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ТЕХНІКА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Ітерація: «Elegant Rewrite»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66928" cy="566928"/>
          </a:xfrm>
          <a:prstGeom prst="ellipse">
            <a:avLst/>
          </a:prstGeom>
          <a:solidFill>
            <a:srgbClr val="CC785C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21" y="1491021"/>
            <a:ext cx="419527" cy="4195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371600"/>
            <a:ext cx="3200401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6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редагуй посередній результат вручну — попроси модель переписати з нуля, використовуючи весь контекст розмови.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02920" y="2926080"/>
            <a:ext cx="3794760" cy="1554480"/>
          </a:xfrm>
          <a:prstGeom prst="roundRect">
            <a:avLst>
              <a:gd name="adj" fmla="val 4324"/>
            </a:avLst>
          </a:prstGeom>
          <a:solidFill>
            <a:srgbClr val="F0EEE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Text 5"/>
          <p:cNvSpPr/>
          <p:nvPr/>
        </p:nvSpPr>
        <p:spPr>
          <a:xfrm>
            <a:off x="731520" y="3108960"/>
            <a:ext cx="3337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AF5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Ключова ідея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6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Перша відповідь моделі — це чернетка, а не фінал. Ітерація дешевша за ручне редагування.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709160" y="173736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1F1E1C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0" name="Text 7"/>
          <p:cNvSpPr/>
          <p:nvPr/>
        </p:nvSpPr>
        <p:spPr>
          <a:xfrm>
            <a:off x="4910328" y="1865376"/>
            <a:ext cx="352958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Knowing everything you know now,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scrap this and give me a much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better, more elegant version.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366760" y="4864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AF5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МИСЛЕННЯ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Менше контексту — більше довіри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11447"/>
            <a:ext cx="530352" cy="530352"/>
          </a:xfrm>
          <a:prstGeom prst="ellipse">
            <a:avLst/>
          </a:prstGeom>
          <a:solidFill>
            <a:srgbClr val="CC785C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866" y="1680393"/>
            <a:ext cx="392460" cy="3924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565727"/>
            <a:ext cx="309427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26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Minimalism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E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Давай лише те, що дійсно потрібно. Стіна тексту частіше плутає модель, ніж допомагає.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2880360"/>
            <a:ext cx="530352" cy="530352"/>
          </a:xfrm>
          <a:prstGeom prst="ellipse">
            <a:avLst/>
          </a:prstGeom>
          <a:solidFill>
            <a:srgbClr val="CC785C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866" y="2949306"/>
            <a:ext cx="392460" cy="3924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70432" y="2880360"/>
            <a:ext cx="309427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26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Sparring Partner Mindset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E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 AI розумним колегою, а не слугою — це змінює якість діалогу.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709160" y="164592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1F1E1C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1" name="Text 7"/>
          <p:cNvSpPr/>
          <p:nvPr/>
        </p:nvSpPr>
        <p:spPr>
          <a:xfrm>
            <a:off x="4910328" y="1773936"/>
            <a:ext cx="3529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Let's think through this together...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4709160" y="269748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1F1E1C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3" name="Text 9"/>
          <p:cNvSpPr/>
          <p:nvPr/>
        </p:nvSpPr>
        <p:spPr>
          <a:xfrm>
            <a:off x="4910328" y="2825496"/>
            <a:ext cx="35295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would a senior expert say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about this?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709160" y="393192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5E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Обидва принципи працюють разом: менше шуму на вході, більше партнерства в діалозі.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8366760" y="4864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62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CC785C">
              <a:alpha val="18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НАПУТНЄ СЛОВО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Готові промпти на </a:t>
            </a:r>
            <a:r>
              <a:rPr lang="uk-UA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кожен день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8138160" cy="777240"/>
          </a:xfrm>
          <a:prstGeom prst="roundRect">
            <a:avLst>
              <a:gd name="adj" fmla="val 9412"/>
            </a:avLst>
          </a:prstGeom>
          <a:solidFill>
            <a:srgbClr val="33312D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my answer and grade it like a strict professor. Give me a score out of 10 and detailed feedback.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468880"/>
            <a:ext cx="8138160" cy="777240"/>
          </a:xfrm>
          <a:prstGeom prst="roundRect">
            <a:avLst>
              <a:gd name="adj" fmla="val 9412"/>
            </a:avLst>
          </a:prstGeom>
          <a:solidFill>
            <a:srgbClr val="33312D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writing the email, create a clear plan: goal, key points, tone, and structure.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30352" y="3794760"/>
            <a:ext cx="1097280" cy="0"/>
          </a:xfrm>
          <a:prstGeom prst="line">
            <a:avLst/>
          </a:prstGeom>
          <a:noFill/>
          <a:ln w="31750">
            <a:solidFill>
              <a:srgbClr val="CC785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530352" y="39319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uk-UA" sz="1300" i="1" noProof="0" dirty="0">
                <a:solidFill>
                  <a:srgbClr val="C9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Техніки змінюються — чітке мислення, специфічність, критика й ітерація залишаються.</a:t>
            </a:r>
            <a:endParaRPr lang="uk-UA" sz="13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626</Words>
  <Application>Microsoft Macintosh PowerPoint</Application>
  <PresentationFormat>On-screen Show (16:9)</PresentationFormat>
  <Paragraphs>86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Engineering</dc:title>
  <dc:subject>PptxGenJS Presentation</dc:subject>
  <dc:creator>Dmytro</dc:creator>
  <cp:lastModifiedBy>Штефан Дмитро</cp:lastModifiedBy>
  <cp:revision>4</cp:revision>
  <dcterms:created xsi:type="dcterms:W3CDTF">2026-07-05T16:49:35Z</dcterms:created>
  <dcterms:modified xsi:type="dcterms:W3CDTF">2026-07-05T17:49:00Z</dcterms:modified>
</cp:coreProperties>
</file>