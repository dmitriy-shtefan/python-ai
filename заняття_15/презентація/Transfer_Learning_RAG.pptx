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5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26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480560"/>
            <a:ext cx="1463040" cy="1463040"/>
          </a:xfrm>
          <a:prstGeom prst="ellipse">
            <a:avLst/>
          </a:prstGeom>
          <a:solidFill>
            <a:srgbClr val="26307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0" y="4831690"/>
            <a:ext cx="760781" cy="760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LLM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Learning,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Кастомізація та RAG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адаптувати велику мовну модель під свою задачу без навчання з нуля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2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2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uk-UA" sz="12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додатків з використанням </a:t>
            </a:r>
            <a:r>
              <a:rPr lang="en-US" sz="12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заняття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15709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356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vs Fine-tuning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1732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шляхи адаптації моделі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24853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350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у LLM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41732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та Instruction Tuning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" y="33997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2644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41732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Ефективне донавчання великих моделей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" y="43141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178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RAG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41732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fine-tuning для приватних даних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99" y="522853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0932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417320" y="5440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Будуємо простий RAG-асистент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«просто спитати» не завжди працює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89490" y="187452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841050" y="2134210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560" y="233172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9490" y="309433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(базова модель)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27050" y="2514600"/>
            <a:ext cx="914400" cy="91440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650" y="274320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44370" y="1874520"/>
            <a:ext cx="3454209" cy="2011680"/>
          </a:xfrm>
          <a:prstGeom prst="roundRect">
            <a:avLst>
              <a:gd name="adj" fmla="val 5455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6"/>
          <p:cNvSpPr/>
          <p:nvPr/>
        </p:nvSpPr>
        <p:spPr>
          <a:xfrm>
            <a:off x="7877514" y="2134210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024" y="2331720"/>
            <a:ext cx="427939" cy="4279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8200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Приватні дані компанії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38200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внутрішні документи, бази знань, свіжі факти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4008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Питання: 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зробити, щоб LLM відповідала на основі НАШИХ даних, а не лише того, на чому навчалась?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шляхи адаптації моделі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змінюємо вхід.  Fine-tuning — змінюємо саму модель.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5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миттєво, без перенавчання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дуже низька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застосовувати: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 задачі, експерименти, мало даних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приклади у промпті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часу на навчання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вища (GPU, дані, час)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застосовувати: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стабільна задача, багато якісних даних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донавчання на специфічному стилі/домені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у світі LLM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вже «вміє» багато — ми лише адаптуємо її під нашу задачу.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як прийняти на роботу досвідченого спеціаліста й ввести його в курс справ компанії — замість того, щоб навчати новачка з нуля.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017520" cy="2011680"/>
          </a:xfrm>
          <a:prstGeom prst="roundRect">
            <a:avLst>
              <a:gd name="adj" fmla="val 5455"/>
            </a:avLst>
          </a:prstGeom>
          <a:solidFill>
            <a:srgbClr val="2A358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828800" y="3291840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310" y="34893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 модель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навчена на величезному корпусі тексту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7088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365204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невелика кількість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нових даних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870886"/>
            <a:ext cx="285293" cy="28529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321040" y="3017520"/>
            <a:ext cx="3017520" cy="2011680"/>
          </a:xfrm>
          <a:prstGeom prst="roundRect">
            <a:avLst>
              <a:gd name="adj" fmla="val 5455"/>
            </a:avLst>
          </a:prstGeom>
          <a:solidFill>
            <a:srgbClr val="0F8B7E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0"/>
          <p:cNvSpPr/>
          <p:nvPr/>
        </p:nvSpPr>
        <p:spPr>
          <a:xfrm>
            <a:off x="9326880" y="3291840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390" y="348935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Адаптована модель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32104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F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 до конкретної задачі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Learning: навчання за зразками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прикладів прямо у промпті — без зміни ваг моделі.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11163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Класифікуй тональність: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"Сервіс просто чудовий!"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моделі: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1163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Текст: "Жахливий досвід"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Тональність: негативна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Текст: "Все сподобалось!"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Тональність: позитивна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Текст: "Сервіс просто чудовий!"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Тональність: 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ідея: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у контексті "показують" моделі формат і логіку відповіді, не змінюючи її параметри.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Tuning: донавчання на інструкціях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відміну від few-shot — тут реально змінюються ваги моделі.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1000" y="1997964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615440" y="2272284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950" y="2469794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1000" y="32781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«Сирий» 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1000" y="36255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вміє передбачати текст, але не "слухається"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701" y="2987345"/>
            <a:ext cx="261518" cy="2615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95800" y="1997964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7"/>
          <p:cNvSpPr/>
          <p:nvPr/>
        </p:nvSpPr>
        <p:spPr>
          <a:xfrm>
            <a:off x="5730240" y="2272284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750" y="2469794"/>
            <a:ext cx="427939" cy="4279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5800" y="32781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інструкцій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495800" y="36255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 (інструкція → бажана відповідь)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501" y="2987345"/>
            <a:ext cx="261518" cy="26151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610600" y="1997964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0F8B7E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1"/>
          <p:cNvSpPr/>
          <p:nvPr/>
        </p:nvSpPr>
        <p:spPr>
          <a:xfrm>
            <a:off x="9845040" y="2272284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550" y="2469794"/>
            <a:ext cx="427939" cy="42793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10600" y="32781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Слухняний асистент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8610600" y="36255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F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розуміє і виконує запити користувача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55320" y="5093208"/>
            <a:ext cx="1026620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інструкції:  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"Поясни різницю між списком і кортежем у Python для початківця" → детальна, ввічлива відповідь з прикладом коду.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LoRA: ефективне донавчання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повне fine-tuning — дорого і важко (мільярди параметрів).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406924" cy="3291840"/>
          </a:xfrm>
          <a:prstGeom prst="roundRect">
            <a:avLst>
              <a:gd name="adj" fmla="val 3333"/>
            </a:avLst>
          </a:prstGeom>
          <a:solidFill>
            <a:srgbClr val="EEF1FA"/>
          </a:solidFill>
          <a:ln w="19050">
            <a:solidFill>
              <a:srgbClr val="B7C2E8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1887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3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Заморожена базова модель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29260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мільярди параметрів — НЕ оновлюються під час донавчання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62614" y="38862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5EEAD4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4462614" y="3977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97040" y="182880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7162800" y="210312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 LoRA: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Заморожуємо базову модель і додаємо маленькі навчані матриці-адаптери лише в окремих шарах.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Аналогія: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переписуємо весь підручник — додаємо стікери-нотатки на полях.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6558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донавчання у сотні разів дешевше за повний fine-tuning, при цьому якість зберігається.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вчимо модель — підкладаємо їй потрібну інформацію в момент запиту.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22329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598" y="262432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03220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6"/>
          <p:cNvSpPr/>
          <p:nvPr/>
        </p:nvSpPr>
        <p:spPr>
          <a:xfrm>
            <a:off x="3406140" y="2057400"/>
            <a:ext cx="731520" cy="73152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705" y="2232965"/>
            <a:ext cx="380390" cy="3803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0322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у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458" y="262432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12080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9"/>
          <p:cNvSpPr/>
          <p:nvPr/>
        </p:nvSpPr>
        <p:spPr>
          <a:xfrm>
            <a:off x="5715000" y="2057400"/>
            <a:ext cx="731520" cy="73152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565" y="2232965"/>
            <a:ext cx="380390" cy="3803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фрагменти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318" y="262432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520940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0F8B7E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2"/>
          <p:cNvSpPr/>
          <p:nvPr/>
        </p:nvSpPr>
        <p:spPr>
          <a:xfrm>
            <a:off x="8023860" y="2057400"/>
            <a:ext cx="731520" cy="73152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425" y="2232965"/>
            <a:ext cx="380390" cy="38039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52094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178" y="262432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829800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15"/>
          <p:cNvSpPr/>
          <p:nvPr/>
        </p:nvSpPr>
        <p:spPr>
          <a:xfrm>
            <a:off x="10332720" y="2057400"/>
            <a:ext cx="731520" cy="73152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8285" y="2232965"/>
            <a:ext cx="380390" cy="38039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82980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</a:t>
            </a:r>
            <a:endParaRPr lang="en-US" sz="1150" dirty="0"/>
          </a:p>
        </p:txBody>
      </p:sp>
      <p:sp>
        <p:nvSpPr>
          <p:cNvPr id="28" name="Shape 17"/>
          <p:cNvSpPr/>
          <p:nvPr/>
        </p:nvSpPr>
        <p:spPr>
          <a:xfrm>
            <a:off x="640080" y="4160520"/>
            <a:ext cx="10881360" cy="1241755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18"/>
          <p:cNvSpPr/>
          <p:nvPr/>
        </p:nvSpPr>
        <p:spPr>
          <a:xfrm>
            <a:off x="914400" y="4297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база, де документи зберігаються як embeddings (числові вектори), що відображають їхній зміст.
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знаходимо фрагменти, найбільш близькі за змістом до запиту, і додаємо їх у промпт перед відправкою в LLM.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Fine-tuning / LoRA: коли що обирати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3891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/ LoRA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Оновлення даних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Миттєве — просто оновити базу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Потрібне повторне навчання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Вартість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Низька (embedding + пошук)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Вища (GPU, час, дані)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Складність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Помірна (інфраструктура пошуку)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Вища (підготовка датасету, навчання)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Приватні дані, бази знань, FAQ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Зміна стилю/поведінки, вузька спеціалізація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Прозорість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Можна показати джерело відповіді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«Чорна скриня» — джерело не видно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будуємо простий RAG-асистент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726678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Підготувати джерело даних (текстові файли / документи)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Розбити текст на чанки (chunking)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Створити embeddings і зберегти у векторну базу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На запит користувача знайти релевантні чанки (similarity search)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Сформувати промпт з контекстом і відправити в LLM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0" y="13258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11163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172200" y="15087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SentenceTransformer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SentenceTransformer('all-MiniLM-L6-v2')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split_into_chunks(document_text)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= model.encode(chunks)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retrieve(query, k=3):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q_emb = model.encode([query])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sims = cosine_similarity(q_emb, embeddings)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[chunks[i] for i in sims.argsort()[-k:]]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'\n'.join(retrieve(user_question))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f'Контекст:\n{context}\n\nПитання: {user_question}'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підставляється в межах Context Window моделі — це і є практичний приклад «промптингу з контекстом» без донавчання.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 та домашнє завдання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9385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036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2880360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3852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16636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6"/>
          <p:cNvSpPr/>
          <p:nvPr/>
        </p:nvSpPr>
        <p:spPr>
          <a:xfrm>
            <a:off x="5166360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938528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45236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8"/>
          <p:cNvSpPr/>
          <p:nvPr/>
        </p:nvSpPr>
        <p:spPr>
          <a:xfrm>
            <a:off x="7452360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193852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73836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8B7E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0"/>
          <p:cNvSpPr/>
          <p:nvPr/>
        </p:nvSpPr>
        <p:spPr>
          <a:xfrm>
            <a:off x="9738360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29260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6307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2"/>
          <p:cNvSpPr/>
          <p:nvPr/>
        </p:nvSpPr>
        <p:spPr>
          <a:xfrm>
            <a:off x="914400" y="3200400"/>
            <a:ext cx="822960" cy="822960"/>
          </a:xfrm>
          <a:prstGeom prst="ellipse">
            <a:avLst/>
          </a:prstGeom>
          <a:solidFill>
            <a:srgbClr val="151B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" y="3397910"/>
            <a:ext cx="427939" cy="42793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011680" y="3108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завдання:
</a:t>
            </a:r>
            <a:endParaRPr lang="en-US" sz="1600" dirty="0"/>
          </a:p>
          <a:p>
            <a:r>
              <a:rPr lang="ru-RU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Закріпити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zero-shot, few-shot </a:t>
            </a:r>
            <a:r>
              <a:rPr lang="ru-RU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</a:t>
            </a:r>
            <a:r>
              <a:rPr lang="ru-RU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прикладн</a:t>
            </a:r>
            <a:r>
              <a:rPr lang="uk-UA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ій</a:t>
            </a:r>
            <a:r>
              <a:rPr lang="ru-RU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задачі з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4008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підхід обрати?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" y="4915968"/>
            <a:ext cx="10515600" cy="10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часто змінюються →  </a:t>
            </a: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Потрібен інший стиль/поведінка →  </a:t>
            </a: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Fine-tuning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експеримент, мало часу →  </a:t>
            </a: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/ Few-shot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Кастомізація та RAG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5893</TotalTime>
  <Words>978</Words>
  <Application>Microsoft Macintosh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Learning, Кастомізація та RAG</dc:title>
  <dc:subject>PptxGenJS Presentation</dc:subject>
  <dc:creator>Dmytro</dc:creator>
  <cp:lastModifiedBy>Штефан Дмитро</cp:lastModifiedBy>
  <cp:revision>4</cp:revision>
  <dcterms:created xsi:type="dcterms:W3CDTF">2026-06-28T18:46:09Z</dcterms:created>
  <dcterms:modified xsi:type="dcterms:W3CDTF">2026-07-02T21:09:54Z</dcterms:modified>
</cp:coreProperties>
</file>