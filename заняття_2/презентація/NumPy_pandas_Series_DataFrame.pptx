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68"/>
    <p:restoredTop sz="94610"/>
  </p:normalViewPr>
  <p:slideViewPr>
    <p:cSldViewPr snapToGrid="0" snapToObjects="1">
      <p:cViewPr>
        <p:scale>
          <a:sx n="200" d="100"/>
          <a:sy n="200" d="100"/>
        </p:scale>
        <p:origin x="136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4090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1: Привітайте студентів. Нагадайте, що минулого разу говорили про концепції — сьогодні вперше пишемо реальний код з даними.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3: Покажіть де ми знаходимося в загальному пайплайні. Перші два кроки — сьогоднішня тема. Кроки 3-5 — майбутні заняття.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4: Покажіть живий приклад в Jupyter. Створіть список, спробуйте list*2 — студенти побачать дублювання. Потім np.array*2 — вони побачать різницю. Це WOW-момент заняття.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5: Поясніть shape як 'розмір таблиці'. (4,) = один рядок з 4 елементів, (2,3) = 2 рядки 3 колонки. Це надважливо для ML — більшість помилок у розмірності.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6: Запитайте хто вміє Excel. Поясніть: якщо вмієш Excel — зрозумієш pandas швидше. Головна відмінність — автоматизація і масштаб.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7: Ключова метафора: Series — один стовпець Excel, DataFrame — цілий аркуш. DataFrame = колекція Series з однаковим індексом.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8: Покажіть що відбувається коли вибираєш одну колонку — виходить Series. Дві колонки у списку — виходить DataFrame. Це надважливо для ML де X і y — різні типи.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9: Покажіть живо обидва способи. Зверніть увагу: ключі словника = назви колонок. Це інтуїтивно якщо розуміти словники Python.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10: Завантажте реальний CSV в Jupyter і покажіть результат. Можна використати titanic.csv або будь-який публічний датасет. Студенти мають побачити що 1 рядок коду = таблиця.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11: Це найперші команди після завантаження даних — рефлекс дата-сайнтиста. Запитайте: яку першу команду ви запустите після pd.read_csv()? Відповідь: .head()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12: describe() — це перша статистика. Зверніть увагу на mean vs median (50%): якщо сильно відрізняються — є викиди. info() показує кількість non-null — це перший сигнал про пропуски.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13: Фільтрація — найчастіша операція в EDA. Поясніть булеву маску: df['площа'] &gt; 80 повертає True/False для кожного рядка, а df[маска] бере тільки рядки де True. Це логіка, не магія!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14: Завершіть типовим workflow: read_csv → head → info → describe → фільтри. Це рефлекс дата-сайнтиста. Домашнє завдання: завантажити titanic.csv і виконати повний перший аналіз.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4"/>
          <p:cNvSpPr/>
          <p:nvPr/>
        </p:nvSpPr>
        <p:spPr>
          <a:xfrm>
            <a:off x="457200" y="475488"/>
            <a:ext cx="457200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7" name="Text 25"/>
          <p:cNvSpPr/>
          <p:nvPr/>
        </p:nvSpPr>
        <p:spPr>
          <a:xfrm>
            <a:off x="457200" y="47548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Створення AI додатків з використанням Python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7200" y="1234440"/>
            <a:ext cx="5943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NumPy, pandas,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і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</a:t>
            </a:r>
            <a:endParaRPr lang="en-US" sz="4000" dirty="0"/>
          </a:p>
        </p:txBody>
      </p:sp>
      <p:sp>
        <p:nvSpPr>
          <p:cNvPr id="31" name="Text 29"/>
          <p:cNvSpPr/>
          <p:nvPr/>
        </p:nvSpPr>
        <p:spPr>
          <a:xfrm>
            <a:off x="457200" y="4251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1300" dirty="0">
                <a:solidFill>
                  <a:srgbClr val="14B8A6"/>
                </a:solidFill>
              </a:rPr>
              <a:t>Заняття</a:t>
            </a:r>
            <a:r>
              <a:rPr lang="en-US" sz="1300" dirty="0">
                <a:solidFill>
                  <a:srgbClr val="14B8A6"/>
                </a:solidFill>
              </a:rPr>
              <a:t> 2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121945" y="438912"/>
            <a:ext cx="822960" cy="438912"/>
          </a:xfrm>
          <a:prstGeom prst="rect">
            <a:avLst/>
          </a:prstGeom>
          <a:solidFill>
            <a:srgbClr val="0D9488">
              <a:alpha val="30000"/>
            </a:srgbClr>
          </a:solidFill>
          <a:ln w="1016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3" name="Text 31"/>
          <p:cNvSpPr/>
          <p:nvPr/>
        </p:nvSpPr>
        <p:spPr>
          <a:xfrm>
            <a:off x="6121945" y="438912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85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121945" y="914400"/>
            <a:ext cx="822960" cy="438912"/>
          </a:xfrm>
          <a:prstGeom prst="rect">
            <a:avLst/>
          </a:prstGeom>
          <a:solidFill>
            <a:srgbClr val="0D9488">
              <a:alpha val="27000"/>
            </a:srgbClr>
          </a:solidFill>
          <a:ln w="1016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5" name="Text 33"/>
          <p:cNvSpPr/>
          <p:nvPr/>
        </p:nvSpPr>
        <p:spPr>
          <a:xfrm>
            <a:off x="6121945" y="914400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55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121945" y="1389888"/>
            <a:ext cx="822960" cy="438912"/>
          </a:xfrm>
          <a:prstGeom prst="rect">
            <a:avLst/>
          </a:prstGeom>
          <a:solidFill>
            <a:srgbClr val="0D9488">
              <a:alpha val="24000"/>
            </a:srgbClr>
          </a:solidFill>
          <a:ln w="1016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7" name="Text 35"/>
          <p:cNvSpPr/>
          <p:nvPr/>
        </p:nvSpPr>
        <p:spPr>
          <a:xfrm>
            <a:off x="6121945" y="1389888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120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121945" y="1865376"/>
            <a:ext cx="822960" cy="438912"/>
          </a:xfrm>
          <a:prstGeom prst="rect">
            <a:avLst/>
          </a:prstGeom>
          <a:solidFill>
            <a:srgbClr val="0D9488">
              <a:alpha val="21000"/>
            </a:srgbClr>
          </a:solidFill>
          <a:ln w="1016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9" name="Text 37"/>
          <p:cNvSpPr/>
          <p:nvPr/>
        </p:nvSpPr>
        <p:spPr>
          <a:xfrm>
            <a:off x="6121945" y="1865376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72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121945" y="2340864"/>
            <a:ext cx="822960" cy="438912"/>
          </a:xfrm>
          <a:prstGeom prst="rect">
            <a:avLst/>
          </a:prstGeom>
          <a:solidFill>
            <a:srgbClr val="0D9488">
              <a:alpha val="18000"/>
            </a:srgbClr>
          </a:solidFill>
          <a:ln w="1016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1" name="Text 39"/>
          <p:cNvSpPr/>
          <p:nvPr/>
        </p:nvSpPr>
        <p:spPr>
          <a:xfrm>
            <a:off x="6121945" y="2340864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98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990625" y="126187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4B8A6"/>
                </a:solidFill>
              </a:rPr>
              <a:t>NumPy</a:t>
            </a:r>
            <a:endParaRPr lang="en-US" sz="9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4B8A6"/>
                </a:solidFill>
              </a:rPr>
              <a:t>array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121945" y="3241549"/>
            <a:ext cx="91440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4" name="Text 42"/>
          <p:cNvSpPr/>
          <p:nvPr/>
        </p:nvSpPr>
        <p:spPr>
          <a:xfrm>
            <a:off x="6121945" y="3241549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0A00"/>
                </a:solidFill>
              </a:rPr>
              <a:t>площа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7036345" y="3241549"/>
            <a:ext cx="91440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6" name="Text 44"/>
          <p:cNvSpPr/>
          <p:nvPr/>
        </p:nvSpPr>
        <p:spPr>
          <a:xfrm>
            <a:off x="7036345" y="3241549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0A00"/>
                </a:solidFill>
              </a:rPr>
              <a:t>ціна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121945" y="3515869"/>
            <a:ext cx="914400" cy="256032"/>
          </a:xfrm>
          <a:prstGeom prst="rect">
            <a:avLst/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8" name="Text 46"/>
          <p:cNvSpPr/>
          <p:nvPr/>
        </p:nvSpPr>
        <p:spPr>
          <a:xfrm>
            <a:off x="6121945" y="3515869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85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7036345" y="3515869"/>
            <a:ext cx="914400" cy="256032"/>
          </a:xfrm>
          <a:prstGeom prst="rect">
            <a:avLst/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0" name="Text 48"/>
          <p:cNvSpPr/>
          <p:nvPr/>
        </p:nvSpPr>
        <p:spPr>
          <a:xfrm>
            <a:off x="7036345" y="3515869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120k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121945" y="3771901"/>
            <a:ext cx="914400" cy="256032"/>
          </a:xfrm>
          <a:prstGeom prst="rect">
            <a:avLst/>
          </a:prstGeom>
          <a:solidFill>
            <a:srgbClr val="1A2740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2" name="Text 50"/>
          <p:cNvSpPr/>
          <p:nvPr/>
        </p:nvSpPr>
        <p:spPr>
          <a:xfrm>
            <a:off x="6121945" y="3771901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55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7036345" y="3771901"/>
            <a:ext cx="914400" cy="256032"/>
          </a:xfrm>
          <a:prstGeom prst="rect">
            <a:avLst/>
          </a:prstGeom>
          <a:solidFill>
            <a:srgbClr val="1A2740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4" name="Text 52"/>
          <p:cNvSpPr/>
          <p:nvPr/>
        </p:nvSpPr>
        <p:spPr>
          <a:xfrm>
            <a:off x="7036345" y="3771901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72k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7996465" y="3332989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59E0B"/>
                </a:solidFill>
              </a:rPr>
              <a:t>pandas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59E0B"/>
                </a:solidFill>
              </a:rPr>
              <a:t>DataFrame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Шлях даних у Data Science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3657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1554480" cy="2926080"/>
          </a:xfrm>
          <a:prstGeom prst="rect">
            <a:avLst/>
          </a:prstGeom>
          <a:solidFill>
            <a:srgbClr val="1E293B"/>
          </a:solidFill>
          <a:ln w="2286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155448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320040" y="914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12801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</a:rPr>
              <a:t>📁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173736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Сирі дані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487168"/>
            <a:ext cx="1280160" cy="0"/>
          </a:xfrm>
          <a:prstGeom prst="line">
            <a:avLst/>
          </a:prstGeom>
          <a:noFill/>
          <a:ln w="6350">
            <a:solidFill>
              <a:srgbClr val="0D948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365760" y="2560320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CSV, JSON,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SQL, API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965960" y="914400"/>
            <a:ext cx="1554480" cy="2926080"/>
          </a:xfrm>
          <a:prstGeom prst="rect">
            <a:avLst/>
          </a:prstGeom>
          <a:solidFill>
            <a:srgbClr val="1E293B"/>
          </a:solidFill>
          <a:ln w="2286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Shape 11"/>
          <p:cNvSpPr/>
          <p:nvPr/>
        </p:nvSpPr>
        <p:spPr>
          <a:xfrm>
            <a:off x="1965960" y="914400"/>
            <a:ext cx="1554480" cy="320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1965960" y="914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965960" y="12801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</a:rPr>
              <a:t>🧹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011680" y="173736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Завантаження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та огляд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103120" y="2487168"/>
            <a:ext cx="1280160" cy="0"/>
          </a:xfrm>
          <a:prstGeom prst="line">
            <a:avLst/>
          </a:prstGeom>
          <a:noFill/>
          <a:ln w="6350">
            <a:solidFill>
              <a:srgbClr val="2563E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Text 16"/>
          <p:cNvSpPr/>
          <p:nvPr/>
        </p:nvSpPr>
        <p:spPr>
          <a:xfrm>
            <a:off x="2011680" y="2560320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pd.read_csv()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11880" y="914400"/>
            <a:ext cx="1554480" cy="2926080"/>
          </a:xfrm>
          <a:prstGeom prst="rect">
            <a:avLst/>
          </a:prstGeom>
          <a:solidFill>
            <a:srgbClr val="1E293B"/>
          </a:solidFill>
          <a:ln w="889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Shape 19"/>
          <p:cNvSpPr/>
          <p:nvPr/>
        </p:nvSpPr>
        <p:spPr>
          <a:xfrm>
            <a:off x="3611880" y="914400"/>
            <a:ext cx="1554480" cy="320040"/>
          </a:xfrm>
          <a:prstGeom prst="rect">
            <a:avLst/>
          </a:prstGeom>
          <a:solidFill>
            <a:srgbClr val="7C3AED">
              <a:alpha val="60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2" name="Text 20"/>
          <p:cNvSpPr/>
          <p:nvPr/>
        </p:nvSpPr>
        <p:spPr>
          <a:xfrm>
            <a:off x="3611880" y="914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11880" y="12801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</a:rPr>
              <a:t>🔧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657600" y="173736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</a:rPr>
              <a:t>Очищення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</a:rPr>
              <a:t>(Clean)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749040" y="2487168"/>
            <a:ext cx="1280160" cy="0"/>
          </a:xfrm>
          <a:prstGeom prst="line">
            <a:avLst/>
          </a:prstGeom>
          <a:noFill/>
          <a:ln w="6350">
            <a:solidFill>
              <a:srgbClr val="7C3AED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6" name="Text 24"/>
          <p:cNvSpPr/>
          <p:nvPr/>
        </p:nvSpPr>
        <p:spPr>
          <a:xfrm>
            <a:off x="3657600" y="2560320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dropna()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fillna()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257800" y="914400"/>
            <a:ext cx="1554480" cy="2926080"/>
          </a:xfrm>
          <a:prstGeom prst="rect">
            <a:avLst/>
          </a:prstGeom>
          <a:solidFill>
            <a:srgbClr val="1E293B"/>
          </a:solidFill>
          <a:ln w="889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9" name="Shape 27"/>
          <p:cNvSpPr/>
          <p:nvPr/>
        </p:nvSpPr>
        <p:spPr>
          <a:xfrm>
            <a:off x="5257800" y="914400"/>
            <a:ext cx="1554480" cy="320040"/>
          </a:xfrm>
          <a:prstGeom prst="rect">
            <a:avLst/>
          </a:prstGeom>
          <a:solidFill>
            <a:srgbClr val="DB2777">
              <a:alpha val="60000"/>
            </a:srgbClr>
          </a:solidFill>
          <a:ln w="127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0" name="Text 28"/>
          <p:cNvSpPr/>
          <p:nvPr/>
        </p:nvSpPr>
        <p:spPr>
          <a:xfrm>
            <a:off x="5257800" y="914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257800" y="12801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</a:rPr>
              <a:t>📊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303520" y="173736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</a:rPr>
              <a:t>Аналіз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</a:rPr>
              <a:t>(EDA)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394960" y="2487168"/>
            <a:ext cx="1280160" cy="0"/>
          </a:xfrm>
          <a:prstGeom prst="line">
            <a:avLst/>
          </a:prstGeom>
          <a:noFill/>
          <a:ln w="6350">
            <a:solidFill>
              <a:srgbClr val="DB2777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4" name="Text 32"/>
          <p:cNvSpPr/>
          <p:nvPr/>
        </p:nvSpPr>
        <p:spPr>
          <a:xfrm>
            <a:off x="5303520" y="2560320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groupby()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plot()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903720" y="914400"/>
            <a:ext cx="1554480" cy="2926080"/>
          </a:xfrm>
          <a:prstGeom prst="rect">
            <a:avLst/>
          </a:prstGeom>
          <a:solidFill>
            <a:srgbClr val="1E293B"/>
          </a:solidFill>
          <a:ln w="889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7" name="Shape 35"/>
          <p:cNvSpPr/>
          <p:nvPr/>
        </p:nvSpPr>
        <p:spPr>
          <a:xfrm>
            <a:off x="6903720" y="914400"/>
            <a:ext cx="1554480" cy="320040"/>
          </a:xfrm>
          <a:prstGeom prst="rect">
            <a:avLst/>
          </a:prstGeom>
          <a:solidFill>
            <a:srgbClr val="F59E0B">
              <a:alpha val="6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8" name="Text 36"/>
          <p:cNvSpPr/>
          <p:nvPr/>
        </p:nvSpPr>
        <p:spPr>
          <a:xfrm>
            <a:off x="6903720" y="914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903720" y="12801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</a:rPr>
              <a:t>🤖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6949440" y="173736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</a:rPr>
              <a:t>Модель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</a:rPr>
              <a:t>(ML)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7040880" y="2487168"/>
            <a:ext cx="1280160" cy="0"/>
          </a:xfrm>
          <a:prstGeom prst="line">
            <a:avLst/>
          </a:prstGeom>
          <a:noFill/>
          <a:ln w="6350">
            <a:solidFill>
              <a:srgbClr val="F59E0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2" name="Text 40"/>
          <p:cNvSpPr/>
          <p:nvPr/>
        </p:nvSpPr>
        <p:spPr>
          <a:xfrm>
            <a:off x="6949440" y="2560320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sklearn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fit / predict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20040" y="4005072"/>
            <a:ext cx="320040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4" name="Text 42"/>
          <p:cNvSpPr/>
          <p:nvPr/>
        </p:nvSpPr>
        <p:spPr>
          <a:xfrm>
            <a:off x="320040" y="40050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📍 Ми тут сьогодні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611880" y="4005072"/>
            <a:ext cx="4846320" cy="274320"/>
          </a:xfrm>
          <a:prstGeom prst="rect">
            <a:avLst/>
          </a:prstGeom>
          <a:solidFill>
            <a:srgbClr val="1A2740"/>
          </a:solidFill>
          <a:ln w="63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6" name="Text 44"/>
          <p:cNvSpPr/>
          <p:nvPr/>
        </p:nvSpPr>
        <p:spPr>
          <a:xfrm>
            <a:off x="3611880" y="400507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Наступні заняття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Навіщо потрібен NumPy: масиви замість списків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5943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4023360" cy="32004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❌  Python список (list)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4023360" cy="17830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502920" y="1243584"/>
            <a:ext cx="3749040" cy="1636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prices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[</a:t>
            </a:r>
            <a:r>
              <a:rPr lang="en-US" sz="9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85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9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9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120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Помножити на 2 — ТАК НЕ ВИЙДЕ: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prices * 2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B2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[85, 55, 120, 85, 55, 120]  ← дублює!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Доводиться писати цикл: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9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* 2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for x in prices]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54880" y="804672"/>
            <a:ext cx="402336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4754880" y="80467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✅  NumPy масив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170432"/>
            <a:ext cx="4023360" cy="17830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4892040" y="1243584"/>
            <a:ext cx="3749040" cy="1636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numpy </a:t>
            </a: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np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prices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np.</a:t>
            </a:r>
            <a:r>
              <a:rPr lang="en-US" sz="9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([</a:t>
            </a:r>
            <a:r>
              <a:rPr lang="en-US" sz="9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85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9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9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120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prices * 2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array([170, 110, 240])  ← векторно!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prices + </a:t>
            </a:r>
            <a:r>
              <a:rPr lang="en-US" sz="9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[95, 65, 130]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3127248"/>
            <a:ext cx="2011680" cy="1719072"/>
          </a:xfrm>
          <a:prstGeom prst="rect">
            <a:avLst/>
          </a:prstGeom>
          <a:solidFill>
            <a:srgbClr val="1E293B"/>
          </a:solidFill>
          <a:ln w="1524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Shape 11"/>
          <p:cNvSpPr/>
          <p:nvPr/>
        </p:nvSpPr>
        <p:spPr>
          <a:xfrm>
            <a:off x="365760" y="3127248"/>
            <a:ext cx="201168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365760" y="312724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Швидкість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456432"/>
            <a:ext cx="182880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У 10–100× швидший за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Python цикли (C під капотом)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514600" y="3127248"/>
            <a:ext cx="2011680" cy="1719072"/>
          </a:xfrm>
          <a:prstGeom prst="rect">
            <a:avLst/>
          </a:prstGeom>
          <a:solidFill>
            <a:srgbClr val="1E293B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Shape 15"/>
          <p:cNvSpPr/>
          <p:nvPr/>
        </p:nvSpPr>
        <p:spPr>
          <a:xfrm>
            <a:off x="2514600" y="3127248"/>
            <a:ext cx="2011680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Text 16"/>
          <p:cNvSpPr/>
          <p:nvPr/>
        </p:nvSpPr>
        <p:spPr>
          <a:xfrm>
            <a:off x="2514600" y="312724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Векторні операції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606040" y="3456432"/>
            <a:ext cx="182880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Математика над масивами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як над одним числом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3127248"/>
            <a:ext cx="2011680" cy="1719072"/>
          </a:xfrm>
          <a:prstGeom prst="rect">
            <a:avLst/>
          </a:prstGeom>
          <a:solidFill>
            <a:srgbClr val="1E293B"/>
          </a:solidFill>
          <a:ln w="1524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Shape 19"/>
          <p:cNvSpPr/>
          <p:nvPr/>
        </p:nvSpPr>
        <p:spPr>
          <a:xfrm>
            <a:off x="4663440" y="3127248"/>
            <a:ext cx="201168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2" name="Text 20"/>
          <p:cNvSpPr/>
          <p:nvPr/>
        </p:nvSpPr>
        <p:spPr>
          <a:xfrm>
            <a:off x="4663440" y="312724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Основа sklearn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3456432"/>
            <a:ext cx="182880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sklearn, TensorFlow,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pandas — усе на NumPy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812280" y="3127248"/>
            <a:ext cx="2011680" cy="1719072"/>
          </a:xfrm>
          <a:prstGeom prst="rect">
            <a:avLst/>
          </a:prstGeom>
          <a:solidFill>
            <a:srgbClr val="1E293B"/>
          </a:solidFill>
          <a:ln w="1524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5" name="Shape 23"/>
          <p:cNvSpPr/>
          <p:nvPr/>
        </p:nvSpPr>
        <p:spPr>
          <a:xfrm>
            <a:off x="6812280" y="3127248"/>
            <a:ext cx="201168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6" name="Text 24"/>
          <p:cNvSpPr/>
          <p:nvPr/>
        </p:nvSpPr>
        <p:spPr>
          <a:xfrm>
            <a:off x="6812280" y="312724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Менше коду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903720" y="3456432"/>
            <a:ext cx="182880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prices.mean() замість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sum(p)/len(prices)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Векторні операції та shape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32004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Математика без циклів: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4572000" cy="33375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502920" y="1243584"/>
            <a:ext cx="4297680" cy="3191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numpy </a:t>
            </a: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np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np.</a:t>
            </a:r>
            <a:r>
              <a:rPr lang="en-US" sz="9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([</a:t>
            </a:r>
            <a:r>
              <a:rPr lang="en-US" sz="9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9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9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9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np.</a:t>
            </a:r>
            <a:r>
              <a:rPr lang="en-US" sz="9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([</a:t>
            </a:r>
            <a:r>
              <a:rPr lang="en-US" sz="9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9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9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9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+ b   </a:t>
            </a: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[11, 22, 33, 44]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* b   </a:t>
            </a: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[10, 40, 90, 160]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** </a:t>
            </a:r>
            <a:r>
              <a:rPr lang="en-US" sz="9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[ 1,  4,  9, 16]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</a:t>
            </a:r>
            <a:r>
              <a:rPr lang="en-US" sz="9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sqrt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(a) </a:t>
            </a: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[1.0, 1.41, 1.73, 2.0]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a.mean(), a.sum(), a.max()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2.5,  10,  4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120640" y="8229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Розмірність (shape):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120640" y="11887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1D масив — вектор: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120640" y="1481328"/>
            <a:ext cx="749808" cy="411480"/>
          </a:xfrm>
          <a:prstGeom prst="rect">
            <a:avLst/>
          </a:prstGeom>
          <a:solidFill>
            <a:srgbClr val="0D9488">
              <a:alpha val="35000"/>
            </a:srgbClr>
          </a:solidFill>
          <a:ln w="1016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5120640" y="1481328"/>
            <a:ext cx="749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10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25312" y="1481328"/>
            <a:ext cx="749808" cy="411480"/>
          </a:xfrm>
          <a:prstGeom prst="rect">
            <a:avLst/>
          </a:prstGeom>
          <a:solidFill>
            <a:srgbClr val="0D9488">
              <a:alpha val="35000"/>
            </a:srgbClr>
          </a:solidFill>
          <a:ln w="1016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5925312" y="1481328"/>
            <a:ext cx="749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20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29984" y="1481328"/>
            <a:ext cx="749808" cy="411480"/>
          </a:xfrm>
          <a:prstGeom prst="rect">
            <a:avLst/>
          </a:prstGeom>
          <a:solidFill>
            <a:srgbClr val="0D9488">
              <a:alpha val="35000"/>
            </a:srgbClr>
          </a:solidFill>
          <a:ln w="1016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6729984" y="1481328"/>
            <a:ext cx="749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30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534656" y="1481328"/>
            <a:ext cx="749808" cy="411480"/>
          </a:xfrm>
          <a:prstGeom prst="rect">
            <a:avLst/>
          </a:prstGeom>
          <a:solidFill>
            <a:srgbClr val="0D9488">
              <a:alpha val="35000"/>
            </a:srgbClr>
          </a:solidFill>
          <a:ln w="1016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7534656" y="1481328"/>
            <a:ext cx="749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40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120640" y="1938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shape: (4,)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120640" y="23317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2D масив — матриця: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120640" y="2633472"/>
            <a:ext cx="676656" cy="393192"/>
          </a:xfrm>
          <a:prstGeom prst="rect">
            <a:avLst/>
          </a:prstGeom>
          <a:solidFill>
            <a:srgbClr val="2563EB">
              <a:alpha val="28000"/>
            </a:srgbClr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Text 18"/>
          <p:cNvSpPr/>
          <p:nvPr/>
        </p:nvSpPr>
        <p:spPr>
          <a:xfrm>
            <a:off x="5120640" y="2633472"/>
            <a:ext cx="6766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852160" y="2633472"/>
            <a:ext cx="676656" cy="393192"/>
          </a:xfrm>
          <a:prstGeom prst="rect">
            <a:avLst/>
          </a:prstGeom>
          <a:solidFill>
            <a:srgbClr val="2563EB">
              <a:alpha val="28000"/>
            </a:srgbClr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2" name="Text 20"/>
          <p:cNvSpPr/>
          <p:nvPr/>
        </p:nvSpPr>
        <p:spPr>
          <a:xfrm>
            <a:off x="5852160" y="2633472"/>
            <a:ext cx="6766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583680" y="2633472"/>
            <a:ext cx="676656" cy="393192"/>
          </a:xfrm>
          <a:prstGeom prst="rect">
            <a:avLst/>
          </a:prstGeom>
          <a:solidFill>
            <a:srgbClr val="2563EB">
              <a:alpha val="28000"/>
            </a:srgbClr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4" name="Text 22"/>
          <p:cNvSpPr/>
          <p:nvPr/>
        </p:nvSpPr>
        <p:spPr>
          <a:xfrm>
            <a:off x="6583680" y="2633472"/>
            <a:ext cx="6766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120640" y="3072384"/>
            <a:ext cx="676656" cy="393192"/>
          </a:xfrm>
          <a:prstGeom prst="rect">
            <a:avLst/>
          </a:prstGeom>
          <a:solidFill>
            <a:srgbClr val="2563EB">
              <a:alpha val="28000"/>
            </a:srgbClr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6" name="Text 24"/>
          <p:cNvSpPr/>
          <p:nvPr/>
        </p:nvSpPr>
        <p:spPr>
          <a:xfrm>
            <a:off x="5120640" y="3072384"/>
            <a:ext cx="6766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852160" y="3072384"/>
            <a:ext cx="676656" cy="393192"/>
          </a:xfrm>
          <a:prstGeom prst="rect">
            <a:avLst/>
          </a:prstGeom>
          <a:solidFill>
            <a:srgbClr val="2563EB">
              <a:alpha val="28000"/>
            </a:srgbClr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8" name="Text 26"/>
          <p:cNvSpPr/>
          <p:nvPr/>
        </p:nvSpPr>
        <p:spPr>
          <a:xfrm>
            <a:off x="5852160" y="3072384"/>
            <a:ext cx="6766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583680" y="3072384"/>
            <a:ext cx="676656" cy="393192"/>
          </a:xfrm>
          <a:prstGeom prst="rect">
            <a:avLst/>
          </a:prstGeom>
          <a:solidFill>
            <a:srgbClr val="2563EB">
              <a:alpha val="28000"/>
            </a:srgbClr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0" name="Text 28"/>
          <p:cNvSpPr/>
          <p:nvPr/>
        </p:nvSpPr>
        <p:spPr>
          <a:xfrm>
            <a:off x="6583680" y="3072384"/>
            <a:ext cx="6766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20640" y="35478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shape: (2, 3)  ← 2 рядки, 3 стовпці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120640" y="3858768"/>
            <a:ext cx="3657600" cy="111556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3" name="Text 31"/>
          <p:cNvSpPr/>
          <p:nvPr/>
        </p:nvSpPr>
        <p:spPr>
          <a:xfrm>
            <a:off x="5257800" y="3931920"/>
            <a:ext cx="3383280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np.</a:t>
            </a:r>
            <a:r>
              <a:rPr lang="en-US" sz="9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([[</a:t>
            </a:r>
            <a:r>
              <a:rPr lang="en-US" sz="9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9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9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],[</a:t>
            </a:r>
            <a:r>
              <a:rPr lang="en-US" sz="9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9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9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]])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m.shape  </a:t>
            </a: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(2, 3)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m.ndim   </a:t>
            </a: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m.dtype  </a:t>
            </a: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dtype('int64')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як інструмент для таблиць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41148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365760" y="877824"/>
            <a:ext cx="8412480" cy="594360"/>
          </a:xfrm>
          <a:prstGeom prst="rect">
            <a:avLst/>
          </a:prstGeom>
          <a:solidFill>
            <a:srgbClr val="F59E0B">
              <a:alpha val="12000"/>
            </a:srgbClr>
          </a:solidFill>
          <a:ln w="1524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548640" y="850392"/>
            <a:ext cx="8138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🧠  Аналогія: pandas — це Excel всередині Python. Та сама таблиця з рядками і колонками, але з силою програмування.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27632"/>
            <a:ext cx="4114800" cy="320040"/>
          </a:xfrm>
          <a:prstGeom prst="rect">
            <a:avLst/>
          </a:prstGeom>
          <a:solidFill>
            <a:srgbClr val="1D6F42"/>
          </a:solidFill>
          <a:ln w="12700">
            <a:solidFill>
              <a:srgbClr val="1D6F4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365760" y="162763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📊  Excel / Google Sheets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627632"/>
            <a:ext cx="411480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4663440" y="162763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🐼  pandas (Python)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984248"/>
            <a:ext cx="4114800" cy="420624"/>
          </a:xfrm>
          <a:prstGeom prst="rect">
            <a:avLst/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502920" y="200253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Відкрити файл вручну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984248"/>
            <a:ext cx="4114800" cy="420624"/>
          </a:xfrm>
          <a:prstGeom prst="rect">
            <a:avLst/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4800600" y="200253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pd.read_csv('file.csv')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441448"/>
            <a:ext cx="4114800" cy="420624"/>
          </a:xfrm>
          <a:prstGeom prst="rect">
            <a:avLst/>
          </a:prstGeom>
          <a:solidFill>
            <a:srgbClr val="1A2740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502920" y="245973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Фільтрувати клацанням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2441448"/>
            <a:ext cx="4114800" cy="420624"/>
          </a:xfrm>
          <a:prstGeom prst="rect">
            <a:avLst/>
          </a:prstGeom>
          <a:solidFill>
            <a:srgbClr val="1A2740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4800600" y="245973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df[df['ціна'] &gt; 100]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898648"/>
            <a:ext cx="4114800" cy="420624"/>
          </a:xfrm>
          <a:prstGeom prst="rect">
            <a:avLst/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Text 17"/>
          <p:cNvSpPr/>
          <p:nvPr/>
        </p:nvSpPr>
        <p:spPr>
          <a:xfrm>
            <a:off x="502920" y="291693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Формула в клітинці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2898648"/>
            <a:ext cx="4114800" cy="420624"/>
          </a:xfrm>
          <a:prstGeom prst="rect">
            <a:avLst/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Text 19"/>
          <p:cNvSpPr/>
          <p:nvPr/>
        </p:nvSpPr>
        <p:spPr>
          <a:xfrm>
            <a:off x="4800600" y="291693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df['ціна'].mean()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355848"/>
            <a:ext cx="4114800" cy="420624"/>
          </a:xfrm>
          <a:prstGeom prst="rect">
            <a:avLst/>
          </a:prstGeom>
          <a:solidFill>
            <a:srgbClr val="1A2740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Text 21"/>
          <p:cNvSpPr/>
          <p:nvPr/>
        </p:nvSpPr>
        <p:spPr>
          <a:xfrm>
            <a:off x="502920" y="337413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B2777"/>
                </a:solidFill>
              </a:rPr>
              <a:t>Обробка 1000 рядків = повільно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3355848"/>
            <a:ext cx="4114800" cy="420624"/>
          </a:xfrm>
          <a:prstGeom prst="rect">
            <a:avLst/>
          </a:prstGeom>
          <a:solidFill>
            <a:srgbClr val="1A2740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5" name="Text 23"/>
          <p:cNvSpPr/>
          <p:nvPr/>
        </p:nvSpPr>
        <p:spPr>
          <a:xfrm>
            <a:off x="4800600" y="337413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Мільйони рядків без проблем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3813048"/>
            <a:ext cx="4114800" cy="420624"/>
          </a:xfrm>
          <a:prstGeom prst="rect">
            <a:avLst/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7" name="Text 25"/>
          <p:cNvSpPr/>
          <p:nvPr/>
        </p:nvSpPr>
        <p:spPr>
          <a:xfrm>
            <a:off x="502920" y="383133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B2777"/>
                </a:solidFill>
              </a:rPr>
              <a:t>Немає версій, важко відтворити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63440" y="3813048"/>
            <a:ext cx="4114800" cy="420624"/>
          </a:xfrm>
          <a:prstGeom prst="rect">
            <a:avLst/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9" name="Text 27"/>
          <p:cNvSpPr/>
          <p:nvPr/>
        </p:nvSpPr>
        <p:spPr>
          <a:xfrm>
            <a:off x="4800600" y="383133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Jupyter = відтворюваність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4370832"/>
            <a:ext cx="8412480" cy="5486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1" name="Text 29"/>
          <p:cNvSpPr/>
          <p:nvPr/>
        </p:nvSpPr>
        <p:spPr>
          <a:xfrm>
            <a:off x="502920" y="44074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</a:t>
            </a:r>
            <a:r>
              <a:rPr lang="en-US" sz="10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pandas numpy</a:t>
            </a: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→  </a:t>
            </a: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pandas </a:t>
            </a: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pd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</a:t>
            </a: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numpy </a:t>
            </a: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np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і DataFrame: колонка проти таблиці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50292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3931920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pd.Series  —  одна колонка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07008"/>
            <a:ext cx="1133856" cy="292608"/>
          </a:xfrm>
          <a:prstGeom prst="rect">
            <a:avLst/>
          </a:prstGeom>
          <a:solidFill>
            <a:srgbClr val="2563EB">
              <a:alpha val="80000"/>
            </a:srgbClr>
          </a:solidFill>
          <a:ln w="63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365760" y="1207008"/>
            <a:ext cx="1133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Індекс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554480" y="1207008"/>
            <a:ext cx="1133856" cy="292608"/>
          </a:xfrm>
          <a:prstGeom prst="rect">
            <a:avLst/>
          </a:prstGeom>
          <a:solidFill>
            <a:srgbClr val="2563EB">
              <a:alpha val="80000"/>
            </a:srgbClr>
          </a:solidFill>
          <a:ln w="63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1554480" y="1207008"/>
            <a:ext cx="1133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Значення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536192"/>
            <a:ext cx="1133856" cy="310896"/>
          </a:xfrm>
          <a:prstGeom prst="rect">
            <a:avLst/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365760" y="1536192"/>
            <a:ext cx="1133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554480" y="1536192"/>
            <a:ext cx="1133856" cy="310896"/>
          </a:xfrm>
          <a:prstGeom prst="rect">
            <a:avLst/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1554480" y="1536192"/>
            <a:ext cx="1133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85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1883664"/>
            <a:ext cx="1133856" cy="310896"/>
          </a:xfrm>
          <a:prstGeom prst="rect">
            <a:avLst/>
          </a:prstGeom>
          <a:solidFill>
            <a:srgbClr val="1A2740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365760" y="1883664"/>
            <a:ext cx="1133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1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554480" y="1883664"/>
            <a:ext cx="1133856" cy="310896"/>
          </a:xfrm>
          <a:prstGeom prst="rect">
            <a:avLst/>
          </a:prstGeom>
          <a:solidFill>
            <a:srgbClr val="1A2740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1554480" y="1883664"/>
            <a:ext cx="1133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55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231136"/>
            <a:ext cx="1133856" cy="310896"/>
          </a:xfrm>
          <a:prstGeom prst="rect">
            <a:avLst/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Text 17"/>
          <p:cNvSpPr/>
          <p:nvPr/>
        </p:nvSpPr>
        <p:spPr>
          <a:xfrm>
            <a:off x="365760" y="2231136"/>
            <a:ext cx="1133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554480" y="2231136"/>
            <a:ext cx="1133856" cy="310896"/>
          </a:xfrm>
          <a:prstGeom prst="rect">
            <a:avLst/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Text 19"/>
          <p:cNvSpPr/>
          <p:nvPr/>
        </p:nvSpPr>
        <p:spPr>
          <a:xfrm>
            <a:off x="1554480" y="2231136"/>
            <a:ext cx="1133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120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2578608"/>
            <a:ext cx="1133856" cy="310896"/>
          </a:xfrm>
          <a:prstGeom prst="rect">
            <a:avLst/>
          </a:prstGeom>
          <a:solidFill>
            <a:srgbClr val="1A2740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Text 21"/>
          <p:cNvSpPr/>
          <p:nvPr/>
        </p:nvSpPr>
        <p:spPr>
          <a:xfrm>
            <a:off x="365760" y="2578608"/>
            <a:ext cx="1133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3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554480" y="2578608"/>
            <a:ext cx="1133856" cy="310896"/>
          </a:xfrm>
          <a:prstGeom prst="rect">
            <a:avLst/>
          </a:prstGeom>
          <a:solidFill>
            <a:srgbClr val="1A2740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5" name="Text 23"/>
          <p:cNvSpPr/>
          <p:nvPr/>
        </p:nvSpPr>
        <p:spPr>
          <a:xfrm>
            <a:off x="1554480" y="2578608"/>
            <a:ext cx="1133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72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295351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dtype: int64    Name: площа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3291840"/>
            <a:ext cx="3931920" cy="157276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8" name="Text 26"/>
          <p:cNvSpPr/>
          <p:nvPr/>
        </p:nvSpPr>
        <p:spPr>
          <a:xfrm>
            <a:off x="502920" y="3364992"/>
            <a:ext cx="3657600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pd.</a:t>
            </a:r>
            <a:r>
              <a:rPr lang="en-US" sz="9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Series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([</a:t>
            </a:r>
            <a:r>
              <a:rPr lang="en-US" sz="9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85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9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9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120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9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72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r>
              <a:rPr lang="uk-UA" sz="950" dirty="0"/>
              <a:t> 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name=</a:t>
            </a: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‘</a:t>
            </a:r>
            <a:r>
              <a:rPr lang="uk-UA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площа</a:t>
            </a: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s.dtype  </a:t>
            </a: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int64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s[0]     </a:t>
            </a: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85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s.mean() </a:t>
            </a: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83.0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46320" y="822960"/>
            <a:ext cx="393192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0" name="Text 28"/>
          <p:cNvSpPr/>
          <p:nvPr/>
        </p:nvSpPr>
        <p:spPr>
          <a:xfrm>
            <a:off x="4846320" y="8229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pd.DataFrame  —  таблиця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846320" y="1207008"/>
            <a:ext cx="365760" cy="292608"/>
          </a:xfrm>
          <a:prstGeom prst="rect">
            <a:avLst/>
          </a:prstGeom>
          <a:solidFill>
            <a:srgbClr val="1E293B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2" name="Text 30"/>
          <p:cNvSpPr/>
          <p:nvPr/>
        </p:nvSpPr>
        <p:spPr>
          <a:xfrm>
            <a:off x="4846320" y="120700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212080" y="1207008"/>
            <a:ext cx="868680" cy="292608"/>
          </a:xfrm>
          <a:prstGeom prst="rect">
            <a:avLst/>
          </a:prstGeom>
          <a:solidFill>
            <a:srgbClr val="0D9488">
              <a:alpha val="85000"/>
            </a:srgbClr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4" name="Text 32"/>
          <p:cNvSpPr/>
          <p:nvPr/>
        </p:nvSpPr>
        <p:spPr>
          <a:xfrm>
            <a:off x="5212080" y="120700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площа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080760" y="1207008"/>
            <a:ext cx="896112" cy="292608"/>
          </a:xfrm>
          <a:prstGeom prst="rect">
            <a:avLst/>
          </a:prstGeom>
          <a:solidFill>
            <a:srgbClr val="0D9488">
              <a:alpha val="85000"/>
            </a:srgbClr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6" name="Text 34"/>
          <p:cNvSpPr/>
          <p:nvPr/>
        </p:nvSpPr>
        <p:spPr>
          <a:xfrm>
            <a:off x="6080760" y="1207008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кімнати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976872" y="1207008"/>
            <a:ext cx="868680" cy="292608"/>
          </a:xfrm>
          <a:prstGeom prst="rect">
            <a:avLst/>
          </a:prstGeom>
          <a:solidFill>
            <a:srgbClr val="0D9488">
              <a:alpha val="85000"/>
            </a:srgbClr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8" name="Text 36"/>
          <p:cNvSpPr/>
          <p:nvPr/>
        </p:nvSpPr>
        <p:spPr>
          <a:xfrm>
            <a:off x="6976872" y="120700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ціна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846320" y="1536192"/>
            <a:ext cx="365760" cy="310896"/>
          </a:xfrm>
          <a:prstGeom prst="rect">
            <a:avLst/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0" name="Text 38"/>
          <p:cNvSpPr/>
          <p:nvPr/>
        </p:nvSpPr>
        <p:spPr>
          <a:xfrm>
            <a:off x="4846320" y="1536192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0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212080" y="1536192"/>
            <a:ext cx="868680" cy="310896"/>
          </a:xfrm>
          <a:prstGeom prst="rect">
            <a:avLst/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2" name="Text 40"/>
          <p:cNvSpPr/>
          <p:nvPr/>
        </p:nvSpPr>
        <p:spPr>
          <a:xfrm>
            <a:off x="5212080" y="153619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85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080760" y="1536192"/>
            <a:ext cx="896112" cy="310896"/>
          </a:xfrm>
          <a:prstGeom prst="rect">
            <a:avLst/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4" name="Text 42"/>
          <p:cNvSpPr/>
          <p:nvPr/>
        </p:nvSpPr>
        <p:spPr>
          <a:xfrm>
            <a:off x="6080760" y="1536192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976872" y="1536192"/>
            <a:ext cx="868680" cy="310896"/>
          </a:xfrm>
          <a:prstGeom prst="rect">
            <a:avLst/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6" name="Text 44"/>
          <p:cNvSpPr/>
          <p:nvPr/>
        </p:nvSpPr>
        <p:spPr>
          <a:xfrm>
            <a:off x="6976872" y="153619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120k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846320" y="1883664"/>
            <a:ext cx="365760" cy="310896"/>
          </a:xfrm>
          <a:prstGeom prst="rect">
            <a:avLst/>
          </a:prstGeom>
          <a:solidFill>
            <a:srgbClr val="1A2740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8" name="Text 46"/>
          <p:cNvSpPr/>
          <p:nvPr/>
        </p:nvSpPr>
        <p:spPr>
          <a:xfrm>
            <a:off x="4846320" y="1883664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1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212080" y="1883664"/>
            <a:ext cx="868680" cy="310896"/>
          </a:xfrm>
          <a:prstGeom prst="rect">
            <a:avLst/>
          </a:prstGeom>
          <a:solidFill>
            <a:srgbClr val="1A2740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0" name="Text 48"/>
          <p:cNvSpPr/>
          <p:nvPr/>
        </p:nvSpPr>
        <p:spPr>
          <a:xfrm>
            <a:off x="5212080" y="188366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55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080760" y="1883664"/>
            <a:ext cx="896112" cy="310896"/>
          </a:xfrm>
          <a:prstGeom prst="rect">
            <a:avLst/>
          </a:prstGeom>
          <a:solidFill>
            <a:srgbClr val="1A2740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2" name="Text 50"/>
          <p:cNvSpPr/>
          <p:nvPr/>
        </p:nvSpPr>
        <p:spPr>
          <a:xfrm>
            <a:off x="6080760" y="1883664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976872" y="1883664"/>
            <a:ext cx="868680" cy="310896"/>
          </a:xfrm>
          <a:prstGeom prst="rect">
            <a:avLst/>
          </a:prstGeom>
          <a:solidFill>
            <a:srgbClr val="1A2740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4" name="Text 52"/>
          <p:cNvSpPr/>
          <p:nvPr/>
        </p:nvSpPr>
        <p:spPr>
          <a:xfrm>
            <a:off x="6976872" y="188366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72k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846320" y="2231136"/>
            <a:ext cx="365760" cy="310896"/>
          </a:xfrm>
          <a:prstGeom prst="rect">
            <a:avLst/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6" name="Text 54"/>
          <p:cNvSpPr/>
          <p:nvPr/>
        </p:nvSpPr>
        <p:spPr>
          <a:xfrm>
            <a:off x="4846320" y="2231136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2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5212080" y="2231136"/>
            <a:ext cx="868680" cy="310896"/>
          </a:xfrm>
          <a:prstGeom prst="rect">
            <a:avLst/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8" name="Text 56"/>
          <p:cNvSpPr/>
          <p:nvPr/>
        </p:nvSpPr>
        <p:spPr>
          <a:xfrm>
            <a:off x="5212080" y="2231136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120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080760" y="2231136"/>
            <a:ext cx="896112" cy="310896"/>
          </a:xfrm>
          <a:prstGeom prst="rect">
            <a:avLst/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0" name="Text 58"/>
          <p:cNvSpPr/>
          <p:nvPr/>
        </p:nvSpPr>
        <p:spPr>
          <a:xfrm>
            <a:off x="6080760" y="2231136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976872" y="2231136"/>
            <a:ext cx="868680" cy="310896"/>
          </a:xfrm>
          <a:prstGeom prst="rect">
            <a:avLst/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2" name="Text 60"/>
          <p:cNvSpPr/>
          <p:nvPr/>
        </p:nvSpPr>
        <p:spPr>
          <a:xfrm>
            <a:off x="6976872" y="2231136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180k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4846320" y="295351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рядки × 3 колонки + індекс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846320" y="3291840"/>
            <a:ext cx="3931920" cy="157276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5" name="Text 63"/>
          <p:cNvSpPr/>
          <p:nvPr/>
        </p:nvSpPr>
        <p:spPr>
          <a:xfrm>
            <a:off x="4983480" y="3364992"/>
            <a:ext cx="3657600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DataFrame = словник Series: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pd.</a:t>
            </a:r>
            <a:r>
              <a:rPr lang="en-US" sz="9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DataFrame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'площа'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[</a:t>
            </a:r>
            <a:r>
              <a:rPr lang="en-US" sz="9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85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9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9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120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'кімнати'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[</a:t>
            </a:r>
            <a:r>
              <a:rPr lang="en-US" sz="9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9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9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'ціна'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[</a:t>
            </a:r>
            <a:r>
              <a:rPr lang="en-US" sz="9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120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9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72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9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180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Індекс, рядки й колонки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32004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256032" y="1088136"/>
            <a:ext cx="457200" cy="320040"/>
          </a:xfrm>
          <a:prstGeom prst="rect">
            <a:avLst/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256032" y="108813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13232" y="1088136"/>
            <a:ext cx="1005840" cy="320040"/>
          </a:xfrm>
          <a:prstGeom prst="rect">
            <a:avLst/>
          </a:prstGeom>
          <a:solidFill>
            <a:srgbClr val="0D9488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713232" y="1088136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площа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719072" y="1088136"/>
            <a:ext cx="1051560" cy="320040"/>
          </a:xfrm>
          <a:prstGeom prst="rect">
            <a:avLst/>
          </a:prstGeom>
          <a:solidFill>
            <a:srgbClr val="7C3AED"/>
          </a:solidFill>
          <a:ln w="63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1719072" y="1088136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кімнати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70632" y="1088136"/>
            <a:ext cx="1005840" cy="320040"/>
          </a:xfrm>
          <a:prstGeom prst="rect">
            <a:avLst/>
          </a:prstGeom>
          <a:solidFill>
            <a:srgbClr val="F59E0B"/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2770632" y="1088136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ціна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" y="1408176"/>
            <a:ext cx="457200" cy="384048"/>
          </a:xfrm>
          <a:prstGeom prst="rect">
            <a:avLst/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256032" y="140817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</a:rPr>
              <a:t>0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13232" y="1408176"/>
            <a:ext cx="1005840" cy="384048"/>
          </a:xfrm>
          <a:prstGeom prst="rect">
            <a:avLst/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713232" y="140817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</a:rPr>
              <a:t>85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719072" y="1408176"/>
            <a:ext cx="1051560" cy="384048"/>
          </a:xfrm>
          <a:prstGeom prst="rect">
            <a:avLst/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1719072" y="1408176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</a:rPr>
              <a:t>3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770632" y="1408176"/>
            <a:ext cx="1005840" cy="384048"/>
          </a:xfrm>
          <a:prstGeom prst="rect">
            <a:avLst/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Text 17"/>
          <p:cNvSpPr/>
          <p:nvPr/>
        </p:nvSpPr>
        <p:spPr>
          <a:xfrm>
            <a:off x="2770632" y="140817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</a:rPr>
              <a:t>120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56032" y="1792224"/>
            <a:ext cx="457200" cy="384048"/>
          </a:xfrm>
          <a:prstGeom prst="rect">
            <a:avLst/>
          </a:prstGeom>
          <a:solidFill>
            <a:srgbClr val="1A2740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Text 19"/>
          <p:cNvSpPr/>
          <p:nvPr/>
        </p:nvSpPr>
        <p:spPr>
          <a:xfrm>
            <a:off x="256032" y="179222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</a:rPr>
              <a:t>1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13232" y="1792224"/>
            <a:ext cx="1005840" cy="384048"/>
          </a:xfrm>
          <a:prstGeom prst="rect">
            <a:avLst/>
          </a:prstGeom>
          <a:solidFill>
            <a:srgbClr val="1A2740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Text 21"/>
          <p:cNvSpPr/>
          <p:nvPr/>
        </p:nvSpPr>
        <p:spPr>
          <a:xfrm>
            <a:off x="713232" y="179222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</a:rPr>
              <a:t>55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719072" y="1792224"/>
            <a:ext cx="1051560" cy="384048"/>
          </a:xfrm>
          <a:prstGeom prst="rect">
            <a:avLst/>
          </a:prstGeom>
          <a:solidFill>
            <a:srgbClr val="1A2740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5" name="Text 23"/>
          <p:cNvSpPr/>
          <p:nvPr/>
        </p:nvSpPr>
        <p:spPr>
          <a:xfrm>
            <a:off x="1719072" y="1792224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</a:rPr>
              <a:t>2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770632" y="1792224"/>
            <a:ext cx="1005840" cy="384048"/>
          </a:xfrm>
          <a:prstGeom prst="rect">
            <a:avLst/>
          </a:prstGeom>
          <a:solidFill>
            <a:srgbClr val="1A2740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7" name="Text 25"/>
          <p:cNvSpPr/>
          <p:nvPr/>
        </p:nvSpPr>
        <p:spPr>
          <a:xfrm>
            <a:off x="2770632" y="179222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</a:rPr>
              <a:t>72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256032" y="2176272"/>
            <a:ext cx="457200" cy="384048"/>
          </a:xfrm>
          <a:prstGeom prst="rect">
            <a:avLst/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9" name="Text 27"/>
          <p:cNvSpPr/>
          <p:nvPr/>
        </p:nvSpPr>
        <p:spPr>
          <a:xfrm>
            <a:off x="256032" y="217627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</a:rPr>
              <a:t>2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13232" y="2176272"/>
            <a:ext cx="1005840" cy="384048"/>
          </a:xfrm>
          <a:prstGeom prst="rect">
            <a:avLst/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1" name="Text 29"/>
          <p:cNvSpPr/>
          <p:nvPr/>
        </p:nvSpPr>
        <p:spPr>
          <a:xfrm>
            <a:off x="713232" y="217627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</a:rPr>
              <a:t>120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719072" y="2176272"/>
            <a:ext cx="1051560" cy="384048"/>
          </a:xfrm>
          <a:prstGeom prst="rect">
            <a:avLst/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3" name="Text 31"/>
          <p:cNvSpPr/>
          <p:nvPr/>
        </p:nvSpPr>
        <p:spPr>
          <a:xfrm>
            <a:off x="1719072" y="2176272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</a:rPr>
              <a:t>4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2770632" y="2176272"/>
            <a:ext cx="1005840" cy="384048"/>
          </a:xfrm>
          <a:prstGeom prst="rect">
            <a:avLst/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5" name="Text 33"/>
          <p:cNvSpPr/>
          <p:nvPr/>
        </p:nvSpPr>
        <p:spPr>
          <a:xfrm>
            <a:off x="2770632" y="217627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</a:rPr>
              <a:t>180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256032" y="2560320"/>
            <a:ext cx="457200" cy="384048"/>
          </a:xfrm>
          <a:prstGeom prst="rect">
            <a:avLst/>
          </a:prstGeom>
          <a:solidFill>
            <a:srgbClr val="1A2740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7" name="Text 35"/>
          <p:cNvSpPr/>
          <p:nvPr/>
        </p:nvSpPr>
        <p:spPr>
          <a:xfrm>
            <a:off x="256032" y="256032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</a:rPr>
              <a:t>3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713232" y="2560320"/>
            <a:ext cx="1005840" cy="384048"/>
          </a:xfrm>
          <a:prstGeom prst="rect">
            <a:avLst/>
          </a:prstGeom>
          <a:solidFill>
            <a:srgbClr val="1A2740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9" name="Text 37"/>
          <p:cNvSpPr/>
          <p:nvPr/>
        </p:nvSpPr>
        <p:spPr>
          <a:xfrm>
            <a:off x="713232" y="25603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</a:rPr>
              <a:t>72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1719072" y="2560320"/>
            <a:ext cx="1051560" cy="384048"/>
          </a:xfrm>
          <a:prstGeom prst="rect">
            <a:avLst/>
          </a:prstGeom>
          <a:solidFill>
            <a:srgbClr val="1A2740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1" name="Text 39"/>
          <p:cNvSpPr/>
          <p:nvPr/>
        </p:nvSpPr>
        <p:spPr>
          <a:xfrm>
            <a:off x="1719072" y="256032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</a:rPr>
              <a:t>3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2770632" y="2560320"/>
            <a:ext cx="1005840" cy="384048"/>
          </a:xfrm>
          <a:prstGeom prst="rect">
            <a:avLst/>
          </a:prstGeom>
          <a:solidFill>
            <a:srgbClr val="1A2740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3" name="Text 41"/>
          <p:cNvSpPr/>
          <p:nvPr/>
        </p:nvSpPr>
        <p:spPr>
          <a:xfrm>
            <a:off x="2770632" y="25603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</a:rPr>
              <a:t>95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256032" y="3072384"/>
            <a:ext cx="731520" cy="292608"/>
          </a:xfrm>
          <a:prstGeom prst="rect">
            <a:avLst/>
          </a:prstGeom>
          <a:solidFill>
            <a:srgbClr val="94A3B8">
              <a:alpha val="40000"/>
            </a:srgbClr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5" name="Text 43"/>
          <p:cNvSpPr/>
          <p:nvPr/>
        </p:nvSpPr>
        <p:spPr>
          <a:xfrm>
            <a:off x="256032" y="307238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INDEX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21792" y="3072384"/>
            <a:ext cx="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7" name="Text 45"/>
          <p:cNvSpPr/>
          <p:nvPr/>
        </p:nvSpPr>
        <p:spPr>
          <a:xfrm>
            <a:off x="1307592" y="307238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B8A6"/>
                </a:solidFill>
              </a:rPr>
              <a:t>COLUMNS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450592" y="3026664"/>
            <a:ext cx="0" cy="0"/>
          </a:xfrm>
          <a:prstGeom prst="line">
            <a:avLst/>
          </a:prstGeom>
          <a:noFill/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9" name="Shape 47"/>
          <p:cNvSpPr/>
          <p:nvPr/>
        </p:nvSpPr>
        <p:spPr>
          <a:xfrm>
            <a:off x="4160520" y="804672"/>
            <a:ext cx="4572000" cy="960120"/>
          </a:xfrm>
          <a:prstGeom prst="rect">
            <a:avLst/>
          </a:prstGeom>
          <a:solidFill>
            <a:srgbClr val="1E293B"/>
          </a:solidFill>
          <a:ln w="1524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0" name="Shape 48"/>
          <p:cNvSpPr/>
          <p:nvPr/>
        </p:nvSpPr>
        <p:spPr>
          <a:xfrm>
            <a:off x="4160520" y="804672"/>
            <a:ext cx="457200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1" name="Text 49"/>
          <p:cNvSpPr/>
          <p:nvPr/>
        </p:nvSpPr>
        <p:spPr>
          <a:xfrm>
            <a:off x="4160520" y="804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Колонки (columns)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297680" y="1115568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df.columns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['площа','кімнати','ціна']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160520" y="1856232"/>
            <a:ext cx="4572000" cy="960120"/>
          </a:xfrm>
          <a:prstGeom prst="rect">
            <a:avLst/>
          </a:prstGeom>
          <a:solidFill>
            <a:srgbClr val="1E293B"/>
          </a:solidFill>
          <a:ln w="1524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4" name="Shape 52"/>
          <p:cNvSpPr/>
          <p:nvPr/>
        </p:nvSpPr>
        <p:spPr>
          <a:xfrm>
            <a:off x="4160520" y="1856232"/>
            <a:ext cx="4572000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5" name="Text 53"/>
          <p:cNvSpPr/>
          <p:nvPr/>
        </p:nvSpPr>
        <p:spPr>
          <a:xfrm>
            <a:off x="4160520" y="18562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Індекс (index)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4297680" y="2167128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df.index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RangeIndex(0, 4)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160520" y="2907792"/>
            <a:ext cx="4572000" cy="960120"/>
          </a:xfrm>
          <a:prstGeom prst="rect">
            <a:avLst/>
          </a:prstGeom>
          <a:solidFill>
            <a:srgbClr val="1E293B"/>
          </a:solidFill>
          <a:ln w="1524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8" name="Shape 56"/>
          <p:cNvSpPr/>
          <p:nvPr/>
        </p:nvSpPr>
        <p:spPr>
          <a:xfrm>
            <a:off x="4160520" y="2907792"/>
            <a:ext cx="457200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9" name="Text 57"/>
          <p:cNvSpPr/>
          <p:nvPr/>
        </p:nvSpPr>
        <p:spPr>
          <a:xfrm>
            <a:off x="4160520" y="29077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Вибір колонки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4297680" y="3218688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df['площа']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повертає Series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160520" y="3959352"/>
            <a:ext cx="4572000" cy="960120"/>
          </a:xfrm>
          <a:prstGeom prst="rect">
            <a:avLst/>
          </a:prstGeom>
          <a:solidFill>
            <a:srgbClr val="1E293B"/>
          </a:solidFill>
          <a:ln w="1524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2" name="Shape 60"/>
          <p:cNvSpPr/>
          <p:nvPr/>
        </p:nvSpPr>
        <p:spPr>
          <a:xfrm>
            <a:off x="4160520" y="3959352"/>
            <a:ext cx="4572000" cy="27432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3" name="Text 61"/>
          <p:cNvSpPr/>
          <p:nvPr/>
        </p:nvSpPr>
        <p:spPr>
          <a:xfrm>
            <a:off x="4160520" y="39593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Вибір рядка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4297680" y="4270248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df.iloc[0]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перший рядок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Створення DataFrame вручну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3657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3 способи створити DataFrame: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5029200" cy="274320"/>
          </a:xfrm>
          <a:prstGeom prst="rect">
            <a:avLst/>
          </a:prstGeom>
          <a:solidFill>
            <a:srgbClr val="2563EB">
              <a:alpha val="80000"/>
            </a:srgbClr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365760" y="1170432"/>
            <a:ext cx="50292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</a:rPr>
              <a:t>1️⃣  Словник списків (найпоширеніший)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5760" y="1481328"/>
            <a:ext cx="5029200" cy="15087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502920" y="1554480"/>
            <a:ext cx="4754880" cy="1362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pd.</a:t>
            </a:r>
            <a:r>
              <a:rPr lang="en-US" sz="9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DataFrame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'місто'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[</a:t>
            </a: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'Київ'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'Харків'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'Одеса'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'населення'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[</a:t>
            </a:r>
            <a:r>
              <a:rPr lang="en-US" sz="9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2900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9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1400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9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'площа_км2'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[</a:t>
            </a:r>
            <a:r>
              <a:rPr lang="en-US" sz="9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839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9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350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9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163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3063240"/>
            <a:ext cx="5029200" cy="274320"/>
          </a:xfrm>
          <a:prstGeom prst="rect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365760" y="3063240"/>
            <a:ext cx="50292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</a:rPr>
              <a:t>2️⃣  Список словників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3374136"/>
            <a:ext cx="5029200" cy="12344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502920" y="3447288"/>
            <a:ext cx="4754880" cy="1088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pd.</a:t>
            </a:r>
            <a:r>
              <a:rPr lang="en-US" sz="9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DataFrame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([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'місто'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'Київ'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'населення'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9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2900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'місто'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'Харків'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'населення'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9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1400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577840" y="82296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Результат: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577840" y="1170432"/>
            <a:ext cx="320040" cy="292608"/>
          </a:xfrm>
          <a:prstGeom prst="rect">
            <a:avLst/>
          </a:prstGeom>
          <a:solidFill>
            <a:srgbClr val="1E293B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5577840" y="1170432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97880" y="1170432"/>
            <a:ext cx="914400" cy="292608"/>
          </a:xfrm>
          <a:prstGeom prst="rect">
            <a:avLst/>
          </a:prstGeom>
          <a:solidFill>
            <a:srgbClr val="0D9488">
              <a:alpha val="85000"/>
            </a:srgbClr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5897880" y="11704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місто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812280" y="1170432"/>
            <a:ext cx="896112" cy="292608"/>
          </a:xfrm>
          <a:prstGeom prst="rect">
            <a:avLst/>
          </a:prstGeom>
          <a:solidFill>
            <a:srgbClr val="0D9488">
              <a:alpha val="85000"/>
            </a:srgbClr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Text 17"/>
          <p:cNvSpPr/>
          <p:nvPr/>
        </p:nvSpPr>
        <p:spPr>
          <a:xfrm>
            <a:off x="6812280" y="1170432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насел.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708392" y="1170432"/>
            <a:ext cx="868680" cy="292608"/>
          </a:xfrm>
          <a:prstGeom prst="rect">
            <a:avLst/>
          </a:prstGeom>
          <a:solidFill>
            <a:srgbClr val="0D9488">
              <a:alpha val="85000"/>
            </a:srgbClr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Text 19"/>
          <p:cNvSpPr/>
          <p:nvPr/>
        </p:nvSpPr>
        <p:spPr>
          <a:xfrm>
            <a:off x="7708392" y="117043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площа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577840" y="1517904"/>
            <a:ext cx="320040" cy="310896"/>
          </a:xfrm>
          <a:prstGeom prst="rect">
            <a:avLst/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Text 21"/>
          <p:cNvSpPr/>
          <p:nvPr/>
        </p:nvSpPr>
        <p:spPr>
          <a:xfrm>
            <a:off x="5577840" y="1481328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897880" y="1517904"/>
            <a:ext cx="914400" cy="310896"/>
          </a:xfrm>
          <a:prstGeom prst="rect">
            <a:avLst/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5" name="Text 23"/>
          <p:cNvSpPr/>
          <p:nvPr/>
        </p:nvSpPr>
        <p:spPr>
          <a:xfrm>
            <a:off x="5897880" y="148132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Київ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812280" y="1517904"/>
            <a:ext cx="896112" cy="310896"/>
          </a:xfrm>
          <a:prstGeom prst="rect">
            <a:avLst/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7" name="Text 25"/>
          <p:cNvSpPr/>
          <p:nvPr/>
        </p:nvSpPr>
        <p:spPr>
          <a:xfrm>
            <a:off x="6812280" y="1481328"/>
            <a:ext cx="896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2900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708392" y="1517904"/>
            <a:ext cx="868680" cy="310896"/>
          </a:xfrm>
          <a:prstGeom prst="rect">
            <a:avLst/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9" name="Text 27"/>
          <p:cNvSpPr/>
          <p:nvPr/>
        </p:nvSpPr>
        <p:spPr>
          <a:xfrm>
            <a:off x="7708392" y="1481328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839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577840" y="1865376"/>
            <a:ext cx="320040" cy="310896"/>
          </a:xfrm>
          <a:prstGeom prst="rect">
            <a:avLst/>
          </a:prstGeom>
          <a:solidFill>
            <a:srgbClr val="1A2740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1" name="Text 29"/>
          <p:cNvSpPr/>
          <p:nvPr/>
        </p:nvSpPr>
        <p:spPr>
          <a:xfrm>
            <a:off x="5577840" y="1792224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1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897880" y="1865376"/>
            <a:ext cx="914400" cy="310896"/>
          </a:xfrm>
          <a:prstGeom prst="rect">
            <a:avLst/>
          </a:prstGeom>
          <a:solidFill>
            <a:srgbClr val="1A2740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3" name="Text 31"/>
          <p:cNvSpPr/>
          <p:nvPr/>
        </p:nvSpPr>
        <p:spPr>
          <a:xfrm>
            <a:off x="5897880" y="179222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Харків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812280" y="1865376"/>
            <a:ext cx="896112" cy="310896"/>
          </a:xfrm>
          <a:prstGeom prst="rect">
            <a:avLst/>
          </a:prstGeom>
          <a:solidFill>
            <a:srgbClr val="1A2740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5" name="Text 33"/>
          <p:cNvSpPr/>
          <p:nvPr/>
        </p:nvSpPr>
        <p:spPr>
          <a:xfrm>
            <a:off x="6812280" y="1792224"/>
            <a:ext cx="896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1400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708392" y="1865376"/>
            <a:ext cx="868680" cy="310896"/>
          </a:xfrm>
          <a:prstGeom prst="rect">
            <a:avLst/>
          </a:prstGeom>
          <a:solidFill>
            <a:srgbClr val="1A2740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7" name="Text 35"/>
          <p:cNvSpPr/>
          <p:nvPr/>
        </p:nvSpPr>
        <p:spPr>
          <a:xfrm>
            <a:off x="7708392" y="1792224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350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577840" y="2212848"/>
            <a:ext cx="320040" cy="310896"/>
          </a:xfrm>
          <a:prstGeom prst="rect">
            <a:avLst/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9" name="Text 37"/>
          <p:cNvSpPr/>
          <p:nvPr/>
        </p:nvSpPr>
        <p:spPr>
          <a:xfrm>
            <a:off x="5577840" y="210312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2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897880" y="2212848"/>
            <a:ext cx="914400" cy="310896"/>
          </a:xfrm>
          <a:prstGeom prst="rect">
            <a:avLst/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1" name="Text 39"/>
          <p:cNvSpPr/>
          <p:nvPr/>
        </p:nvSpPr>
        <p:spPr>
          <a:xfrm>
            <a:off x="5897880" y="210312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Одеса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812280" y="2212848"/>
            <a:ext cx="896112" cy="310896"/>
          </a:xfrm>
          <a:prstGeom prst="rect">
            <a:avLst/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3" name="Text 41"/>
          <p:cNvSpPr/>
          <p:nvPr/>
        </p:nvSpPr>
        <p:spPr>
          <a:xfrm>
            <a:off x="6812280" y="2103120"/>
            <a:ext cx="896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1000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708392" y="2212848"/>
            <a:ext cx="868680" cy="310896"/>
          </a:xfrm>
          <a:prstGeom prst="rect">
            <a:avLst/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5" name="Text 43"/>
          <p:cNvSpPr/>
          <p:nvPr/>
        </p:nvSpPr>
        <p:spPr>
          <a:xfrm>
            <a:off x="7708392" y="210312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163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577840" y="3063240"/>
            <a:ext cx="3200400" cy="274320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7" name="Text 45"/>
          <p:cNvSpPr/>
          <p:nvPr/>
        </p:nvSpPr>
        <p:spPr>
          <a:xfrm>
            <a:off x="5577840" y="3063240"/>
            <a:ext cx="32004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</a:rPr>
              <a:t>💡  Кастомний індекс: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577840" y="3374136"/>
            <a:ext cx="3200400" cy="12344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9" name="Text 47"/>
          <p:cNvSpPr/>
          <p:nvPr/>
        </p:nvSpPr>
        <p:spPr>
          <a:xfrm>
            <a:off x="5715000" y="3447288"/>
            <a:ext cx="2926080" cy="1088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.index = [</a:t>
            </a: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'UA-K'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'UA-H'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'UA-O'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або при створенні: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</a:t>
            </a:r>
            <a:r>
              <a:rPr lang="en-US" sz="9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DataFrame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({...}, index=[</a:t>
            </a: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'UA-K'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...])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Завантаження CSV через pd.read_csv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50292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365760" y="90525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Як виглядає CSV-файл: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225296"/>
            <a:ext cx="4114800" cy="1300277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502920" y="1298448"/>
            <a:ext cx="3840480" cy="1591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housing.csv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площа,кімнати,район,рік,ціна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85,3,Центр,2015,120000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55,2,Північ,2010,72000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120,4,Центр,2020,180000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663440" y="89611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read_csv() — базовий виклик: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216152"/>
            <a:ext cx="4114800" cy="29718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4800600" y="1289304"/>
            <a:ext cx="3840480" cy="2825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pd.</a:t>
            </a:r>
            <a:r>
              <a:rPr lang="en-US" sz="9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read_csv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'housing.csv'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або з параметрами: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pd.</a:t>
            </a:r>
            <a:r>
              <a:rPr lang="en-US" sz="9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read_csv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'housing.csv'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sep=</a:t>
            </a: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','</a:t>
            </a: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          # роздільник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encoding=</a:t>
            </a: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'utf-8'</a:t>
            </a: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 # кодування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index_col=</a:t>
            </a:r>
            <a:r>
              <a:rPr lang="en-US" sz="9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      # колонка-індекс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nrows=</a:t>
            </a:r>
            <a:r>
              <a:rPr lang="en-US" sz="95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</a:t>
            </a:r>
            <a:r>
              <a:rPr lang="en-US" sz="95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</a:t>
            </a: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перші 1000 рядків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2606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Найважливіші параметри: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926080"/>
            <a:ext cx="4114800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457200" y="2926080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sep=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554480" y="2926080"/>
            <a:ext cx="197876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роздільник (за замовчуванням ',')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456432" y="2926080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sep=';'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3310128"/>
            <a:ext cx="4114800" cy="347472"/>
          </a:xfrm>
          <a:prstGeom prst="rect">
            <a:avLst/>
          </a:prstGeom>
          <a:solidFill>
            <a:srgbClr val="1A2740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457200" y="3310128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header=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554480" y="3310128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рядок із заголовками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456432" y="3310128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header=None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694176"/>
            <a:ext cx="4114800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Text 18"/>
          <p:cNvSpPr/>
          <p:nvPr/>
        </p:nvSpPr>
        <p:spPr>
          <a:xfrm>
            <a:off x="457200" y="3694176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usecols=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554480" y="3694176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які колонки завантажити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456432" y="3694176"/>
            <a:ext cx="1024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usecols=['а','б']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4078224"/>
            <a:ext cx="4114800" cy="347472"/>
          </a:xfrm>
          <a:prstGeom prst="rect">
            <a:avLst/>
          </a:prstGeom>
          <a:solidFill>
            <a:srgbClr val="1A2740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4" name="Text 22"/>
          <p:cNvSpPr/>
          <p:nvPr/>
        </p:nvSpPr>
        <p:spPr>
          <a:xfrm>
            <a:off x="457200" y="4078224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dtype=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554480" y="4078224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явно вказати типи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456432" y="4078224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dtype={'id': str}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4462272"/>
            <a:ext cx="4114800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8" name="Text 26"/>
          <p:cNvSpPr/>
          <p:nvPr/>
        </p:nvSpPr>
        <p:spPr>
          <a:xfrm>
            <a:off x="457200" y="4462272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na_values=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554480" y="4462272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що вважати NaN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456432" y="4462272"/>
            <a:ext cx="886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na_values=['-','?']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Перший огляд даних: head, tail, sample, shape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5943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023360" cy="1783080"/>
          </a:xfrm>
          <a:prstGeom prst="rect">
            <a:avLst/>
          </a:prstGeom>
          <a:solidFill>
            <a:srgbClr val="1E293B"/>
          </a:solidFill>
          <a:ln w="1524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402336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df.head(n)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1704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перші n рядків (за замовчуванням 5)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481328"/>
            <a:ext cx="3840480" cy="8229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594360" y="1554480"/>
            <a:ext cx="356616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df.head()   </a:t>
            </a: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перші 5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df.head(</a:t>
            </a:r>
            <a:r>
              <a:rPr lang="en-US" sz="10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# перші 10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359152"/>
            <a:ext cx="4023360" cy="246888"/>
          </a:xfrm>
          <a:prstGeom prst="rect">
            <a:avLst/>
          </a:prstGeom>
          <a:solidFill>
            <a:srgbClr val="0D9488">
              <a:alpha val="12000"/>
            </a:srgbClr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Shape 9"/>
          <p:cNvSpPr/>
          <p:nvPr/>
        </p:nvSpPr>
        <p:spPr>
          <a:xfrm>
            <a:off x="4754880" y="822960"/>
            <a:ext cx="4023360" cy="1783080"/>
          </a:xfrm>
          <a:prstGeom prst="rect">
            <a:avLst/>
          </a:prstGeom>
          <a:solidFill>
            <a:srgbClr val="1E293B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Shape 10"/>
          <p:cNvSpPr/>
          <p:nvPr/>
        </p:nvSpPr>
        <p:spPr>
          <a:xfrm>
            <a:off x="4754880" y="822960"/>
            <a:ext cx="4023360" cy="320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4754880" y="8229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df.tail(n)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11704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останні n рядків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0" y="1481328"/>
            <a:ext cx="3840480" cy="8229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4983480" y="1554480"/>
            <a:ext cx="356616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df.tail()   </a:t>
            </a: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останні 5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df.tail(</a:t>
            </a:r>
            <a:r>
              <a:rPr lang="en-US" sz="10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# останні 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359152"/>
            <a:ext cx="4023360" cy="246888"/>
          </a:xfrm>
          <a:prstGeom prst="rect">
            <a:avLst/>
          </a:prstGeom>
          <a:solidFill>
            <a:srgbClr val="2563EB">
              <a:alpha val="12000"/>
            </a:srgbClr>
          </a:solidFill>
          <a:ln w="63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Shape 16"/>
          <p:cNvSpPr/>
          <p:nvPr/>
        </p:nvSpPr>
        <p:spPr>
          <a:xfrm>
            <a:off x="365760" y="2724912"/>
            <a:ext cx="4023360" cy="1810512"/>
          </a:xfrm>
          <a:prstGeom prst="rect">
            <a:avLst/>
          </a:prstGeom>
          <a:solidFill>
            <a:srgbClr val="1E293B"/>
          </a:solidFill>
          <a:ln w="1524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Shape 17"/>
          <p:cNvSpPr/>
          <p:nvPr/>
        </p:nvSpPr>
        <p:spPr>
          <a:xfrm>
            <a:off x="365760" y="2724912"/>
            <a:ext cx="402336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Text 18"/>
          <p:cNvSpPr/>
          <p:nvPr/>
        </p:nvSpPr>
        <p:spPr>
          <a:xfrm>
            <a:off x="365760" y="272491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df.sample(n)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307238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n випадкових рядків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3383280"/>
            <a:ext cx="3840480" cy="8229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Text 21"/>
          <p:cNvSpPr/>
          <p:nvPr/>
        </p:nvSpPr>
        <p:spPr>
          <a:xfrm>
            <a:off x="594360" y="3456432"/>
            <a:ext cx="356616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df.sample(</a:t>
            </a:r>
            <a:r>
              <a:rPr lang="en-US" sz="10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   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df.sample(frac=</a:t>
            </a:r>
            <a:r>
              <a:rPr lang="en-US" sz="10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</a:t>
            </a: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# 10%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4261104"/>
            <a:ext cx="4023360" cy="274320"/>
          </a:xfrm>
          <a:prstGeom prst="rect">
            <a:avLst/>
          </a:prstGeom>
          <a:solidFill>
            <a:srgbClr val="7C3AED">
              <a:alpha val="12000"/>
            </a:srgbClr>
          </a:solidFill>
          <a:ln w="63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5" name="Shape 23"/>
          <p:cNvSpPr/>
          <p:nvPr/>
        </p:nvSpPr>
        <p:spPr>
          <a:xfrm>
            <a:off x="4754880" y="2724912"/>
            <a:ext cx="4023360" cy="1810512"/>
          </a:xfrm>
          <a:prstGeom prst="rect">
            <a:avLst/>
          </a:prstGeom>
          <a:solidFill>
            <a:srgbClr val="1E293B"/>
          </a:solidFill>
          <a:ln w="1524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6" name="Shape 24"/>
          <p:cNvSpPr/>
          <p:nvPr/>
        </p:nvSpPr>
        <p:spPr>
          <a:xfrm>
            <a:off x="4754880" y="2724912"/>
            <a:ext cx="4023360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7" name="Text 25"/>
          <p:cNvSpPr/>
          <p:nvPr/>
        </p:nvSpPr>
        <p:spPr>
          <a:xfrm>
            <a:off x="4754880" y="272491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df.shape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46320" y="307238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(рядків, колонок)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46320" y="3383280"/>
            <a:ext cx="3840480" cy="8229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0" name="Text 28"/>
          <p:cNvSpPr/>
          <p:nvPr/>
        </p:nvSpPr>
        <p:spPr>
          <a:xfrm>
            <a:off x="4983480" y="3456432"/>
            <a:ext cx="356616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df.shape </a:t>
            </a: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(891, 12)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len(df) </a:t>
            </a: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891 рядків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4261104"/>
            <a:ext cx="4023360" cy="274320"/>
          </a:xfrm>
          <a:prstGeom prst="rect">
            <a:avLst/>
          </a:prstGeom>
          <a:solidFill>
            <a:srgbClr val="F59E0B">
              <a:alpha val="12000"/>
            </a:srgbClr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2" name="Text 30"/>
          <p:cNvSpPr/>
          <p:nvPr/>
        </p:nvSpPr>
        <p:spPr>
          <a:xfrm>
            <a:off x="365760" y="4654296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💡  head() — завжди перший крок після read_csv()</a:t>
            </a:r>
            <a:r>
              <a:rPr lang="en-US" sz="1050" dirty="0">
                <a:solidFill>
                  <a:srgbClr val="94A3B8"/>
                </a:solidFill>
              </a:rPr>
              <a:t>   |   </a:t>
            </a:r>
            <a:r>
              <a:rPr lang="en-US" sz="1050" dirty="0">
                <a:solidFill>
                  <a:srgbClr val="CBD5E1"/>
                </a:solidFill>
              </a:rPr>
              <a:t>shape — два числа: (рядки, колонки).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таблиці: columns, dtypes, info, describe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6858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365760" y="886968"/>
            <a:ext cx="457200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411480" y="886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df.columns  —  список назв колонок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4572000" cy="987552"/>
          </a:xfrm>
          <a:prstGeom prst="rect">
            <a:avLst/>
          </a:prstGeom>
          <a:solidFill>
            <a:srgbClr val="0D1117"/>
          </a:solidFill>
          <a:ln w="1016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502920" y="1179576"/>
            <a:ext cx="429768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Index(['площа','кімнати','ціна'], dtype='object')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" y="2221992"/>
            <a:ext cx="45720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411480" y="222199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df.dtypes  —  типи даних кожної колонки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478024"/>
            <a:ext cx="4572000" cy="923544"/>
          </a:xfrm>
          <a:prstGeom prst="rect">
            <a:avLst/>
          </a:prstGeom>
          <a:solidFill>
            <a:srgbClr val="0D1117"/>
          </a:solidFill>
          <a:ln w="1016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502920" y="2514600"/>
            <a:ext cx="429768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площа      int64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кімнати    int64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ціна       int64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3493008"/>
            <a:ext cx="4572000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411480" y="349300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df.info()  —  зведена інформація про DataFrame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749040"/>
            <a:ext cx="4572000" cy="932688"/>
          </a:xfrm>
          <a:prstGeom prst="rect">
            <a:avLst/>
          </a:prstGeom>
          <a:solidFill>
            <a:srgbClr val="0D1117"/>
          </a:solidFill>
          <a:ln w="1016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502920" y="3785616"/>
            <a:ext cx="429768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&lt;class 'DataFrame'&gt;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RangeIndex: 891 entries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Columns: 12 non-null...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dtypes: float64(2), int64(5)...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120640" y="886968"/>
            <a:ext cx="356616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5166360" y="8869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0A00"/>
                </a:solidFill>
              </a:rPr>
              <a:t>df.describe()  —  статистика числових колонок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120640" y="1179576"/>
            <a:ext cx="685800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Text 17"/>
          <p:cNvSpPr/>
          <p:nvPr/>
        </p:nvSpPr>
        <p:spPr>
          <a:xfrm>
            <a:off x="5120640" y="1179576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806440" y="1179576"/>
            <a:ext cx="960120" cy="347472"/>
          </a:xfrm>
          <a:prstGeom prst="rect">
            <a:avLst/>
          </a:prstGeom>
          <a:solidFill>
            <a:srgbClr val="0D9488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Text 19"/>
          <p:cNvSpPr/>
          <p:nvPr/>
        </p:nvSpPr>
        <p:spPr>
          <a:xfrm>
            <a:off x="5806440" y="1179576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площа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766560" y="1179576"/>
            <a:ext cx="960120" cy="347472"/>
          </a:xfrm>
          <a:prstGeom prst="rect">
            <a:avLst/>
          </a:prstGeom>
          <a:solidFill>
            <a:srgbClr val="7C3AED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Text 21"/>
          <p:cNvSpPr/>
          <p:nvPr/>
        </p:nvSpPr>
        <p:spPr>
          <a:xfrm>
            <a:off x="6766560" y="1179576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кімнати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726680" y="1179576"/>
            <a:ext cx="960120" cy="347472"/>
          </a:xfrm>
          <a:prstGeom prst="rect">
            <a:avLst/>
          </a:prstGeom>
          <a:solidFill>
            <a:srgbClr val="F59E0B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5" name="Text 23"/>
          <p:cNvSpPr/>
          <p:nvPr/>
        </p:nvSpPr>
        <p:spPr>
          <a:xfrm>
            <a:off x="7726680" y="1179576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ціна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120640" y="1563624"/>
            <a:ext cx="685800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7" name="Text 25"/>
          <p:cNvSpPr/>
          <p:nvPr/>
        </p:nvSpPr>
        <p:spPr>
          <a:xfrm>
            <a:off x="5120640" y="1563624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count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806440" y="1563624"/>
            <a:ext cx="960120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9" name="Text 27"/>
          <p:cNvSpPr/>
          <p:nvPr/>
        </p:nvSpPr>
        <p:spPr>
          <a:xfrm>
            <a:off x="5806440" y="1563624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891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766560" y="1563624"/>
            <a:ext cx="960120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1" name="Text 29"/>
          <p:cNvSpPr/>
          <p:nvPr/>
        </p:nvSpPr>
        <p:spPr>
          <a:xfrm>
            <a:off x="6766560" y="1563624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891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726680" y="1563624"/>
            <a:ext cx="960120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3" name="Text 31"/>
          <p:cNvSpPr/>
          <p:nvPr/>
        </p:nvSpPr>
        <p:spPr>
          <a:xfrm>
            <a:off x="7726680" y="1563624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891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120640" y="1947672"/>
            <a:ext cx="685800" cy="347472"/>
          </a:xfrm>
          <a:prstGeom prst="rect">
            <a:avLst/>
          </a:prstGeom>
          <a:solidFill>
            <a:srgbClr val="1A2740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5" name="Text 33"/>
          <p:cNvSpPr/>
          <p:nvPr/>
        </p:nvSpPr>
        <p:spPr>
          <a:xfrm>
            <a:off x="5120640" y="1947672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mean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806440" y="1947672"/>
            <a:ext cx="960120" cy="347472"/>
          </a:xfrm>
          <a:prstGeom prst="rect">
            <a:avLst/>
          </a:prstGeom>
          <a:solidFill>
            <a:srgbClr val="1A2740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7" name="Text 35"/>
          <p:cNvSpPr/>
          <p:nvPr/>
        </p:nvSpPr>
        <p:spPr>
          <a:xfrm>
            <a:off x="5806440" y="194767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85.4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766560" y="1947672"/>
            <a:ext cx="960120" cy="347472"/>
          </a:xfrm>
          <a:prstGeom prst="rect">
            <a:avLst/>
          </a:prstGeom>
          <a:solidFill>
            <a:srgbClr val="1A2740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9" name="Text 37"/>
          <p:cNvSpPr/>
          <p:nvPr/>
        </p:nvSpPr>
        <p:spPr>
          <a:xfrm>
            <a:off x="6766560" y="194767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2.9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726680" y="1947672"/>
            <a:ext cx="960120" cy="347472"/>
          </a:xfrm>
          <a:prstGeom prst="rect">
            <a:avLst/>
          </a:prstGeom>
          <a:solidFill>
            <a:srgbClr val="1A2740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1" name="Text 39"/>
          <p:cNvSpPr/>
          <p:nvPr/>
        </p:nvSpPr>
        <p:spPr>
          <a:xfrm>
            <a:off x="7726680" y="194767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120.3k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120640" y="2331720"/>
            <a:ext cx="685800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3" name="Text 41"/>
          <p:cNvSpPr/>
          <p:nvPr/>
        </p:nvSpPr>
        <p:spPr>
          <a:xfrm>
            <a:off x="5120640" y="2331720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std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806440" y="2331720"/>
            <a:ext cx="960120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5" name="Text 43"/>
          <p:cNvSpPr/>
          <p:nvPr/>
        </p:nvSpPr>
        <p:spPr>
          <a:xfrm>
            <a:off x="5806440" y="233172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22.1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766560" y="2331720"/>
            <a:ext cx="960120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7" name="Text 45"/>
          <p:cNvSpPr/>
          <p:nvPr/>
        </p:nvSpPr>
        <p:spPr>
          <a:xfrm>
            <a:off x="6766560" y="233172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0.8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7726680" y="2331720"/>
            <a:ext cx="960120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9" name="Text 47"/>
          <p:cNvSpPr/>
          <p:nvPr/>
        </p:nvSpPr>
        <p:spPr>
          <a:xfrm>
            <a:off x="7726680" y="233172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35.2k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120640" y="2715768"/>
            <a:ext cx="685800" cy="347472"/>
          </a:xfrm>
          <a:prstGeom prst="rect">
            <a:avLst/>
          </a:prstGeom>
          <a:solidFill>
            <a:srgbClr val="1A2740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1" name="Text 49"/>
          <p:cNvSpPr/>
          <p:nvPr/>
        </p:nvSpPr>
        <p:spPr>
          <a:xfrm>
            <a:off x="5120640" y="2715768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min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5806440" y="2715768"/>
            <a:ext cx="960120" cy="347472"/>
          </a:xfrm>
          <a:prstGeom prst="rect">
            <a:avLst/>
          </a:prstGeom>
          <a:solidFill>
            <a:srgbClr val="1A2740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3" name="Text 51"/>
          <p:cNvSpPr/>
          <p:nvPr/>
        </p:nvSpPr>
        <p:spPr>
          <a:xfrm>
            <a:off x="5806440" y="2715768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30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766560" y="2715768"/>
            <a:ext cx="960120" cy="347472"/>
          </a:xfrm>
          <a:prstGeom prst="rect">
            <a:avLst/>
          </a:prstGeom>
          <a:solidFill>
            <a:srgbClr val="1A2740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5" name="Text 53"/>
          <p:cNvSpPr/>
          <p:nvPr/>
        </p:nvSpPr>
        <p:spPr>
          <a:xfrm>
            <a:off x="6766560" y="2715768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1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7726680" y="2715768"/>
            <a:ext cx="960120" cy="347472"/>
          </a:xfrm>
          <a:prstGeom prst="rect">
            <a:avLst/>
          </a:prstGeom>
          <a:solidFill>
            <a:srgbClr val="1A2740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7" name="Text 55"/>
          <p:cNvSpPr/>
          <p:nvPr/>
        </p:nvSpPr>
        <p:spPr>
          <a:xfrm>
            <a:off x="7726680" y="2715768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40k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5120640" y="3099816"/>
            <a:ext cx="685800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9" name="Text 57"/>
          <p:cNvSpPr/>
          <p:nvPr/>
        </p:nvSpPr>
        <p:spPr>
          <a:xfrm>
            <a:off x="5120640" y="3099816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25%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5806440" y="3099816"/>
            <a:ext cx="960120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1" name="Text 59"/>
          <p:cNvSpPr/>
          <p:nvPr/>
        </p:nvSpPr>
        <p:spPr>
          <a:xfrm>
            <a:off x="5806440" y="3099816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68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6766560" y="3099816"/>
            <a:ext cx="960120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3" name="Text 61"/>
          <p:cNvSpPr/>
          <p:nvPr/>
        </p:nvSpPr>
        <p:spPr>
          <a:xfrm>
            <a:off x="6766560" y="3099816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2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7726680" y="3099816"/>
            <a:ext cx="960120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5" name="Text 63"/>
          <p:cNvSpPr/>
          <p:nvPr/>
        </p:nvSpPr>
        <p:spPr>
          <a:xfrm>
            <a:off x="7726680" y="3099816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95k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5120640" y="3483864"/>
            <a:ext cx="685800" cy="347472"/>
          </a:xfrm>
          <a:prstGeom prst="rect">
            <a:avLst/>
          </a:prstGeom>
          <a:solidFill>
            <a:srgbClr val="1A2740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7" name="Text 65"/>
          <p:cNvSpPr/>
          <p:nvPr/>
        </p:nvSpPr>
        <p:spPr>
          <a:xfrm>
            <a:off x="5120640" y="3483864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50%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5806440" y="3483864"/>
            <a:ext cx="960120" cy="347472"/>
          </a:xfrm>
          <a:prstGeom prst="rect">
            <a:avLst/>
          </a:prstGeom>
          <a:solidFill>
            <a:srgbClr val="1A2740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9" name="Text 67"/>
          <p:cNvSpPr/>
          <p:nvPr/>
        </p:nvSpPr>
        <p:spPr>
          <a:xfrm>
            <a:off x="5806440" y="3483864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83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6766560" y="3483864"/>
            <a:ext cx="960120" cy="347472"/>
          </a:xfrm>
          <a:prstGeom prst="rect">
            <a:avLst/>
          </a:prstGeom>
          <a:solidFill>
            <a:srgbClr val="1A2740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1" name="Text 69"/>
          <p:cNvSpPr/>
          <p:nvPr/>
        </p:nvSpPr>
        <p:spPr>
          <a:xfrm>
            <a:off x="6766560" y="3483864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3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7726680" y="3483864"/>
            <a:ext cx="960120" cy="347472"/>
          </a:xfrm>
          <a:prstGeom prst="rect">
            <a:avLst/>
          </a:prstGeom>
          <a:solidFill>
            <a:srgbClr val="1A2740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3" name="Text 71"/>
          <p:cNvSpPr/>
          <p:nvPr/>
        </p:nvSpPr>
        <p:spPr>
          <a:xfrm>
            <a:off x="7726680" y="3483864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118k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5120640" y="3867912"/>
            <a:ext cx="685800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5" name="Text 73"/>
          <p:cNvSpPr/>
          <p:nvPr/>
        </p:nvSpPr>
        <p:spPr>
          <a:xfrm>
            <a:off x="5120640" y="3867912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75%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5806440" y="3867912"/>
            <a:ext cx="960120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7" name="Text 75"/>
          <p:cNvSpPr/>
          <p:nvPr/>
        </p:nvSpPr>
        <p:spPr>
          <a:xfrm>
            <a:off x="5806440" y="386791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102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6766560" y="3867912"/>
            <a:ext cx="960120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9" name="Text 77"/>
          <p:cNvSpPr/>
          <p:nvPr/>
        </p:nvSpPr>
        <p:spPr>
          <a:xfrm>
            <a:off x="6766560" y="386791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4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7726680" y="3867912"/>
            <a:ext cx="960120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1" name="Text 79"/>
          <p:cNvSpPr/>
          <p:nvPr/>
        </p:nvSpPr>
        <p:spPr>
          <a:xfrm>
            <a:off x="7726680" y="386791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142k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5120640" y="4251960"/>
            <a:ext cx="685800" cy="347472"/>
          </a:xfrm>
          <a:prstGeom prst="rect">
            <a:avLst/>
          </a:prstGeom>
          <a:solidFill>
            <a:srgbClr val="1A2740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3" name="Text 81"/>
          <p:cNvSpPr/>
          <p:nvPr/>
        </p:nvSpPr>
        <p:spPr>
          <a:xfrm>
            <a:off x="5120640" y="4251960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max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5806440" y="4251960"/>
            <a:ext cx="960120" cy="347472"/>
          </a:xfrm>
          <a:prstGeom prst="rect">
            <a:avLst/>
          </a:prstGeom>
          <a:solidFill>
            <a:srgbClr val="1A2740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5" name="Text 83"/>
          <p:cNvSpPr/>
          <p:nvPr/>
        </p:nvSpPr>
        <p:spPr>
          <a:xfrm>
            <a:off x="5806440" y="425196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180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6766560" y="4251960"/>
            <a:ext cx="960120" cy="347472"/>
          </a:xfrm>
          <a:prstGeom prst="rect">
            <a:avLst/>
          </a:prstGeom>
          <a:solidFill>
            <a:srgbClr val="1A2740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7" name="Text 85"/>
          <p:cNvSpPr/>
          <p:nvPr/>
        </p:nvSpPr>
        <p:spPr>
          <a:xfrm>
            <a:off x="6766560" y="425196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6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7726680" y="4251960"/>
            <a:ext cx="960120" cy="347472"/>
          </a:xfrm>
          <a:prstGeom prst="rect">
            <a:avLst/>
          </a:prstGeom>
          <a:solidFill>
            <a:srgbClr val="1A2740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9" name="Text 87"/>
          <p:cNvSpPr/>
          <p:nvPr/>
        </p:nvSpPr>
        <p:spPr>
          <a:xfrm>
            <a:off x="7726680" y="425196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350k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Вибір колонок, фільтрація рядків і сортування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621792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274320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320040" y="804672"/>
            <a:ext cx="27432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📋  Вибір колонок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65760" y="117043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BD5E1"/>
                </a:solidFill>
              </a:rPr>
              <a:t>Одна колонка → Series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0040" y="1426464"/>
            <a:ext cx="2743200" cy="43891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457200" y="149961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</a:t>
            </a: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'площа'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202996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BD5E1"/>
                </a:solidFill>
              </a:rPr>
              <a:t>Кілька колонок → DataFrame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2286000"/>
            <a:ext cx="2743200" cy="618134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457200" y="235915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df[[</a:t>
            </a: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'площа'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'ціна'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]]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0" y="804672"/>
            <a:ext cx="274320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3200400" y="804672"/>
            <a:ext cx="27432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🔍  Фільтрація рядків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246120" y="117043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BD5E1"/>
                </a:solidFill>
              </a:rPr>
              <a:t>Булева маска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0" y="1426464"/>
            <a:ext cx="2743200" cy="43891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3337560" y="149961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df[df[</a:t>
            </a: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'площа'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&gt; </a:t>
            </a:r>
            <a:r>
              <a:rPr lang="en-US" sz="9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246120" y="202996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BD5E1"/>
                </a:solidFill>
              </a:rPr>
              <a:t>Кілька умов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0" y="2286000"/>
            <a:ext cx="2743200" cy="62179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Text 17"/>
          <p:cNvSpPr/>
          <p:nvPr/>
        </p:nvSpPr>
        <p:spPr>
          <a:xfrm>
            <a:off x="3337560" y="2359152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df[(df[</a:t>
            </a: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'площа'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&gt; </a:t>
            </a:r>
            <a:r>
              <a:rPr lang="en-US" sz="9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&amp;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(df[</a:t>
            </a: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'кімнати'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== </a:t>
            </a:r>
            <a:r>
              <a:rPr lang="en-US" sz="9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)]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246120" y="3072384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BD5E1"/>
                </a:solidFill>
              </a:rPr>
              <a:t>.query() — зручніший синтаксис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0" y="3328416"/>
            <a:ext cx="2743200" cy="43891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2" name="Text 20"/>
          <p:cNvSpPr/>
          <p:nvPr/>
        </p:nvSpPr>
        <p:spPr>
          <a:xfrm>
            <a:off x="3253435" y="3416198"/>
            <a:ext cx="2690165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df.query(</a:t>
            </a: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'площа &gt; 80 &amp; кімнати == 3'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080760" y="804672"/>
            <a:ext cx="2743200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4" name="Text 22"/>
          <p:cNvSpPr/>
          <p:nvPr/>
        </p:nvSpPr>
        <p:spPr>
          <a:xfrm>
            <a:off x="6080760" y="804672"/>
            <a:ext cx="27432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🔃  Сортування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126480" y="117043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BD5E1"/>
                </a:solidFill>
              </a:rPr>
              <a:t>За однією колонкою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80760" y="1426464"/>
            <a:ext cx="2743200" cy="43891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7" name="Text 25"/>
          <p:cNvSpPr/>
          <p:nvPr/>
        </p:nvSpPr>
        <p:spPr>
          <a:xfrm>
            <a:off x="6217920" y="149961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df.sort_values(</a:t>
            </a: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'ціна'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126480" y="202996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BD5E1"/>
                </a:solidFill>
              </a:rPr>
              <a:t>За спаданням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080760" y="2286000"/>
            <a:ext cx="2743200" cy="618134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0" name="Text 28"/>
          <p:cNvSpPr/>
          <p:nvPr/>
        </p:nvSpPr>
        <p:spPr>
          <a:xfrm>
            <a:off x="6126480" y="2373782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df.sort_values(</a:t>
            </a: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‘</a:t>
            </a:r>
            <a:r>
              <a:rPr lang="uk-UA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ціна</a:t>
            </a: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’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uk-UA" sz="950" dirty="0"/>
              <a:t> 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ascending=</a:t>
            </a: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126480" y="3087014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BD5E1"/>
                </a:solidFill>
              </a:rPr>
              <a:t>За кількома колонками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080760" y="3343046"/>
            <a:ext cx="2743200" cy="43891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3" name="Text 31"/>
          <p:cNvSpPr/>
          <p:nvPr/>
        </p:nvSpPr>
        <p:spPr>
          <a:xfrm>
            <a:off x="6126480" y="343082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df.sort_values([</a:t>
            </a: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‘</a:t>
            </a:r>
            <a:r>
              <a:rPr lang="uk-UA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кімнати</a:t>
            </a: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’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’</a:t>
            </a:r>
            <a:r>
              <a:rPr lang="uk-UA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ціна</a:t>
            </a: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0040" y="4279392"/>
            <a:ext cx="8503920" cy="658368"/>
          </a:xfrm>
          <a:prstGeom prst="rect">
            <a:avLst/>
          </a:prstGeom>
          <a:solidFill>
            <a:srgbClr val="1E293B"/>
          </a:solidFill>
          <a:ln w="1016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5" name="Text 33"/>
          <p:cNvSpPr/>
          <p:nvPr/>
        </p:nvSpPr>
        <p:spPr>
          <a:xfrm>
            <a:off x="457200" y="4315968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📌  .iloc[</a:t>
            </a:r>
            <a:r>
              <a:rPr lang="en-US" sz="10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0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050" dirty="0">
                <a:solidFill>
                  <a:srgbClr val="CBD5E1"/>
                </a:solidFill>
              </a:rPr>
              <a:t>  — вибір по числовому індексу (0, 1, 2...)  |  </a:t>
            </a:r>
            <a:r>
              <a:rPr lang="en-US" sz="10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.loc[</a:t>
            </a: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'UA-K'</a:t>
            </a:r>
            <a:r>
              <a:rPr lang="en-US" sz="10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050" dirty="0">
                <a:solidFill>
                  <a:srgbClr val="CBD5E1"/>
                </a:solidFill>
              </a:rPr>
              <a:t>  — вибір по мітці індексу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Пропуски</a:t>
            </a:r>
            <a:r>
              <a:rPr lang="uk-UA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та</a:t>
            </a: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типові помилки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4572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365760" y="918972"/>
            <a:ext cx="5029200" cy="27432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365760" y="9189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⚠️  Пропуски (NaN — Not a Number)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1229868"/>
            <a:ext cx="5029200" cy="3712464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502920" y="1303020"/>
            <a:ext cx="4754880" cy="3054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Знайти пропуски: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</a:t>
            </a:r>
            <a:r>
              <a:rPr lang="en-US" sz="9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isnull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r>
              <a:rPr lang="en-US" sz="9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  </a:t>
            </a:r>
            <a:r>
              <a:rPr lang="uk-UA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кількість NaN по колонкам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</a:t>
            </a:r>
            <a:r>
              <a:rPr lang="en-US" sz="9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isnull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r>
              <a:rPr lang="en-US" sz="9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/ len(df)  # частка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Видалити рядки з NaN: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</a:t>
            </a:r>
            <a:r>
              <a:rPr lang="en-US" sz="9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dropna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            </a:t>
            </a:r>
            <a:r>
              <a:rPr lang="uk-UA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всі рядки з NaN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</a:t>
            </a:r>
            <a:r>
              <a:rPr lang="en-US" sz="9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dropna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(subset=[</a:t>
            </a: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'ціна'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  </a:t>
            </a:r>
            <a:r>
              <a:rPr lang="uk-UA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тільки NaN у 'ціна'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Заповнити NaN: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</a:t>
            </a: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'площа'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</a:t>
            </a:r>
            <a:r>
              <a:rPr lang="en-US" sz="9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fillna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     # нулем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</a:t>
            </a: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'площа'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</a:t>
            </a:r>
            <a:r>
              <a:rPr lang="en-US" sz="9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fillna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(df[</a:t>
            </a: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'площа'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</a:t>
            </a:r>
            <a:r>
              <a:rPr lang="en-US" sz="9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 # середнім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577840" y="918972"/>
            <a:ext cx="3200400" cy="27432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5577840" y="9189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Типові помилки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577840" y="1257300"/>
            <a:ext cx="3200400" cy="685800"/>
          </a:xfrm>
          <a:prstGeom prst="rect">
            <a:avLst/>
          </a:prstGeom>
          <a:solidFill>
            <a:srgbClr val="1E293B"/>
          </a:solidFill>
          <a:ln w="6350">
            <a:solidFill>
              <a:srgbClr val="C5303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5669280" y="128473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B2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df['Площа']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669280" y="1504188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df['площа']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669280" y="171450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59E0B"/>
                </a:solidFill>
              </a:rPr>
              <a:t>регістр важливий!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577840" y="2007108"/>
            <a:ext cx="3200400" cy="685800"/>
          </a:xfrm>
          <a:prstGeom prst="rect">
            <a:avLst/>
          </a:prstGeom>
          <a:solidFill>
            <a:srgbClr val="1E293B"/>
          </a:solidFill>
          <a:ln w="6350">
            <a:solidFill>
              <a:srgbClr val="C5303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5669280" y="203454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B2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df[площа]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669280" y="2253996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df['площа']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669280" y="2464308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59E0B"/>
                </a:solidFill>
              </a:rPr>
              <a:t>потрібні лапки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577840" y="2756916"/>
            <a:ext cx="3200400" cy="685800"/>
          </a:xfrm>
          <a:prstGeom prst="rect">
            <a:avLst/>
          </a:prstGeom>
          <a:solidFill>
            <a:srgbClr val="1E293B"/>
          </a:solidFill>
          <a:ln w="6350">
            <a:solidFill>
              <a:srgbClr val="C5303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Text 17"/>
          <p:cNvSpPr/>
          <p:nvPr/>
        </p:nvSpPr>
        <p:spPr>
          <a:xfrm>
            <a:off x="5669280" y="278434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B2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df[df.площа&gt;80]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669280" y="3003804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df[df['площа']&gt;80]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669280" y="3214116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59E0B"/>
                </a:solidFill>
              </a:rPr>
              <a:t>дужки + лапки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577840" y="3506724"/>
            <a:ext cx="3200400" cy="685800"/>
          </a:xfrm>
          <a:prstGeom prst="rect">
            <a:avLst/>
          </a:prstGeom>
          <a:solidFill>
            <a:srgbClr val="1E293B"/>
          </a:solidFill>
          <a:ln w="6350">
            <a:solidFill>
              <a:srgbClr val="C5303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Text 21"/>
          <p:cNvSpPr/>
          <p:nvPr/>
        </p:nvSpPr>
        <p:spPr>
          <a:xfrm>
            <a:off x="5669280" y="353415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B2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df.shape()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669280" y="3753612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df.shape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669280" y="3963924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59E0B"/>
                </a:solidFill>
              </a:rPr>
              <a:t>це атрибут, не метод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577840" y="4256532"/>
            <a:ext cx="3200400" cy="685800"/>
          </a:xfrm>
          <a:prstGeom prst="rect">
            <a:avLst/>
          </a:prstGeom>
          <a:solidFill>
            <a:srgbClr val="1E293B"/>
          </a:solidFill>
          <a:ln w="6350">
            <a:solidFill>
              <a:srgbClr val="C5303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7" name="Text 25"/>
          <p:cNvSpPr/>
          <p:nvPr/>
        </p:nvSpPr>
        <p:spPr>
          <a:xfrm>
            <a:off x="5669280" y="4283964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B2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df.sort()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669280" y="4503420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df = df.sort_values()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669280" y="4713732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59E0B"/>
                </a:solidFill>
              </a:rPr>
              <a:t>правильний метод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4213</TotalTime>
  <Words>2045</Words>
  <Application>Microsoft Macintosh PowerPoint</Application>
  <PresentationFormat>On-screen Show (16:9)</PresentationFormat>
  <Paragraphs>414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NumPy, pandas, Series і DataFrame</dc:title>
  <dc:subject>PptxGenJS Presentation</dc:subject>
  <dc:creator>PptxGenJS</dc:creator>
  <cp:lastModifiedBy>Штефан Дмитро</cp:lastModifiedBy>
  <cp:revision>7</cp:revision>
  <dcterms:created xsi:type="dcterms:W3CDTF">2026-05-31T20:32:49Z</dcterms:created>
  <dcterms:modified xsi:type="dcterms:W3CDTF">2026-06-03T18:50:53Z</dcterms:modified>
</cp:coreProperties>
</file>