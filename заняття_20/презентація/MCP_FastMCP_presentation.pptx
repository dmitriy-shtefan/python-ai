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5C3E"/>
    <a:srgbClr val="C4C4C4"/>
    <a:srgbClr val="4A4640"/>
    <a:srgbClr val="D97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1"/>
    <p:restoredTop sz="94610"/>
  </p:normalViewPr>
  <p:slideViewPr>
    <p:cSldViewPr snapToGrid="0" snapToObjects="1">
      <p:cViewPr>
        <p:scale>
          <a:sx n="140" d="100"/>
          <a:sy n="140" d="100"/>
        </p:scale>
        <p:origin x="56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D97757">
              <a:alpha val="59608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9692640" y="-731520"/>
            <a:ext cx="5943600" cy="5943600"/>
          </a:xfrm>
          <a:prstGeom prst="ellipse">
            <a:avLst/>
          </a:prstGeom>
          <a:solidFill>
            <a:srgbClr val="4A4640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icons/box_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58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28600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та FastMCP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21792" y="4617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стандартизувати доступ LLM до інструментів і даних — від протоколу до продакшн-деплою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2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uk-UA" sz="12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2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виник MCP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появи протоколу кожна пара «модель ↔ інструмент» вимагала окремої, нестандартної інтеграції.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34747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E8E4D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74320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2994660"/>
            <a:ext cx="685800" cy="800100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 flipV="1">
            <a:off x="2057400" y="3794757"/>
            <a:ext cx="685800" cy="205743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 flipV="1">
            <a:off x="2057400" y="3794753"/>
            <a:ext cx="685800" cy="1211587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3931920" y="34747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E8E4D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93192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2994660"/>
            <a:ext cx="1874520" cy="800100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 flipV="1">
            <a:off x="2057400" y="3794758"/>
            <a:ext cx="1874520" cy="205742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 flipV="1">
            <a:off x="2057400" y="3794754"/>
            <a:ext cx="1874520" cy="1211586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120640" y="34747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E8E4D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12064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2994660"/>
            <a:ext cx="3063240" cy="800100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 flipV="1">
            <a:off x="2057400" y="3794759"/>
            <a:ext cx="3063240" cy="205741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 flipV="1">
            <a:off x="2057400" y="3794755"/>
            <a:ext cx="3063240" cy="1211585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6309360" y="34747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E8E4D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57400" y="2994660"/>
            <a:ext cx="4251960" cy="800100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 flipV="1">
            <a:off x="2057400" y="3794760"/>
            <a:ext cx="4251960" cy="205740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 flipV="1">
            <a:off x="2057400" y="3794756"/>
            <a:ext cx="4251960" cy="1211584"/>
          </a:xfrm>
          <a:prstGeom prst="line">
            <a:avLst/>
          </a:prstGeom>
          <a:noFill/>
          <a:ln w="12700">
            <a:solidFill>
              <a:srgbClr val="D977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40080" y="536067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моделей × M інструментів = хаос нестандартних з’єднань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2057400"/>
            <a:ext cx="4358817" cy="3108960"/>
          </a:xfrm>
          <a:prstGeom prst="roundRect">
            <a:avLst>
              <a:gd name="adj" fmla="val 3529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7818120" y="2377440"/>
            <a:ext cx="777240" cy="77724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4" name="Image 0" descr="icons/link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430" y="2571750"/>
            <a:ext cx="388620" cy="3886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778240" y="2450592"/>
            <a:ext cx="230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Аналогія: USB-C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8778240" y="2907792"/>
            <a:ext cx="270891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універсальний роз’єм замість десятків кабелів під кожен пристрій.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18120" y="3794760"/>
            <a:ext cx="366903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відіграє ту саму роль для LLM: один протокол з’єднує будь-яку модель із будь-яким джерелом даних чи інструментом.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MCP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5" name="Image 0" descr="icons/box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7452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r>
              <a:rPr lang="en-US" sz="14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відкритий протокол для з’єднання LLM-застосунків із зовнішніми джерелами даних та інструментами за єдиним стандартом.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icons/monitor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48157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3558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4114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 з LLM: Claude Desktop, IDE</a:t>
            </a:r>
            <a:endParaRPr lang="en-US" sz="1250" dirty="0"/>
          </a:p>
        </p:txBody>
      </p:sp>
      <p:pic>
        <p:nvPicPr>
          <p:cNvPr id="12" name="Image 2" descr="icons/arrow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767328"/>
            <a:ext cx="329184" cy="3291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43400" y="3063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9"/>
          <p:cNvSpPr/>
          <p:nvPr/>
        </p:nvSpPr>
        <p:spPr>
          <a:xfrm>
            <a:off x="4617720" y="333756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3" descr="icons/link_terracot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38" y="3481578"/>
            <a:ext cx="352044" cy="3520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40680" y="33558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4617720" y="4114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з’єднання 1:1 із сервером</a:t>
            </a:r>
            <a:endParaRPr lang="en-US" sz="1250" dirty="0"/>
          </a:p>
        </p:txBody>
      </p:sp>
      <p:pic>
        <p:nvPicPr>
          <p:cNvPr id="18" name="Image 4" descr="icons/arrow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3767328"/>
            <a:ext cx="329184" cy="32918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138160" y="3063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3"/>
          <p:cNvSpPr/>
          <p:nvPr/>
        </p:nvSpPr>
        <p:spPr>
          <a:xfrm>
            <a:off x="8412480" y="333756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5" descr="icons/server_terracot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498" y="3481578"/>
            <a:ext cx="352044" cy="3520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235440" y="33558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8412480" y="4114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надає Tools, Resources, Prompts</a:t>
            </a:r>
            <a:endParaRPr lang="en-US" sz="1250" dirty="0"/>
          </a:p>
        </p:txBody>
      </p:sp>
      <p:pic>
        <p:nvPicPr>
          <p:cNvPr id="24" name="Image 6" descr="icons/tool_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166360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51560" y="5166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r>
              <a:rPr lang="en-US" sz="13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дії, які модель викликає</a:t>
            </a:r>
            <a:endParaRPr lang="en-US" sz="1300" dirty="0"/>
          </a:p>
        </p:txBody>
      </p:sp>
      <p:pic>
        <p:nvPicPr>
          <p:cNvPr id="26" name="Image 7" descr="icons/folder_s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60" y="5166360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754880" y="5166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</a:t>
            </a:r>
            <a:r>
              <a:rPr lang="en-US" sz="13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для читання</a:t>
            </a:r>
            <a:endParaRPr lang="en-US" sz="1300" dirty="0"/>
          </a:p>
        </p:txBody>
      </p:sp>
      <p:pic>
        <p:nvPicPr>
          <p:cNvPr id="28" name="Image 8" descr="icons/message_s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5166360"/>
            <a:ext cx="384048" cy="38404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458200" y="5166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</a:t>
            </a:r>
            <a:r>
              <a:rPr lang="en-US" sz="13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шаблони запитів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компоненти взаємодіють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s/monitor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395157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IDE, застосунок з LLM усередині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2514600" cy="0"/>
          </a:xfrm>
          <a:prstGeom prst="line">
            <a:avLst/>
          </a:prstGeom>
          <a:noFill/>
          <a:ln w="12700">
            <a:solidFill>
              <a:srgbClr val="4A4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96012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містить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05840" y="4425696"/>
            <a:ext cx="502920" cy="502920"/>
          </a:xfrm>
          <a:prstGeom prst="ellipse">
            <a:avLst/>
          </a:prstGeom>
          <a:solidFill>
            <a:srgbClr val="4A464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icons/link_terracotta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118997" y="4538853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pic>
        <p:nvPicPr>
          <p:cNvPr id="14" name="Image 2" descr="icons/arrow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520440"/>
            <a:ext cx="457200" cy="457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794760" y="411480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8A9A5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1"/>
          <p:cNvSpPr/>
          <p:nvPr/>
        </p:nvSpPr>
        <p:spPr>
          <a:xfrm>
            <a:off x="379476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70332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HTTP+SSE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6320" y="192024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5074920" y="2121408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3" descr="icons/database_terracot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8938" y="2265426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 БД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897880" y="2450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 до сховища даних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46320" y="3172968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18"/>
          <p:cNvSpPr/>
          <p:nvPr/>
        </p:nvSpPr>
        <p:spPr>
          <a:xfrm>
            <a:off x="5074920" y="3374136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4" descr="icons/folder_terracot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938" y="3518154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3310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 Файли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897880" y="3703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читання/пошук документів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46320" y="4425696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2"/>
          <p:cNvSpPr/>
          <p:nvPr/>
        </p:nvSpPr>
        <p:spPr>
          <a:xfrm>
            <a:off x="5074920" y="4626864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5" descr="icons/globe_terracot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8938" y="4770882"/>
            <a:ext cx="352044" cy="3520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97880" y="45628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 API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5897880" y="49560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виклики зовнішніх сервісів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Host може одночасно тримати кілька клієнтських з’єднань — по одному на кожен сервер.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FastMCP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Python-фреймворк для швидкого створення MCP-серверів поверх офіційного SDK.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zap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7500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58775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Декоратори замість boilerplate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функція з `@mcp.tool` — і сервер готовий обробляти виклик.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446520" y="260604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icons/cpu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275005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58775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Автогенерація схем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46520" y="32461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Python автоматично перетворюються на JSON-схему, валідацію й документацію.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822960" y="470916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icons/layers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485317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69087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індустрії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" y="5349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1.0 увійшов до офіційного MCP Python SDK ще у 2024 році.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434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446520" y="4709160"/>
            <a:ext cx="640080" cy="64008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icons/github_terracot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538" y="485317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69087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код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46520" y="5349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Мільйони завантажень щомісяця, активна спільнота на GitHub.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Простий FastMCP-сервер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1A1918"/>
          </a:solidFill>
          <a:ln w="12700">
            <a:solidFill>
              <a:srgbClr val="4A46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1984248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33272" y="1984248"/>
            <a:ext cx="128016" cy="128016"/>
          </a:xfrm>
          <a:prstGeom prst="ellipse">
            <a:avLst/>
          </a:prstGeom>
          <a:solidFill>
            <a:srgbClr val="E5B9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89304" y="1984248"/>
            <a:ext cx="128016" cy="128016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 </a:t>
            </a: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</a:t>
            </a: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3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"WeatherServer"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(city: </a:t>
            </a:r>
            <a:r>
              <a:rPr lang="en-US" sz="13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r>
              <a:rPr lang="en-US" sz="13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C8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погоду для міста."""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0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f"Сонячно, +24°C у {city}"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 </a:t>
            </a: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</a:t>
            </a:r>
            <a:r>
              <a:rPr lang="en-US" sz="130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mcp.run()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874520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863840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FastMCP(...)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19293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 інстанс сервера з назвою.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2656332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863840" y="25374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@mcp.tool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7752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Перетворює функцію на інструмент, доступний моделі.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3557016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863840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параметрів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3611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стають JSON-схемою автоматично.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4338828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7863840" y="42199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mcp.run()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43982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Запускає сервер (за замовчуванням — stdio).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2042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ПРИМІТИВИ FASTMCP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Resources, Prompts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способи, якими MCP-сервер надає можливості моделі.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685800" cy="68580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tool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5774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 модель має виконати дію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29768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987552" y="4453128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send_email(to, body):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4617720" y="2423160"/>
            <a:ext cx="685800" cy="68580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icons/folder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257746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17720" y="3703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 моделі потрібні дані для читання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429768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/>
          <p:nvPr/>
        </p:nvSpPr>
        <p:spPr>
          <a:xfrm>
            <a:off x="4782312" y="4453128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get_report():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38160" y="21488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8412480" y="2423160"/>
            <a:ext cx="685800" cy="685800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icons/message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785" y="2577465"/>
            <a:ext cx="377190" cy="3771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412480" y="3703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 потрібен готовий шаблон запиту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412480" y="429768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0"/>
          <p:cNvSpPr/>
          <p:nvPr/>
        </p:nvSpPr>
        <p:spPr>
          <a:xfrm>
            <a:off x="8577072" y="4453128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review_pr():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"..."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ПРОТОТИПУ ДО ПРОДАКШЕНУ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Prefect Horizon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сервер легко запустити — важко безпечно розповсюдити на команду чи компанію. Horizon від команди FastMCP закриває цей розрив: пуш коду в GitHub → готовий production URL </a:t>
            </a:r>
            <a:r>
              <a:rPr lang="en-US" sz="1400" dirty="0" err="1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r>
              <a:rPr lang="en-US" sz="14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OAuth.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04672" y="2880360"/>
            <a:ext cx="621792" cy="621792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upload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" y="3020263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65760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411480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автомасштабування, preview-деплой для кожного PR, миттєвий rollback.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26060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3611880" y="2880360"/>
            <a:ext cx="621792" cy="621792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3611880" y="365760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11880" y="411480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каталог усіх MCP-серверів організації з версіями та власниками.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3056" y="26060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6419088" y="2880360"/>
            <a:ext cx="621792" cy="621792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icons/shield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3020263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65760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19088" y="411480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Рольовий доступ (RBAC), автентифікація OAuth 2.1, аудит-логи.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70264" y="26060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626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9226296" y="2880360"/>
            <a:ext cx="621792" cy="621792"/>
          </a:xfrm>
          <a:prstGeom prst="ellipse">
            <a:avLst/>
          </a:prstGeom>
          <a:solidFill>
            <a:srgbClr val="F0EEE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icons/users_terraco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199" y="3020263"/>
            <a:ext cx="341986" cy="341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6296" y="365760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226296" y="411480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Чат-інтерфейс для тестування будь-якого сервера чи набору серверів.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 рівень для персональних проєктів · платні можливості governance — для команд.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27" name="Image 3" descr="icons/database_terracotta.png">
            <a:extLst>
              <a:ext uri="{FF2B5EF4-FFF2-40B4-BE49-F238E27FC236}">
                <a16:creationId xmlns:a16="http://schemas.microsoft.com/office/drawing/2014/main" id="{D3042733-F3EF-CE59-4754-5EE5C4FED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754" y="3010205"/>
            <a:ext cx="352044" cy="352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83080" y="4114800"/>
            <a:ext cx="5486400" cy="5486400"/>
          </a:xfrm>
          <a:prstGeom prst="ellipse">
            <a:avLst/>
          </a:prstGeom>
          <a:solidFill>
            <a:srgbClr val="B85C3E">
              <a:alpha val="36863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коду до продакшену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4A4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Опишіть Tool</a:t>
            </a:r>
            <a:endParaRPr lang="en-US" sz="1200" dirty="0"/>
          </a:p>
        </p:txBody>
      </p:sp>
      <p:pic>
        <p:nvPicPr>
          <p:cNvPr id="8" name="Image 0" descr="icons/arrow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24028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4A4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3383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38328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Запустіть локально</a:t>
            </a:r>
            <a:endParaRPr lang="en-US" sz="1200" dirty="0"/>
          </a:p>
        </p:txBody>
      </p:sp>
      <p:pic>
        <p:nvPicPr>
          <p:cNvPr id="12" name="Image 1" descr="icons/arrow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2402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4360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4A4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0"/>
          <p:cNvSpPr/>
          <p:nvPr/>
        </p:nvSpPr>
        <p:spPr>
          <a:xfrm>
            <a:off x="6080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08076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Протестуйте</a:t>
            </a:r>
            <a:endParaRPr lang="en-US" sz="1200" dirty="0"/>
          </a:p>
        </p:txBody>
      </p:sp>
      <p:pic>
        <p:nvPicPr>
          <p:cNvPr id="16" name="Image 2" descr="icons/arrow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240280"/>
            <a:ext cx="256032" cy="25603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64108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4A4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3"/>
          <p:cNvSpPr/>
          <p:nvPr/>
        </p:nvSpPr>
        <p:spPr>
          <a:xfrm>
            <a:off x="8778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77824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Задеплойте через Horizon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Практичні кейси</a:t>
            </a:r>
            <a:endParaRPr lang="en-US" sz="1400" dirty="0"/>
          </a:p>
        </p:txBody>
      </p:sp>
      <p:pic>
        <p:nvPicPr>
          <p:cNvPr id="21" name="Image 3" descr="icons/check_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502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базою даних проєкту</a:t>
            </a:r>
            <a:endParaRPr lang="en-US" sz="1350" dirty="0"/>
          </a:p>
        </p:txBody>
      </p:sp>
      <p:pic>
        <p:nvPicPr>
          <p:cNvPr id="23" name="Image 4" descr="icons/check_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3959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файлової системи</a:t>
            </a:r>
            <a:endParaRPr lang="en-US" sz="1350" dirty="0"/>
          </a:p>
        </p:txBody>
      </p:sp>
      <p:pic>
        <p:nvPicPr>
          <p:cNvPr id="25" name="Image 5" descr="icons/check_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0120" y="4416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 внутрішнього API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5974080" y="3310128"/>
            <a:ext cx="5669280" cy="2926080"/>
          </a:xfrm>
          <a:prstGeom prst="roundRect">
            <a:avLst>
              <a:gd name="adj" fmla="val 375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0"/>
          <p:cNvSpPr/>
          <p:nvPr/>
        </p:nvSpPr>
        <p:spPr>
          <a:xfrm>
            <a:off x="6294120" y="3538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тези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6294120" y="4041648"/>
            <a:ext cx="5074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універсальний протокол «модель ↔ інструменти/дані»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перетворює Python-функції на MCP-сервер декоратором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Prompts — три примітиви можливостей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дає шлях від прототипу до керованого продакшену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Документація: gofastmcp.com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655</Words>
  <Application>Microsoft Macintosh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3</cp:revision>
  <dcterms:created xsi:type="dcterms:W3CDTF">2026-07-12T09:01:12Z</dcterms:created>
  <dcterms:modified xsi:type="dcterms:W3CDTF">2026-07-12T12:51:16Z</dcterms:modified>
</cp:coreProperties>
</file>