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67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6400800" cy="6400800"/>
          </a:xfrm>
          <a:prstGeom prst="ellipse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23315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ТЕКСТУ ДО ВЕКТОРІВ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Класичне NLP та </a:t>
            </a:r>
            <a:r>
              <a:rPr lang="en-US" sz="2200" i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457200" cy="36576"/>
          </a:xfrm>
          <a:prstGeom prst="rect">
            <a:avLst/>
          </a:prstGeom>
          <a:solidFill>
            <a:srgbClr val="5EE6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навчити комп'ютер розуміти людську мову — від токенів до семантичного пошуку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640080"/>
            <a:ext cx="822960" cy="822960"/>
          </a:xfrm>
          <a:prstGeom prst="ellipse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625450" cy="62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мова — це складно для машини?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 працює лише з числами. Людська мова — це знаки, контекст і неоднозначність, яких машина «з коробки» не розуміє.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B2A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2331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1693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слово — кілька значень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«Коса» —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інструмент, волосся чи мис у морі?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«Замок» —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будівля чи механізм на дверях?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бачив листи» —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вона написала чи в дерева?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55448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машини: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2148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перетворити неоднозначний текст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структуровані числові дані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55080" y="329184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B2A52"/>
          </a:solidFill>
          <a:ln w="12700">
            <a:solidFill>
              <a:srgbClr val="2A3A6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6355080" y="3291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656" y="3840480"/>
            <a:ext cx="320040" cy="320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83880" y="329184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B2A52"/>
          </a:solidFill>
          <a:ln w="12700">
            <a:solidFill>
              <a:srgbClr val="2A3A6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8183880" y="3291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910" y="384048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012680" y="329184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F4D43"/>
          </a:solidFill>
          <a:ln w="1905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5"/>
          <p:cNvSpPr/>
          <p:nvPr/>
        </p:nvSpPr>
        <p:spPr>
          <a:xfrm>
            <a:off x="10012680" y="3291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Сенс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4983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цей шлях ми пройдемо на занятті — крок за кроком.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КЛАСИЧНИЙ NLP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обробки тексту: загальна карта шляху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330452" y="2651760"/>
            <a:ext cx="640080" cy="6400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262" y="27285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3474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Токенізація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3886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ділимо текст на частини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33832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89504" y="23774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8"/>
          <p:cNvSpPr/>
          <p:nvPr/>
        </p:nvSpPr>
        <p:spPr>
          <a:xfrm>
            <a:off x="3552444" y="2651760"/>
            <a:ext cx="640080" cy="6400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254" y="272857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99232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980944" y="3474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Стоп-слова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80944" y="3886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прибираємо «шум»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8328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11496" y="23774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3"/>
          <p:cNvSpPr/>
          <p:nvPr/>
        </p:nvSpPr>
        <p:spPr>
          <a:xfrm>
            <a:off x="5774436" y="2651760"/>
            <a:ext cx="640080" cy="6400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1246" y="2728570"/>
            <a:ext cx="486461" cy="48646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21224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202936" y="3474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Лематизація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202936" y="3886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нормалізуємо форму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38328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33488" y="23774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18"/>
          <p:cNvSpPr/>
          <p:nvPr/>
        </p:nvSpPr>
        <p:spPr>
          <a:xfrm>
            <a:off x="7996428" y="2651760"/>
            <a:ext cx="640080" cy="6400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238" y="2728570"/>
            <a:ext cx="486461" cy="4864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43216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7424928" y="3474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424928" y="3886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перетворюємо на числа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3383280"/>
            <a:ext cx="27432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55480" y="23774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4D43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Shape 23"/>
          <p:cNvSpPr/>
          <p:nvPr/>
        </p:nvSpPr>
        <p:spPr>
          <a:xfrm>
            <a:off x="10218420" y="2651760"/>
            <a:ext cx="640080" cy="6400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5230" y="2728570"/>
            <a:ext cx="486461" cy="486461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665208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9646920" y="3474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646920" y="3886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аналізує та передбачає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крок готує дані для наступного — пропустити етап означає погіршити якість усього аналізу.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Токенізація: розбиваємо текст на частини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24160" y="731520"/>
            <a:ext cx="731520" cy="731520"/>
          </a:xfrm>
          <a:prstGeom prst="ellipse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942" y="81930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</a:t>
            </a: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мінімальна одиниця тексту: слово, частина слова або знак пунктуації.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на практиці: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20240" y="3154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word_tokenize(text)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nlp(text)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Вхідний рядок: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“Кіт спить на дивані.”</a:t>
            </a:r>
            <a:endParaRPr lang="en-US" sz="15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7889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токенізації: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0" y="3611880"/>
            <a:ext cx="841248" cy="502920"/>
          </a:xfrm>
          <a:prstGeom prst="roundRect">
            <a:avLst>
              <a:gd name="adj" fmla="val 14545"/>
            </a:avLst>
          </a:prstGeom>
          <a:solidFill>
            <a:srgbClr val="1F4D43"/>
          </a:solidFill>
          <a:ln w="1270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6400800" y="3611880"/>
            <a:ext cx="841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Кіт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79208" y="3611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1F4D43"/>
          </a:solidFill>
          <a:ln w="1270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18"/>
          <p:cNvSpPr/>
          <p:nvPr/>
        </p:nvSpPr>
        <p:spPr>
          <a:xfrm>
            <a:off x="7379208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спить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613648" y="3611880"/>
            <a:ext cx="713232" cy="502920"/>
          </a:xfrm>
          <a:prstGeom prst="roundRect">
            <a:avLst>
              <a:gd name="adj" fmla="val 14545"/>
            </a:avLst>
          </a:prstGeom>
          <a:solidFill>
            <a:srgbClr val="1F4D43"/>
          </a:solidFill>
          <a:ln w="1270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0"/>
          <p:cNvSpPr/>
          <p:nvPr/>
        </p:nvSpPr>
        <p:spPr>
          <a:xfrm>
            <a:off x="8613648" y="36118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464040" y="3611880"/>
            <a:ext cx="1225296" cy="502920"/>
          </a:xfrm>
          <a:prstGeom prst="roundRect">
            <a:avLst>
              <a:gd name="adj" fmla="val 14545"/>
            </a:avLst>
          </a:prstGeom>
          <a:solidFill>
            <a:srgbClr val="1F4D43"/>
          </a:solidFill>
          <a:ln w="1270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2"/>
          <p:cNvSpPr/>
          <p:nvPr/>
        </p:nvSpPr>
        <p:spPr>
          <a:xfrm>
            <a:off x="9464040" y="361188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дивані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826496" y="3611880"/>
            <a:ext cx="585216" cy="502920"/>
          </a:xfrm>
          <a:prstGeom prst="roundRect">
            <a:avLst>
              <a:gd name="adj" fmla="val 14545"/>
            </a:avLst>
          </a:prstGeom>
          <a:solidFill>
            <a:srgbClr val="1F4D43"/>
          </a:solidFill>
          <a:ln w="1270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4"/>
          <p:cNvSpPr/>
          <p:nvPr/>
        </p:nvSpPr>
        <p:spPr>
          <a:xfrm>
            <a:off x="10826496" y="3611880"/>
            <a:ext cx="585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0080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токенів зі 21 символу — кожен елемент тепер окрема одиниця для аналізу.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2-3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Стоп-слова, лематизація та стеммінг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Стоп-слова</a:t>
            </a: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«і», «на», «це» — не несуть смислового навантаження, прибираємо для економії обчислень.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91840" cy="457200"/>
          </a:xfrm>
          <a:prstGeom prst="rect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2286000"/>
            <a:ext cx="3291840" cy="457200"/>
          </a:xfrm>
          <a:prstGeom prst="rect">
            <a:avLst/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02336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Лематизація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2286000"/>
            <a:ext cx="3291840" cy="457200"/>
          </a:xfrm>
          <a:prstGeom prst="rect">
            <a:avLst/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Стеммінг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бігав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02336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бігати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274320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49808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бігаю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24612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023360" y="3246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бігати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324612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98080" y="3246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кращий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0" y="374904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02336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добрий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8080" y="3749040"/>
            <a:ext cx="3291840" cy="50292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749808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023360" y="425196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023360" y="4251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98080" y="4251960"/>
            <a:ext cx="3291840" cy="50292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7498080" y="4251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8920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Зверніть увагу: лематизація дає справжнє слово («добрий»), стеммінг — лише грубо відрізаний корінь («кращ»).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007" y="5532120"/>
            <a:ext cx="457200" cy="457200"/>
          </a:xfrm>
          <a:prstGeom prst="ellipse">
            <a:avLst/>
          </a:prstGeom>
          <a:solidFill>
            <a:srgbClr val="2331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1" y="5586984"/>
            <a:ext cx="347472" cy="34747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88720" y="54406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Стеммінг швидший, але менш точний — застосовується там, де швидкість важливіша за точність (напр. пошукові системи).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 на реальному прикладі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0B1226"/>
          </a:solidFill>
          <a:ln/>
        </p:spPr>
        <p:txBody>
          <a:bodyPr/>
          <a:lstStyle/>
          <a:p>
            <a:endParaRPr lang="en-UA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34440" y="18288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486400" cy="2950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spacy
nlp = spacy.load(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"uk_core_news_sm"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text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"Студенти швидко навчаються."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doc = nlp(text)
</a:t>
            </a: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 </a:t>
            </a: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doc:
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token.is_stop:
        print(token.text,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"→"</a:t>
            </a: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token.lemma_)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64592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Вивід: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Студенти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5059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студент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швидко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0449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0" y="2926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швидко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040880" y="3520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навчаються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6393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3520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навчатися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40880" y="42976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«навчаються» вже бачимо у словниковій формі «навчатися», а слово «на» (стоп-слово) прибрано автоматично.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5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vs SpaCy: що обрати для яких задач?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6541"/>
            <a:ext cx="3383280" cy="548640"/>
          </a:xfrm>
          <a:prstGeom prst="rect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1486541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Задача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486541"/>
            <a:ext cx="3886200" cy="548640"/>
          </a:xfrm>
          <a:prstGeom prst="rect">
            <a:avLst/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0" y="1486541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83880" y="1486541"/>
            <a:ext cx="3456432" cy="548640"/>
          </a:xfrm>
          <a:prstGeom prst="rect">
            <a:avLst/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183880" y="1486541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35181"/>
            <a:ext cx="3383280" cy="914400"/>
          </a:xfrm>
          <a:prstGeom prst="rect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85800" y="2035181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Токенізація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(речення та слова)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2035181"/>
            <a:ext cx="3886200" cy="91440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279392" y="2035181"/>
            <a:ext cx="3557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sent_tokenize() +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word_tokenize() — окремі функції, потрібно викликати послідовно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2035181"/>
            <a:ext cx="3456432" cy="91440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8348472" y="2035181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при nlp(text) — doc.sents та token одразу доступні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49581"/>
            <a:ext cx="3383280" cy="914400"/>
          </a:xfrm>
          <a:prstGeom prst="rect">
            <a:avLst/>
          </a:prstGeom>
          <a:solidFill>
            <a:srgbClr val="0B12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85800" y="2949581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POS-tagging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(частини мови)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2949581"/>
            <a:ext cx="3886200" cy="91440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279392" y="2949581"/>
            <a:ext cx="3557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pos_tag() — окрема функція, базові точність і швидкість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3880" y="2949581"/>
            <a:ext cx="3456432" cy="91440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8348472" y="2949581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token.pos_ — вбудовано в пайплайн, вища точність на сучасних моделях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63981"/>
            <a:ext cx="3383280" cy="914400"/>
          </a:xfrm>
          <a:prstGeom prst="rect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85800" y="3863981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Лематизація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стемінг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0" y="3863981"/>
            <a:ext cx="3886200" cy="91440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279392" y="3863981"/>
            <a:ext cx="3557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і лематизатор (WordNet), і кілька стеммерів (Porter, Snowball)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3863981"/>
            <a:ext cx="3456432" cy="914400"/>
          </a:xfrm>
          <a:prstGeom prst="rect">
            <a:avLst/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8348472" y="3863981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лематизація token.lemma_ — якісна, але стемінгу немає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78381"/>
            <a:ext cx="3383280" cy="914400"/>
          </a:xfrm>
          <a:prstGeom prst="rect">
            <a:avLst/>
          </a:prstGeom>
          <a:solidFill>
            <a:srgbClr val="0B12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85800" y="4778381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(іменовані сутності)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0" y="4778381"/>
            <a:ext cx="3886200" cy="91440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279392" y="4778381"/>
            <a:ext cx="3557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ne_chunk() — працює, але повільніше і менш точно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83880" y="4778381"/>
            <a:ext cx="3456432" cy="914400"/>
          </a:xfrm>
          <a:prstGeom prst="rect">
            <a:avLst/>
          </a:prstGeom>
          <a:solidFill>
            <a:srgbClr val="1622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8348472" y="4778381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doc.ents — швидко, точно, готово для production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457200" cy="457200"/>
          </a:xfrm>
          <a:prstGeom prst="ellipse">
            <a:avLst/>
          </a:prstGeom>
          <a:solidFill>
            <a:srgbClr val="2331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5907024"/>
            <a:ext cx="347472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25880" y="5852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правило: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для навчання та розуміння алгоритмів «під капотом»; SpaCy — для швидких production-рішень.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ПЕРЕХІД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токенізації по словах вже не вистачає?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3A1F2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1689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на ~1 000 000 слів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Незнайомі слова (OOV)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ламають модель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форми того ж слова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окремі токени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Величезний словник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повільні обчислення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85232" cy="3200400"/>
          </a:xfrm>
          <a:prstGeom prst="roundRect">
            <a:avLst>
              <a:gd name="adj" fmla="val 2857"/>
            </a:avLst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548640" cy="54864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957" y="21689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на ~50 000 підслів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20840" y="28346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Підслова (subwords)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покривають будь-яке слово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Незнайоме слово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розбивається на знайомі шматки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Компактний словник 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швидше і ефективніше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токенізація підтокенами (subword tokenization) — наступний крок еволюції.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СУЧАСНИЙ NLP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та Tiktoken: токенізація підслів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(Byte Pair Encoding) </a:t>
            </a: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часті пари символів поступово об'єднуються в один токен, поки словник не досягне потрібного розміру.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tokenization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97180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26974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F4D43"/>
          </a:solidFill>
          <a:ln w="1905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4206240" y="26974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806440" y="2697480"/>
            <a:ext cx="1728216" cy="822960"/>
          </a:xfrm>
          <a:prstGeom prst="roundRect">
            <a:avLst>
              <a:gd name="adj" fmla="val 11111"/>
            </a:avLst>
          </a:prstGeom>
          <a:solidFill>
            <a:srgbClr val="1F4D43"/>
          </a:solidFill>
          <a:ln w="1905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806440" y="269748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ization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08976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токени замість одного незнайомого слова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3315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26659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2960" y="47091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Токенізатор від OpenAI, що використовується у моделях GPT. Дозволяє побачити, на які саме підтокени розбивається ваш текст.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0760" y="397764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635508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незнайоме_слово_2026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55080" y="4663440"/>
            <a:ext cx="1362456" cy="457200"/>
          </a:xfrm>
          <a:prstGeom prst="roundRect">
            <a:avLst>
              <a:gd name="adj" fmla="val 12000"/>
            </a:avLst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7"/>
          <p:cNvSpPr/>
          <p:nvPr/>
        </p:nvSpPr>
        <p:spPr>
          <a:xfrm>
            <a:off x="6355080" y="4663440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незнайом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808976" y="4663440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9"/>
          <p:cNvSpPr/>
          <p:nvPr/>
        </p:nvSpPr>
        <p:spPr>
          <a:xfrm>
            <a:off x="7808976" y="46634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430768" y="4663440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1"/>
          <p:cNvSpPr/>
          <p:nvPr/>
        </p:nvSpPr>
        <p:spPr>
          <a:xfrm>
            <a:off x="8430768" y="46634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052560" y="466344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3"/>
          <p:cNvSpPr/>
          <p:nvPr/>
        </p:nvSpPr>
        <p:spPr>
          <a:xfrm>
            <a:off x="9052560" y="4663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слово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0149840" y="4663440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5"/>
          <p:cNvSpPr/>
          <p:nvPr/>
        </p:nvSpPr>
        <p:spPr>
          <a:xfrm>
            <a:off x="10149840" y="46634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0771632" y="4663440"/>
            <a:ext cx="886968" cy="457200"/>
          </a:xfrm>
          <a:prstGeom prst="roundRect">
            <a:avLst>
              <a:gd name="adj" fmla="val 12000"/>
            </a:avLst>
          </a:prstGeom>
          <a:solidFill>
            <a:srgbClr val="2A3A6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7"/>
          <p:cNvSpPr/>
          <p:nvPr/>
        </p:nvSpPr>
        <p:spPr>
          <a:xfrm>
            <a:off x="10771632" y="4663440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 Embeddings: слово → вектор чисел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це вектор чисел, що описує сенс слова чи тексту. Схожі за змістом слова мають близькі вектори.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Класичний приклад Word2Vec: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</a:t>
            </a:r>
            <a:r>
              <a:rPr lang="en-US" sz="18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−  </a:t>
            </a:r>
            <a:r>
              <a:rPr lang="en-US" sz="18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</a:t>
            </a:r>
            <a:r>
              <a:rPr lang="en-US" sz="18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18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woman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≈  </a:t>
            </a:r>
            <a:r>
              <a:rPr lang="en-US" sz="1800" b="1" dirty="0">
                <a:solidFill>
                  <a:srgbClr val="5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 зберігають смислові зв'язки — арифметика над ними працює як арифметика над сенсами!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623560" cy="4572000"/>
          </a:xfrm>
          <a:prstGeom prst="roundRect">
            <a:avLst>
              <a:gd name="adj" fmla="val 2000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Векторний простір (спрощено, 2D-проекція):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514600"/>
            <a:ext cx="1920240" cy="1371600"/>
          </a:xfrm>
          <a:prstGeom prst="ellipse">
            <a:avLst/>
          </a:prstGeom>
          <a:solidFill>
            <a:srgbClr val="1F4D43">
              <a:alpha val="40000"/>
            </a:srgbClr>
          </a:solidFill>
          <a:ln w="12700">
            <a:solidFill>
              <a:srgbClr val="5EE6C8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9418320" y="4069080"/>
            <a:ext cx="2011680" cy="1280160"/>
          </a:xfrm>
          <a:prstGeom prst="ellipse">
            <a:avLst/>
          </a:prstGeom>
          <a:solidFill>
            <a:srgbClr val="4A3318">
              <a:alpha val="50000"/>
            </a:srgbClr>
          </a:solidFill>
          <a:ln w="12700">
            <a:solidFill>
              <a:srgbClr val="FFB454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675120" y="2743200"/>
            <a:ext cx="128016" cy="128016"/>
          </a:xfrm>
          <a:prstGeom prst="ellipse">
            <a:avLst/>
          </a:prstGeom>
          <a:solidFill>
            <a:srgbClr val="5EE6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309360" y="28895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200400"/>
            <a:ext cx="128016" cy="128016"/>
          </a:xfrm>
          <a:prstGeom prst="ellipse">
            <a:avLst/>
          </a:prstGeom>
          <a:solidFill>
            <a:srgbClr val="5EE6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75120" y="3346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383280"/>
            <a:ext cx="128016" cy="128016"/>
          </a:xfrm>
          <a:prstGeom prst="ellipse">
            <a:avLst/>
          </a:prstGeom>
          <a:solidFill>
            <a:srgbClr val="5EE6C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12648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тварина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75520" y="4846320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9509760" y="4992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332720" y="4572000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9966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4297680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9326880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потяг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про тварин і слова про транспорт утворюють окремі «хмари» у просторі.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EMBEDDINGS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статичних до контекстних векторів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Статичні embeddings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/ GloVe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слово = один вектор завжди, незалежно від контексту речення.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«коса»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завжди один і той самий вектор: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[0.21, -0.55, 0.83, ...]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4758538"/>
            <a:ext cx="457200" cy="457200"/>
          </a:xfrm>
          <a:prstGeom prst="ellipse">
            <a:avLst/>
          </a:prstGeom>
          <a:solidFill>
            <a:srgbClr val="3A1F2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81340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57554" y="457819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розрізняє «коса» (волосся) і «коса» (інструмент)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737360"/>
            <a:ext cx="5376672" cy="4206240"/>
          </a:xfrm>
          <a:prstGeom prst="roundRect">
            <a:avLst>
              <a:gd name="adj" fmla="val 2174"/>
            </a:avLst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53796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Контекстні embeddings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GPT / sentence-transformers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слова залежить від речення, у якому воно стоїть.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37960" y="342900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672084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відкрив </a:t>
            </a:r>
            <a:r>
              <a:rPr lang="ru-RU" sz="1300" b="1" dirty="0">
                <a:solidFill>
                  <a:srgbClr val="5EE6C8"/>
                </a:solidFill>
                <a:latin typeface="Calibri" pitchFamily="34" charset="0"/>
                <a:cs typeface="Calibri" pitchFamily="34" charset="-120"/>
              </a:rPr>
              <a:t>мишку</a:t>
            </a:r>
            <a:r>
              <a:rPr lang="ru-RU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щоб замінити батарейку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2084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A —</a:t>
            </a:r>
            <a:r>
              <a:rPr lang="uk-UA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комп'ютерний пристрій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2084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300" b="1" dirty="0">
                <a:solidFill>
                  <a:srgbClr val="5EE6C8"/>
                </a:solidFill>
                <a:latin typeface="Calibri" pitchFamily="34" charset="0"/>
                <a:cs typeface="Calibri" pitchFamily="34" charset="-120"/>
              </a:rPr>
              <a:t>Мишка</a:t>
            </a:r>
            <a:r>
              <a:rPr lang="ru-RU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швидко сховалася в нірку.</a:t>
            </a:r>
            <a:r>
              <a:rPr lang="en-US" sz="13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2084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B — </a:t>
            </a:r>
            <a:r>
              <a:rPr lang="uk-UA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тварина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0840" y="5166360"/>
            <a:ext cx="411480" cy="411480"/>
          </a:xfrm>
          <a:prstGeom prst="ellipse">
            <a:avLst/>
          </a:prstGeom>
          <a:solidFill>
            <a:srgbClr val="0E173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8" y="5215738"/>
            <a:ext cx="312725" cy="3127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32320" y="51435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слово — різні вектори залежно від змісту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Отримання embeddings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0B12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87552" y="187452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97864" y="187452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sentence_transformers </a:t>
            </a: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SentenceTransformer
model = SentenceTransformer(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"paraphrase-multilingual-MiniLM-L12-v2"</a:t>
            </a: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embeddings = model.encode(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"Кіт спить на дивані"</a:t>
            </a:r>
            <a:r>
              <a:rPr lang="en-US" sz="1200" dirty="0">
                <a:solidFill>
                  <a:srgbClr val="CB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print(len(embeddings))  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384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Отримуємо </a:t>
            </a:r>
            <a:r>
              <a:rPr lang="en-US" sz="13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із </a:t>
            </a:r>
            <a:r>
              <a:rPr lang="uk-UA" sz="13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</a:t>
            </a:r>
            <a:r>
              <a:rPr lang="en-US" sz="1300" i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чисел — кожне число відображає одну з «рис» сенсу тексту.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1B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858000" y="18745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Косинусна подібність (cosine similarity)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331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Інтуїтивно: вимірюємо кут між двома векторами. Менший кут — більша смислова схожість.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18562" y="4709160"/>
            <a:ext cx="2377440" cy="0"/>
          </a:xfrm>
          <a:prstGeom prst="line">
            <a:avLst/>
          </a:prstGeom>
          <a:noFill/>
          <a:ln w="31750">
            <a:solidFill>
              <a:srgbClr val="5EE6C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 flipV="1">
            <a:off x="7718562" y="3137374"/>
            <a:ext cx="2203106" cy="1571786"/>
          </a:xfrm>
          <a:prstGeom prst="line">
            <a:avLst/>
          </a:prstGeom>
          <a:noFill/>
          <a:ln w="3175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9547362" y="435205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81602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5866" y="436626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72842" y="46634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858000" y="5120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≈ 1 → майже однаковий сенс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≈ 0 → не пов'язані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5380" y="-457200"/>
            <a:ext cx="5486400" cy="5486400"/>
          </a:xfrm>
          <a:prstGeom prst="ellipse">
            <a:avLst/>
          </a:prstGeom>
          <a:solidFill>
            <a:srgbClr val="1B2A52">
              <a:alpha val="33725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Простий семантичний пошук: збираємо все разом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3816" y="16916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574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3936" y="16916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текстів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836" y="228600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11296" y="16916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205740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71416" y="16916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бази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2286000"/>
            <a:ext cx="274320" cy="2743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08776" y="16916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2057400"/>
            <a:ext cx="731520" cy="7315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8896" y="16916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користувача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796" y="2286000"/>
            <a:ext cx="274320" cy="274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906256" y="16916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B2A52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36" y="2057400"/>
            <a:ext cx="731520" cy="7315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866376" y="16916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найближчих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548640" y="3634740"/>
            <a:ext cx="11064240" cy="822960"/>
          </a:xfrm>
          <a:prstGeom prst="roundRect">
            <a:avLst>
              <a:gd name="adj" fmla="val 8696"/>
            </a:avLst>
          </a:prstGeom>
          <a:solidFill>
            <a:srgbClr val="1F4D4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2"/>
          <p:cNvSpPr/>
          <p:nvPr/>
        </p:nvSpPr>
        <p:spPr>
          <a:xfrm>
            <a:off x="822960" y="35204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Запит: 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«домашній улюбленець»</a:t>
            </a:r>
            <a:r>
              <a:rPr lang="en-US" sz="1500" dirty="0">
                <a:solidFill>
                  <a:srgbClr val="D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знаходить текст: </a:t>
            </a:r>
            <a:r>
              <a:rPr lang="en-US" sz="15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«мій кіт любить спати»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536078" y="458343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не співпадають, але пошук розуміє СЕНС — це і є сила embeddings.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3639312" y="5326380"/>
            <a:ext cx="5038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ш</a:t>
            </a:r>
            <a:r>
              <a:rPr lang="en-US" sz="1200" b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лях: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2830367" y="57378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093" y="578358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247687" y="573786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465" y="578358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783879" y="573786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599" y="5783580"/>
            <a:ext cx="256032" cy="25603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795559" y="5737860"/>
            <a:ext cx="16731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Семантичний пошук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1108</Words>
  <Application>Microsoft Macintosh PowerPoint</Application>
  <PresentationFormat>Widescreen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Від тексту до векторів</dc:title>
  <dc:subject>PptxGenJS Presentation</dc:subject>
  <dc:creator>Dmytro</dc:creator>
  <cp:lastModifiedBy>Штефан Дмитро</cp:lastModifiedBy>
  <cp:revision>6</cp:revision>
  <dcterms:created xsi:type="dcterms:W3CDTF">2026-06-27T17:17:02Z</dcterms:created>
  <dcterms:modified xsi:type="dcterms:W3CDTF">2026-06-28T19:21:38Z</dcterms:modified>
</cp:coreProperties>
</file>