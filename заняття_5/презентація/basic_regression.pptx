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0" r:id="rId19"/>
    <p:sldId id="273" r:id="rId20"/>
    <p:sldId id="274" r:id="rId21"/>
    <p:sldId id="275" r:id="rId22"/>
    <p:sldId id="277" r:id="rId23"/>
    <p:sldId id="276" r:id="rId24"/>
    <p:sldId id="278" r:id="rId25"/>
    <p:sldId id="279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5"/>
    <p:restoredTop sz="94610"/>
  </p:normalViewPr>
  <p:slideViewPr>
    <p:cSldViewPr snapToGrid="0" snapToObjects="1">
      <p:cViewPr varScale="1">
        <p:scale>
          <a:sx n="199" d="100"/>
          <a:sy n="199" d="100"/>
        </p:scale>
        <p:origin x="1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137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9CF9"/>
                </a:solidFill>
              </a:rPr>
              <a:t>Створення AI додатків з використанням Python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E0E8FF"/>
                </a:solidFill>
              </a:rPr>
              <a:t>Базова регресія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1847088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D4FF"/>
                </a:solidFill>
              </a:rPr>
              <a:t>Регресія, метрики якості і градієнтний спуск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226771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2B0"/>
                </a:solidFill>
              </a:rPr>
              <a:t>Модуль 3. Алгоритми навчання з учителем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4754880" cy="36576"/>
          </a:xfrm>
          <a:prstGeom prst="rect">
            <a:avLst/>
          </a:prstGeom>
          <a:solidFill>
            <a:srgbClr val="4F9CF9">
              <a:alpha val="65000"/>
            </a:srgbClr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57200" y="3127248"/>
            <a:ext cx="1691640" cy="292608"/>
          </a:xfrm>
          <a:prstGeom prst="roundRect">
            <a:avLst>
              <a:gd name="adj" fmla="val 15625"/>
            </a:avLst>
          </a:prstGeom>
          <a:solidFill>
            <a:srgbClr val="00FF9F">
              <a:alpha val="22000"/>
            </a:srgbClr>
          </a:solidFill>
          <a:ln w="1651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57200" y="312724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LinearRegression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77440" y="3127248"/>
            <a:ext cx="1920240" cy="292608"/>
          </a:xfrm>
          <a:prstGeom prst="roundRect">
            <a:avLst>
              <a:gd name="adj" fmla="val 15625"/>
            </a:avLst>
          </a:prstGeom>
          <a:solidFill>
            <a:srgbClr val="F0C040">
              <a:alpha val="22000"/>
            </a:srgbClr>
          </a:solidFill>
          <a:ln w="1651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2377440" y="31272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/ MSE / RMSE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3127248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A855F7">
              <a:alpha val="22000"/>
            </a:srgbClr>
          </a:solidFill>
          <a:ln w="1651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4617720" y="31272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15000" y="3127248"/>
            <a:ext cx="1920240" cy="292608"/>
          </a:xfrm>
          <a:prstGeom prst="roundRect">
            <a:avLst>
              <a:gd name="adj" fmla="val 15625"/>
            </a:avLst>
          </a:prstGeom>
          <a:solidFill>
            <a:srgbClr val="FF9F43">
              <a:alpha val="22000"/>
            </a:srgbClr>
          </a:solidFill>
          <a:ln w="1651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715000" y="31272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Descent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вже вивчили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Переходимо від графіків до першої моделі машинного навчання.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2606040" cy="3154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260604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76072" y="1289304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Минулого разу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76072" y="1645920"/>
            <a:ext cx="2276856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Будували графіки, читали залежності, бачили тренди й викиди на візуалізаціях.</a:t>
            </a:r>
            <a:endParaRPr lang="en-US" sz="1170" dirty="0"/>
          </a:p>
        </p:txBody>
      </p:sp>
      <p:sp>
        <p:nvSpPr>
          <p:cNvPr id="8" name="Shape 6"/>
          <p:cNvSpPr/>
          <p:nvPr/>
        </p:nvSpPr>
        <p:spPr>
          <a:xfrm>
            <a:off x="3200400" y="1143000"/>
            <a:ext cx="2606040" cy="3154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606040" cy="502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3364992" y="1289304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64992" y="1645920"/>
            <a:ext cx="2276856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Навчимо модель передбачати числове значення і перевіримо, наскільки прогноз корисний.</a:t>
            </a:r>
            <a:endParaRPr lang="en-US" sz="1170" dirty="0"/>
          </a:p>
        </p:txBody>
      </p:sp>
      <p:sp>
        <p:nvSpPr>
          <p:cNvPr id="12" name="Shape 10"/>
          <p:cNvSpPr/>
          <p:nvPr/>
        </p:nvSpPr>
        <p:spPr>
          <a:xfrm>
            <a:off x="5989320" y="1143000"/>
            <a:ext cx="2606040" cy="3154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5989320" y="1143000"/>
            <a:ext cx="260604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6153912" y="1289304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Головне питання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153912" y="1645920"/>
            <a:ext cx="2276856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з таблиці отримати модель: X -&gt; прогноз -&gt; порівняння з реальністю -&gt; метрики?</a:t>
            </a:r>
            <a:endParaRPr lang="en-US" sz="1170" dirty="0"/>
          </a:p>
        </p:txBody>
      </p:sp>
      <p:sp>
        <p:nvSpPr>
          <p:cNvPr id="16" name="Text 14"/>
          <p:cNvSpPr/>
          <p:nvPr/>
        </p:nvSpPr>
        <p:spPr>
          <a:xfrm>
            <a:off x="594360" y="45262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uk-UA" sz="1200" dirty="0">
                <a:solidFill>
                  <a:srgbClr val="8892B0"/>
                </a:solidFill>
              </a:rPr>
              <a:t>Г</a:t>
            </a:r>
            <a:r>
              <a:rPr lang="en-US" sz="1200" dirty="0">
                <a:solidFill>
                  <a:srgbClr val="8892B0"/>
                </a:solidFill>
              </a:rPr>
              <a:t>рафік стає не тільки способом аналізу, а й способом перевірити поведінку моделі.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таке задача регресії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відповідає на питання: скільки?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18556" y="1207008"/>
            <a:ext cx="2286000" cy="2651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918556" y="1207008"/>
            <a:ext cx="2286000" cy="50292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1083148" y="13533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83148" y="1709928"/>
            <a:ext cx="195681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Історичні приклади: ознаки об'єкта і числова відповідь, яку вже знаємо.</a:t>
            </a:r>
            <a:endParaRPr lang="en-US" sz="1170" dirty="0"/>
          </a:p>
        </p:txBody>
      </p:sp>
      <p:sp>
        <p:nvSpPr>
          <p:cNvPr id="8" name="Shape 6"/>
          <p:cNvSpPr/>
          <p:nvPr/>
        </p:nvSpPr>
        <p:spPr>
          <a:xfrm>
            <a:off x="3478876" y="1207008"/>
            <a:ext cx="2286000" cy="2651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3478876" y="1207008"/>
            <a:ext cx="2286000" cy="502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3643468" y="13533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43468" y="1709928"/>
            <a:ext cx="195681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Шукає закономірність між X і y, щоб робити прогноз для нових об'єктів.</a:t>
            </a:r>
            <a:endParaRPr lang="en-US" sz="1170" dirty="0"/>
          </a:p>
        </p:txBody>
      </p:sp>
      <p:sp>
        <p:nvSpPr>
          <p:cNvPr id="12" name="Shape 10"/>
          <p:cNvSpPr/>
          <p:nvPr/>
        </p:nvSpPr>
        <p:spPr>
          <a:xfrm>
            <a:off x="6039196" y="1207008"/>
            <a:ext cx="2286000" cy="2651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6039196" y="1207008"/>
            <a:ext cx="228600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6203788" y="13533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03788" y="1709928"/>
            <a:ext cx="195681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вході ознаки, на виході число: ціна, час, дохід, температура, ризик.</a:t>
            </a:r>
            <a:endParaRPr lang="en-US" sz="1170" dirty="0"/>
          </a:p>
        </p:txBody>
      </p:sp>
      <p:sp>
        <p:nvSpPr>
          <p:cNvPr id="16" name="Text 14"/>
          <p:cNvSpPr/>
          <p:nvPr/>
        </p:nvSpPr>
        <p:spPr>
          <a:xfrm>
            <a:off x="3186268" y="242316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892B0"/>
                </a:solidFill>
              </a:rPr>
              <a:t>-&gt;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737444" y="242316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892B0"/>
                </a:solidFill>
              </a:rPr>
              <a:t>-&gt;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418795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dirty="0">
                <a:solidFill>
                  <a:srgbClr val="E0E8FF"/>
                </a:solidFill>
              </a:rPr>
              <a:t>Якщо відповідь є числом на шкалі, це кандидат на регресію. Якщо відповідь є категорією, це класифікація.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проти класифікації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2197303" cy="621792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539496" y="1005840"/>
            <a:ext cx="2124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00223" y="960120"/>
            <a:ext cx="2929738" cy="621792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2736799" y="1005840"/>
            <a:ext cx="285658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</a:t>
            </a:r>
            <a:endParaRPr lang="en-US" sz="1240" dirty="0"/>
          </a:p>
        </p:txBody>
      </p:sp>
      <p:sp>
        <p:nvSpPr>
          <p:cNvPr id="7" name="Shape 5"/>
          <p:cNvSpPr/>
          <p:nvPr/>
        </p:nvSpPr>
        <p:spPr>
          <a:xfrm>
            <a:off x="5629961" y="960120"/>
            <a:ext cx="3011119" cy="621792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666537" y="1005840"/>
            <a:ext cx="29379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Класифікація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502920" y="1581912"/>
            <a:ext cx="2197303" cy="62179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39496" y="1627632"/>
            <a:ext cx="2124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прогнозуємо</a:t>
            </a:r>
            <a:endParaRPr lang="en-US" sz="1240" dirty="0"/>
          </a:p>
        </p:txBody>
      </p:sp>
      <p:sp>
        <p:nvSpPr>
          <p:cNvPr id="11" name="Shape 9"/>
          <p:cNvSpPr/>
          <p:nvPr/>
        </p:nvSpPr>
        <p:spPr>
          <a:xfrm>
            <a:off x="2700223" y="1581912"/>
            <a:ext cx="2929738" cy="62179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2736799" y="1627632"/>
            <a:ext cx="285658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числове значення</a:t>
            </a:r>
            <a:endParaRPr lang="en-US" sz="1240" dirty="0"/>
          </a:p>
        </p:txBody>
      </p:sp>
      <p:sp>
        <p:nvSpPr>
          <p:cNvPr id="13" name="Shape 11"/>
          <p:cNvSpPr/>
          <p:nvPr/>
        </p:nvSpPr>
        <p:spPr>
          <a:xfrm>
            <a:off x="5629961" y="1581912"/>
            <a:ext cx="3011119" cy="62179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666537" y="1627632"/>
            <a:ext cx="29379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 або категорію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502920" y="2203704"/>
            <a:ext cx="2197303" cy="62179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39496" y="2249424"/>
            <a:ext cx="2124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відповіді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2700223" y="2203704"/>
            <a:ext cx="2929738" cy="62179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2736799" y="2249424"/>
            <a:ext cx="285658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152.4, 93000, 18 хв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5629961" y="2203704"/>
            <a:ext cx="3011119" cy="62179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666537" y="2249424"/>
            <a:ext cx="29379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спам / не спам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02920" y="2825496"/>
            <a:ext cx="2197303" cy="62179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39496" y="2871216"/>
            <a:ext cx="2124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Типова метрика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2700223" y="2825496"/>
            <a:ext cx="2929738" cy="62179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2736799" y="2871216"/>
            <a:ext cx="285658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MAE, RMSE, R2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5629961" y="2825496"/>
            <a:ext cx="3011119" cy="62179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5666537" y="2871216"/>
            <a:ext cx="29379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precision, recall</a:t>
            </a: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502920" y="3447288"/>
            <a:ext cx="2197303" cy="62179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39496" y="3493008"/>
            <a:ext cx="2124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Головна перевірка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2700223" y="3447288"/>
            <a:ext cx="2929738" cy="62179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2736799" y="3493008"/>
            <a:ext cx="285658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наскільки далеко прогноз від реальності</a:t>
            </a:r>
            <a:endParaRPr lang="en-US" sz="1240" dirty="0"/>
          </a:p>
        </p:txBody>
      </p:sp>
      <p:sp>
        <p:nvSpPr>
          <p:cNvPr id="31" name="Shape 29"/>
          <p:cNvSpPr/>
          <p:nvPr/>
        </p:nvSpPr>
        <p:spPr>
          <a:xfrm>
            <a:off x="5629961" y="3447288"/>
            <a:ext cx="3011119" cy="62179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5666537" y="3493008"/>
            <a:ext cx="29379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 правильний клас вибрано</a:t>
            </a:r>
            <a:endParaRPr lang="en-US" sz="1240" dirty="0"/>
          </a:p>
        </p:txBody>
      </p:sp>
      <p:sp>
        <p:nvSpPr>
          <p:cNvPr id="33" name="Text 31"/>
          <p:cNvSpPr/>
          <p:nvPr/>
        </p:nvSpPr>
        <p:spPr>
          <a:xfrm>
            <a:off x="685800" y="434340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0C040"/>
                </a:solidFill>
              </a:rPr>
              <a:t>Не кожне число означає регресію: коди класів 0, 1, 2 залишаються категоріями.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регресія потрібна в AI додатках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987552"/>
            <a:ext cx="2560320" cy="13258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2560320" cy="50292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667512" y="113385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7512" y="1490472"/>
            <a:ext cx="22311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середнього чека, попиту, повернень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3291840" y="987552"/>
            <a:ext cx="2560320" cy="13258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3291840" y="987552"/>
            <a:ext cx="256032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456432" y="113385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456432" y="1490472"/>
            <a:ext cx="22311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ризику, сума майбутнього платежу</a:t>
            </a:r>
            <a:endParaRPr lang="en-US" sz="1170" dirty="0"/>
          </a:p>
        </p:txBody>
      </p:sp>
      <p:sp>
        <p:nvSpPr>
          <p:cNvPr id="11" name="Shape 9"/>
          <p:cNvSpPr/>
          <p:nvPr/>
        </p:nvSpPr>
        <p:spPr>
          <a:xfrm>
            <a:off x="6080760" y="987552"/>
            <a:ext cx="2560320" cy="13258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6080760" y="987552"/>
            <a:ext cx="2560320" cy="502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245352" y="113385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Analytics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245352" y="1490472"/>
            <a:ext cx="22311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відтоку клієнтів у грошовому вираженні</a:t>
            </a:r>
            <a:endParaRPr lang="en-US" sz="1170" dirty="0"/>
          </a:p>
        </p:txBody>
      </p:sp>
      <p:sp>
        <p:nvSpPr>
          <p:cNvPr id="15" name="Shape 13"/>
          <p:cNvSpPr/>
          <p:nvPr/>
        </p:nvSpPr>
        <p:spPr>
          <a:xfrm>
            <a:off x="502920" y="2615184"/>
            <a:ext cx="2560320" cy="13258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02920" y="2615184"/>
            <a:ext cx="256032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667512" y="2761488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67512" y="3118104"/>
            <a:ext cx="22311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доставки, навантаження складу, затримки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3291840" y="2615184"/>
            <a:ext cx="2560320" cy="13258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3291840" y="2615184"/>
            <a:ext cx="2560320" cy="5029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456432" y="2761488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456432" y="3118104"/>
            <a:ext cx="22311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числовий індекс стану, лабораторний показник</a:t>
            </a:r>
            <a:endParaRPr lang="en-US" sz="1170" dirty="0"/>
          </a:p>
        </p:txBody>
      </p:sp>
      <p:sp>
        <p:nvSpPr>
          <p:cNvPr id="23" name="Shape 21"/>
          <p:cNvSpPr/>
          <p:nvPr/>
        </p:nvSpPr>
        <p:spPr>
          <a:xfrm>
            <a:off x="6080760" y="2615184"/>
            <a:ext cx="2560320" cy="13258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6080760" y="2615184"/>
            <a:ext cx="2560320" cy="50292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6245352" y="2761488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245352" y="3118104"/>
            <a:ext cx="22311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переглядів, доходу, активності</a:t>
            </a:r>
            <a:endParaRPr lang="en-US" sz="1170" dirty="0"/>
          </a:p>
        </p:txBody>
      </p:sp>
      <p:sp>
        <p:nvSpPr>
          <p:cNvPr id="27" name="Text 25"/>
          <p:cNvSpPr/>
          <p:nvPr/>
        </p:nvSpPr>
        <p:spPr>
          <a:xfrm>
            <a:off x="594360" y="437083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892B0"/>
                </a:solidFill>
              </a:rPr>
              <a:t>Спільна структура: маємо минулі дані, вчимо закономірність, прогнозуємо число для нового об'єкта.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Проста лінійна регресія: ідея прямої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підбирає лінію, яка в середньому проходить близько до точок.</a:t>
            </a:r>
            <a:endParaRPr lang="en-US" sz="12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1" y="1152144"/>
            <a:ext cx="5349240" cy="34015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417" y="1152144"/>
            <a:ext cx="2606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3"/>
          <p:cNvSpPr/>
          <p:nvPr/>
        </p:nvSpPr>
        <p:spPr>
          <a:xfrm>
            <a:off x="6035417" y="1152144"/>
            <a:ext cx="260604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6200009" y="129844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читати графік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200009" y="1655064"/>
            <a:ext cx="227685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точка - один приклад з даних. Пряма - правило, яке модель підібрала. Якщо нове x потрапляє на графік, модель бере значення y на прямій.</a:t>
            </a:r>
            <a:endParaRPr lang="en-US" sz="1170" dirty="0"/>
          </a:p>
        </p:txBody>
      </p:sp>
      <p:sp>
        <p:nvSpPr>
          <p:cNvPr id="9" name="Shape 6"/>
          <p:cNvSpPr/>
          <p:nvPr/>
        </p:nvSpPr>
        <p:spPr>
          <a:xfrm>
            <a:off x="6035417" y="3255264"/>
            <a:ext cx="2606040" cy="11430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6035417" y="3255264"/>
            <a:ext cx="260604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6200009" y="3401568"/>
            <a:ext cx="227685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Обмеження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200009" y="3711620"/>
            <a:ext cx="2276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Лінія не проходить через усі точки. Це нормально: модель шукає корисне наближення, а не запам'ятовує </a:t>
            </a:r>
            <a:r>
              <a:rPr lang="uk-UA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всі</a:t>
            </a: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значення</a:t>
            </a: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70" dirty="0"/>
          </a:p>
        </p:txBody>
      </p:sp>
      <p:sp>
        <p:nvSpPr>
          <p:cNvPr id="13" name="Text 10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 y = wx + b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7955280" cy="96012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594360" y="111556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w · x + b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94360" y="2331720"/>
            <a:ext cx="1874520" cy="14813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24871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F9CF9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13232" y="2926080"/>
            <a:ext cx="1636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E0E8FF"/>
                </a:solidFill>
              </a:rPr>
              <a:t>ознака, яку ми подаємо моделі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24328" y="2331720"/>
            <a:ext cx="1874520" cy="14813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624328" y="24871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FF9F"/>
                </a:solidFill>
              </a:rPr>
              <a:t>w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0" y="2926080"/>
            <a:ext cx="1636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E0E8FF"/>
                </a:solidFill>
              </a:rPr>
              <a:t>нахил: наскільки сильно x змінює прогноз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54296" y="2331720"/>
            <a:ext cx="1874520" cy="14813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654296" y="24871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9F43"/>
                </a:solidFill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73168" y="2926080"/>
            <a:ext cx="1636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E0E8FF"/>
                </a:solidFill>
              </a:rPr>
              <a:t>зсув: базовий рівень прогнозу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84264" y="2331720"/>
            <a:ext cx="1874520" cy="14813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684264" y="24871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4FF"/>
                </a:solidFill>
              </a:rPr>
              <a:t>y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803136" y="2926080"/>
            <a:ext cx="1636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E0E8FF"/>
                </a:solidFill>
              </a:rPr>
              <a:t>число, яке модель передбачає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42976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30" dirty="0">
                <a:solidFill>
                  <a:srgbClr val="8892B0"/>
                </a:solidFill>
              </a:rPr>
              <a:t>У scikit-learn ці параметри після навчання лежать у `model.coef_` і `model.intercept_`.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dataset у scikit-learn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Вбудований датасет з числовими ознаками і числовою ціллю.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4069080" cy="3108960"/>
          </a:xfrm>
          <a:prstGeom prst="rect">
            <a:avLst/>
          </a:prstGeom>
          <a:solidFill>
            <a:srgbClr val="05080F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310896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67512" y="1143000"/>
            <a:ext cx="3813048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FF9F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sklearn.datasets </a:t>
            </a:r>
            <a:r>
              <a:rPr lang="en-US" sz="1080" dirty="0">
                <a:solidFill>
                  <a:srgbClr val="FF9F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load_diabetes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diabetes = load_diabetes()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diabetes.data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diabetes.target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print(X.shape)  </a:t>
            </a:r>
            <a:r>
              <a:rPr lang="en-US" sz="108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(442, 10)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print(diabetes.feature_names)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899597" y="1051560"/>
            <a:ext cx="1371600" cy="91440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4899597" y="1051560"/>
            <a:ext cx="1371600" cy="457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4899597" y="1170432"/>
            <a:ext cx="1371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442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4972749" y="1581912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рядки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54077" y="1051560"/>
            <a:ext cx="1371600" cy="91440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6454077" y="1051560"/>
            <a:ext cx="1371600" cy="457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454077" y="1170432"/>
            <a:ext cx="1371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527229" y="1581912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99597" y="2084832"/>
            <a:ext cx="2926080" cy="13258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899597" y="2084832"/>
            <a:ext cx="292608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064189" y="223113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Цільова змінна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064189" y="2587752"/>
            <a:ext cx="25968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`y` - числовий показник прогресування хвороби через рік. Для уроку нам важлива форма задачі, а не медична інтерпретація.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4899597" y="3502152"/>
            <a:ext cx="2926080" cy="98755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4899597" y="3502152"/>
            <a:ext cx="292608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064189" y="3648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Практичний фокус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64189" y="4005072"/>
            <a:ext cx="2596896" cy="365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Беремо одну ознаку, щоб побачити лінію на графіку і зрозуміти весь цикл навчання.</a:t>
            </a:r>
            <a:endParaRPr lang="en-US" sz="1170" dirty="0"/>
          </a:p>
        </p:txBody>
      </p:sp>
      <p:sp>
        <p:nvSpPr>
          <p:cNvPr id="23" name="Text 21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однієї ознаки для першої моделі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`LinearRegression` X має бути двовимірним масивом.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4251960" cy="2377440"/>
          </a:xfrm>
          <a:prstGeom prst="rect">
            <a:avLst/>
          </a:prstGeom>
          <a:solidFill>
            <a:srgbClr val="05080F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54864" cy="237744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67512" y="1188720"/>
            <a:ext cx="399592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Ознака з індексом 2: bmi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X_one = diabetes.data[:, </a:t>
            </a:r>
            <a:r>
              <a:rPr lang="en-US" sz="108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].reshape(-</a:t>
            </a:r>
            <a:r>
              <a:rPr lang="en-US" sz="108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8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diabetes.target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print(X_one.shape)  </a:t>
            </a:r>
            <a:r>
              <a:rPr lang="en-US" sz="108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(442, 1)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print(y.shape)      </a:t>
            </a:r>
            <a:r>
              <a:rPr lang="en-US" sz="108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(442,)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074920" y="1097280"/>
            <a:ext cx="3429000" cy="13258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5074920" y="1097280"/>
            <a:ext cx="3429000" cy="502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239512" y="1243584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`reshape(-1, 1)`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239512" y="1600200"/>
            <a:ext cx="30998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колонка все одно має бути таблицею: багато рядків і одна ознака. Без reshape scikit-learn часто отримає не ту форму.</a:t>
            </a:r>
            <a:endParaRPr lang="en-US" sz="1170" dirty="0"/>
          </a:p>
        </p:txBody>
      </p:sp>
      <p:sp>
        <p:nvSpPr>
          <p:cNvPr id="11" name="Shape 9"/>
          <p:cNvSpPr/>
          <p:nvPr/>
        </p:nvSpPr>
        <p:spPr>
          <a:xfrm>
            <a:off x="5074920" y="2633472"/>
            <a:ext cx="342900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5074920" y="2633472"/>
            <a:ext cx="342900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239512" y="277977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Типова помилка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239512" y="3136392"/>
            <a:ext cx="30998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Передати `X = diabetes.data[:, 2]` як одновимірний масив. Якщо бачите помилку про 2D array - перевірте форму X.</a:t>
            </a:r>
            <a:endParaRPr lang="en-US" sz="1170" dirty="0"/>
          </a:p>
        </p:txBody>
      </p:sp>
      <p:sp>
        <p:nvSpPr>
          <p:cNvPr id="15" name="Text 13"/>
          <p:cNvSpPr/>
          <p:nvPr/>
        </p:nvSpPr>
        <p:spPr>
          <a:xfrm>
            <a:off x="685800" y="44348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B0"/>
                </a:solidFill>
              </a:rPr>
              <a:t>Ми навмисно стартуємо з однієї ознаки: так графік і пряма регресії стають зрозумілими.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split: навіщо розділяти дані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навчається на train, а якість перевіряємо на test.</a:t>
            </a:r>
            <a:endParaRPr lang="en-US" sz="12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78" y="1056132"/>
            <a:ext cx="4798125" cy="22357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80760" y="1078992"/>
            <a:ext cx="251460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3"/>
          <p:cNvSpPr/>
          <p:nvPr/>
        </p:nvSpPr>
        <p:spPr>
          <a:xfrm>
            <a:off x="6080760" y="1078992"/>
            <a:ext cx="2514600" cy="50292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6245352" y="1225296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80%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245352" y="1581912"/>
            <a:ext cx="2185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бачить ці рядки під час навчання і підбирає параметри.</a:t>
            </a:r>
            <a:endParaRPr lang="en-US" sz="1170" dirty="0"/>
          </a:p>
        </p:txBody>
      </p:sp>
      <p:sp>
        <p:nvSpPr>
          <p:cNvPr id="9" name="Shape 6"/>
          <p:cNvSpPr/>
          <p:nvPr/>
        </p:nvSpPr>
        <p:spPr>
          <a:xfrm>
            <a:off x="6080760" y="2148840"/>
            <a:ext cx="251460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6080760" y="2148840"/>
            <a:ext cx="251460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6245352" y="229514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20%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245352" y="2651760"/>
            <a:ext cx="2185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 рядки відкладені для чесної перевірки прогнозу.</a:t>
            </a:r>
            <a:endParaRPr lang="en-US" sz="1170" dirty="0"/>
          </a:p>
        </p:txBody>
      </p:sp>
      <p:sp>
        <p:nvSpPr>
          <p:cNvPr id="13" name="Shape 10"/>
          <p:cNvSpPr/>
          <p:nvPr/>
        </p:nvSpPr>
        <p:spPr>
          <a:xfrm>
            <a:off x="777240" y="3968496"/>
            <a:ext cx="7543800" cy="685800"/>
          </a:xfrm>
          <a:prstGeom prst="rect">
            <a:avLst/>
          </a:prstGeom>
          <a:solidFill>
            <a:srgbClr val="05080F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1"/>
          <p:cNvSpPr/>
          <p:nvPr/>
        </p:nvSpPr>
        <p:spPr>
          <a:xfrm>
            <a:off x="777240" y="3968496"/>
            <a:ext cx="54864" cy="68580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2"/>
          <p:cNvSpPr/>
          <p:nvPr/>
        </p:nvSpPr>
        <p:spPr>
          <a:xfrm>
            <a:off x="941832" y="4059936"/>
            <a:ext cx="72877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X_train, X_test, y_train, y_test = train_test_split(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X_one, y, </a:t>
            </a:r>
            <a:r>
              <a:rPr lang="en-US" sz="1030" dirty="0">
                <a:solidFill>
                  <a:srgbClr val="FF4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test_size=</a:t>
            </a:r>
            <a:r>
              <a:rPr lang="en-US" sz="103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</a:t>
            </a:r>
            <a:r>
              <a:rPr lang="en-US" sz="103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30" dirty="0">
                <a:solidFill>
                  <a:srgbClr val="FF4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random_state=</a:t>
            </a:r>
            <a:r>
              <a:rPr lang="en-US" sz="103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30" dirty="0"/>
          </a:p>
        </p:txBody>
      </p:sp>
      <p:sp>
        <p:nvSpPr>
          <p:cNvPr id="16" name="Text 13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LinearRegression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scikit-learn навчання моделі - це виклик `.fit(X_train, y_train)`.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4069080" cy="2834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54864" cy="283464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67512" y="1188720"/>
            <a:ext cx="381304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FF9F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sklearn.linear_model </a:t>
            </a:r>
            <a:r>
              <a:rPr lang="en-US" sz="1080" dirty="0">
                <a:solidFill>
                  <a:srgbClr val="FF9F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LinearRegression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LinearRegression()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model.fit(X_train, y_train)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print(model.coef_)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print(model.intercept_)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892040" y="1097280"/>
            <a:ext cx="333756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4892040" y="1097280"/>
            <a:ext cx="333756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056632" y="1243584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`fit`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56632" y="1600200"/>
            <a:ext cx="30083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Підібрати параметри `w` і `b` за навчальними даними.</a:t>
            </a:r>
            <a:endParaRPr lang="en-US" sz="1170" dirty="0"/>
          </a:p>
        </p:txBody>
      </p:sp>
      <p:sp>
        <p:nvSpPr>
          <p:cNvPr id="11" name="Shape 9"/>
          <p:cNvSpPr/>
          <p:nvPr/>
        </p:nvSpPr>
        <p:spPr>
          <a:xfrm>
            <a:off x="4892040" y="2148840"/>
            <a:ext cx="333756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4892040" y="2148840"/>
            <a:ext cx="3337560" cy="502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056632" y="2295144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`coef_`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56632" y="2651760"/>
            <a:ext cx="30083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Вага ознаки. У простій регресії показує нахил прямої.</a:t>
            </a:r>
            <a:endParaRPr lang="en-US" sz="1170" dirty="0"/>
          </a:p>
        </p:txBody>
      </p:sp>
      <p:sp>
        <p:nvSpPr>
          <p:cNvPr id="15" name="Shape 13"/>
          <p:cNvSpPr/>
          <p:nvPr/>
        </p:nvSpPr>
        <p:spPr>
          <a:xfrm>
            <a:off x="4892040" y="3200400"/>
            <a:ext cx="333756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892040" y="3200400"/>
            <a:ext cx="333756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056632" y="3346704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`intercept_`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056632" y="3703320"/>
            <a:ext cx="30083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Зсув прямої. Це прогноз, коли ознака дорівнює нулю.</a:t>
            </a:r>
            <a:endParaRPr lang="en-US" sz="1170" dirty="0"/>
          </a:p>
        </p:txBody>
      </p:sp>
      <p:sp>
        <p:nvSpPr>
          <p:cNvPr id="19" name="Text 17"/>
          <p:cNvSpPr/>
          <p:nvPr/>
        </p:nvSpPr>
        <p:spPr>
          <a:xfrm>
            <a:off x="685800" y="4507992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dirty="0">
                <a:solidFill>
                  <a:srgbClr val="F0C040"/>
                </a:solidFill>
              </a:rPr>
              <a:t>Важливо: модель навчається тільки на `X_train` і `y_train`, тестові відповіді вона не бачить.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Отримання передбачень на тестовій вибірці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`.fit()` модель готова робити прогноз для нових X.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3474720" cy="1600200"/>
          </a:xfrm>
          <a:prstGeom prst="rect">
            <a:avLst/>
          </a:prstGeom>
          <a:solidFill>
            <a:srgbClr val="05080F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54864" cy="160020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67512" y="1234440"/>
            <a:ext cx="3218688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y_pred = model.predict(X_test)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print(y_test[:</a:t>
            </a:r>
            <a:r>
              <a:rPr lang="en-US" sz="108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print(y_pred[:</a:t>
            </a:r>
            <a:r>
              <a:rPr lang="en-US" sz="108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08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343400" y="1143000"/>
            <a:ext cx="4206240" cy="160020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526280" y="16642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E8FF"/>
                </a:solidFill>
              </a:rPr>
              <a:t>X_test -&gt; model.predict(...) -&gt; y_pred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2140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FF9F"/>
                </a:solidFill>
              </a:rPr>
              <a:t>прогноз для кожного рядка X_test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54680"/>
            <a:ext cx="3794760" cy="10972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502920" y="3154680"/>
            <a:ext cx="3794760" cy="502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667512" y="3300984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порівнюємо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7512" y="3657600"/>
            <a:ext cx="34655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`y_pred` - прогноз моделі. `y_test` - реальні значення, які ми відклали для перевірки.</a:t>
            </a:r>
            <a:endParaRPr lang="en-US" sz="1170" dirty="0"/>
          </a:p>
        </p:txBody>
      </p:sp>
      <p:sp>
        <p:nvSpPr>
          <p:cNvPr id="14" name="Shape 12"/>
          <p:cNvSpPr/>
          <p:nvPr/>
        </p:nvSpPr>
        <p:spPr>
          <a:xfrm>
            <a:off x="4572000" y="3154680"/>
            <a:ext cx="3794760" cy="10972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4572000" y="3154680"/>
            <a:ext cx="379476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736592" y="3300984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не робимо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36592" y="3657600"/>
            <a:ext cx="34655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оцінюємо модель тільки на train. Там модель уже бачила дані, тому оцінка може бути занадто оптимістичною.</a:t>
            </a:r>
            <a:endParaRPr lang="en-US" sz="1170" dirty="0"/>
          </a:p>
        </p:txBody>
      </p:sp>
      <p:sp>
        <p:nvSpPr>
          <p:cNvPr id="18" name="Text 16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реальних і передбачених значень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метриками корисно подивитися на кілька конкретних прогнозів.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548640" cy="530352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39496" y="1188720"/>
            <a:ext cx="475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№</a:t>
            </a:r>
            <a:endParaRPr lang="en-US" sz="970" dirty="0"/>
          </a:p>
        </p:txBody>
      </p:sp>
      <p:sp>
        <p:nvSpPr>
          <p:cNvPr id="6" name="Shape 4"/>
          <p:cNvSpPr/>
          <p:nvPr/>
        </p:nvSpPr>
        <p:spPr>
          <a:xfrm>
            <a:off x="1051560" y="1143000"/>
            <a:ext cx="1005840" cy="530352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1088136" y="1188720"/>
            <a:ext cx="932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ознака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2057400" y="1143000"/>
            <a:ext cx="914400" cy="530352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093976" y="1188720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y_true</a:t>
            </a:r>
            <a:endParaRPr lang="en-US" sz="970" dirty="0"/>
          </a:p>
        </p:txBody>
      </p:sp>
      <p:sp>
        <p:nvSpPr>
          <p:cNvPr id="10" name="Shape 8"/>
          <p:cNvSpPr/>
          <p:nvPr/>
        </p:nvSpPr>
        <p:spPr>
          <a:xfrm>
            <a:off x="2971800" y="1143000"/>
            <a:ext cx="914400" cy="530352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008376" y="1188720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y_pred</a:t>
            </a:r>
            <a:endParaRPr lang="en-US" sz="970" dirty="0"/>
          </a:p>
        </p:txBody>
      </p:sp>
      <p:sp>
        <p:nvSpPr>
          <p:cNvPr id="12" name="Shape 10"/>
          <p:cNvSpPr/>
          <p:nvPr/>
        </p:nvSpPr>
        <p:spPr>
          <a:xfrm>
            <a:off x="3886200" y="1143000"/>
            <a:ext cx="1188720" cy="530352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3922776" y="1188720"/>
            <a:ext cx="1115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|помилка|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02920" y="1673352"/>
            <a:ext cx="548640" cy="53035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39496" y="1719072"/>
            <a:ext cx="475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1051560" y="1673352"/>
            <a:ext cx="1005840" cy="53035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1088136" y="1719072"/>
            <a:ext cx="932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-0.006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2057400" y="1673352"/>
            <a:ext cx="914400" cy="53035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093976" y="1719072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</a:t>
            </a:r>
            <a:endParaRPr lang="en-US" sz="970" dirty="0"/>
          </a:p>
        </p:txBody>
      </p:sp>
      <p:sp>
        <p:nvSpPr>
          <p:cNvPr id="20" name="Shape 18"/>
          <p:cNvSpPr/>
          <p:nvPr/>
        </p:nvSpPr>
        <p:spPr>
          <a:xfrm>
            <a:off x="2971800" y="1673352"/>
            <a:ext cx="914400" cy="53035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008376" y="1719072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3886200" y="1673352"/>
            <a:ext cx="1188720" cy="53035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922776" y="1719072"/>
            <a:ext cx="1115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502920" y="2203704"/>
            <a:ext cx="548640" cy="53035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39496" y="2249424"/>
            <a:ext cx="475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1051560" y="2203704"/>
            <a:ext cx="1005840" cy="53035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1088136" y="2249424"/>
            <a:ext cx="932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0.037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2057400" y="2203704"/>
            <a:ext cx="914400" cy="53035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2093976" y="2249424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70" dirty="0"/>
          </a:p>
        </p:txBody>
      </p:sp>
      <p:sp>
        <p:nvSpPr>
          <p:cNvPr id="30" name="Shape 28"/>
          <p:cNvSpPr/>
          <p:nvPr/>
        </p:nvSpPr>
        <p:spPr>
          <a:xfrm>
            <a:off x="2971800" y="2203704"/>
            <a:ext cx="914400" cy="53035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3008376" y="2249424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3886200" y="2203704"/>
            <a:ext cx="1188720" cy="53035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3922776" y="2249424"/>
            <a:ext cx="1115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502920" y="2734056"/>
            <a:ext cx="548640" cy="53035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5" name="Text 33"/>
          <p:cNvSpPr/>
          <p:nvPr/>
        </p:nvSpPr>
        <p:spPr>
          <a:xfrm>
            <a:off x="539496" y="2779776"/>
            <a:ext cx="475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1051560" y="2734056"/>
            <a:ext cx="1005840" cy="53035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1088136" y="2779776"/>
            <a:ext cx="932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-0.004</a:t>
            </a:r>
            <a:endParaRPr lang="en-US" sz="970" dirty="0"/>
          </a:p>
        </p:txBody>
      </p:sp>
      <p:sp>
        <p:nvSpPr>
          <p:cNvPr id="38" name="Shape 36"/>
          <p:cNvSpPr/>
          <p:nvPr/>
        </p:nvSpPr>
        <p:spPr>
          <a:xfrm>
            <a:off x="2057400" y="2734056"/>
            <a:ext cx="914400" cy="53035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Text 37"/>
          <p:cNvSpPr/>
          <p:nvPr/>
        </p:nvSpPr>
        <p:spPr>
          <a:xfrm>
            <a:off x="2093976" y="2779776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endParaRPr lang="en-US" sz="970" dirty="0"/>
          </a:p>
        </p:txBody>
      </p:sp>
      <p:sp>
        <p:nvSpPr>
          <p:cNvPr id="40" name="Shape 38"/>
          <p:cNvSpPr/>
          <p:nvPr/>
        </p:nvSpPr>
        <p:spPr>
          <a:xfrm>
            <a:off x="2971800" y="2734056"/>
            <a:ext cx="914400" cy="53035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1" name="Text 39"/>
          <p:cNvSpPr/>
          <p:nvPr/>
        </p:nvSpPr>
        <p:spPr>
          <a:xfrm>
            <a:off x="3008376" y="2779776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970" dirty="0"/>
          </a:p>
        </p:txBody>
      </p:sp>
      <p:sp>
        <p:nvSpPr>
          <p:cNvPr id="42" name="Shape 40"/>
          <p:cNvSpPr/>
          <p:nvPr/>
        </p:nvSpPr>
        <p:spPr>
          <a:xfrm>
            <a:off x="3886200" y="2734056"/>
            <a:ext cx="1188720" cy="530352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Text 41"/>
          <p:cNvSpPr/>
          <p:nvPr/>
        </p:nvSpPr>
        <p:spPr>
          <a:xfrm>
            <a:off x="3922776" y="2779776"/>
            <a:ext cx="1115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70" dirty="0"/>
          </a:p>
        </p:txBody>
      </p:sp>
      <p:sp>
        <p:nvSpPr>
          <p:cNvPr id="44" name="Shape 42"/>
          <p:cNvSpPr/>
          <p:nvPr/>
        </p:nvSpPr>
        <p:spPr>
          <a:xfrm>
            <a:off x="502920" y="3264408"/>
            <a:ext cx="548640" cy="53035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5" name="Text 43"/>
          <p:cNvSpPr/>
          <p:nvPr/>
        </p:nvSpPr>
        <p:spPr>
          <a:xfrm>
            <a:off x="539496" y="3310128"/>
            <a:ext cx="475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70" dirty="0"/>
          </a:p>
        </p:txBody>
      </p:sp>
      <p:sp>
        <p:nvSpPr>
          <p:cNvPr id="46" name="Shape 44"/>
          <p:cNvSpPr/>
          <p:nvPr/>
        </p:nvSpPr>
        <p:spPr>
          <a:xfrm>
            <a:off x="1051560" y="3264408"/>
            <a:ext cx="1005840" cy="53035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7" name="Text 45"/>
          <p:cNvSpPr/>
          <p:nvPr/>
        </p:nvSpPr>
        <p:spPr>
          <a:xfrm>
            <a:off x="1088136" y="3310128"/>
            <a:ext cx="932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0.052</a:t>
            </a:r>
            <a:endParaRPr lang="en-US" sz="970" dirty="0"/>
          </a:p>
        </p:txBody>
      </p:sp>
      <p:sp>
        <p:nvSpPr>
          <p:cNvPr id="48" name="Shape 46"/>
          <p:cNvSpPr/>
          <p:nvPr/>
        </p:nvSpPr>
        <p:spPr>
          <a:xfrm>
            <a:off x="2057400" y="3264408"/>
            <a:ext cx="914400" cy="53035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9" name="Text 47"/>
          <p:cNvSpPr/>
          <p:nvPr/>
        </p:nvSpPr>
        <p:spPr>
          <a:xfrm>
            <a:off x="2093976" y="3310128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970" dirty="0"/>
          </a:p>
        </p:txBody>
      </p:sp>
      <p:sp>
        <p:nvSpPr>
          <p:cNvPr id="50" name="Shape 48"/>
          <p:cNvSpPr/>
          <p:nvPr/>
        </p:nvSpPr>
        <p:spPr>
          <a:xfrm>
            <a:off x="2971800" y="3264408"/>
            <a:ext cx="914400" cy="53035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1" name="Text 49"/>
          <p:cNvSpPr/>
          <p:nvPr/>
        </p:nvSpPr>
        <p:spPr>
          <a:xfrm>
            <a:off x="3008376" y="3310128"/>
            <a:ext cx="841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</a:t>
            </a:r>
            <a:endParaRPr lang="en-US" sz="970" dirty="0"/>
          </a:p>
        </p:txBody>
      </p:sp>
      <p:sp>
        <p:nvSpPr>
          <p:cNvPr id="52" name="Shape 50"/>
          <p:cNvSpPr/>
          <p:nvPr/>
        </p:nvSpPr>
        <p:spPr>
          <a:xfrm>
            <a:off x="3886200" y="3264408"/>
            <a:ext cx="1188720" cy="530352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3" name="Text 51"/>
          <p:cNvSpPr/>
          <p:nvPr/>
        </p:nvSpPr>
        <p:spPr>
          <a:xfrm>
            <a:off x="3922776" y="3310128"/>
            <a:ext cx="1115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70" dirty="0"/>
          </a:p>
        </p:txBody>
      </p:sp>
      <p:pic>
        <p:nvPicPr>
          <p:cNvPr id="5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005840"/>
            <a:ext cx="3337560" cy="2743200"/>
          </a:xfrm>
          <a:prstGeom prst="rect">
            <a:avLst/>
          </a:prstGeom>
        </p:spPr>
      </p:pic>
      <p:sp>
        <p:nvSpPr>
          <p:cNvPr id="55" name="Shape 52"/>
          <p:cNvSpPr/>
          <p:nvPr/>
        </p:nvSpPr>
        <p:spPr>
          <a:xfrm>
            <a:off x="685800" y="4069080"/>
            <a:ext cx="388620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6" name="Shape 53"/>
          <p:cNvSpPr/>
          <p:nvPr/>
        </p:nvSpPr>
        <p:spPr>
          <a:xfrm>
            <a:off x="685800" y="4069080"/>
            <a:ext cx="388620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7" name="Text 54"/>
          <p:cNvSpPr/>
          <p:nvPr/>
        </p:nvSpPr>
        <p:spPr>
          <a:xfrm>
            <a:off x="850392" y="421538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читати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850392" y="4572000"/>
            <a:ext cx="3557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55000" lnSpcReduction="2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рядок - один тестовий приклад. Чим менша абсолютна помилка, тим ближчий прогноз до реального значення.</a:t>
            </a:r>
            <a:endParaRPr lang="en-US" sz="1170" dirty="0"/>
          </a:p>
        </p:txBody>
      </p:sp>
      <p:sp>
        <p:nvSpPr>
          <p:cNvPr id="59" name="Shape 56"/>
          <p:cNvSpPr/>
          <p:nvPr/>
        </p:nvSpPr>
        <p:spPr>
          <a:xfrm>
            <a:off x="4892040" y="4069080"/>
            <a:ext cx="370332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0" name="Shape 57"/>
          <p:cNvSpPr/>
          <p:nvPr/>
        </p:nvSpPr>
        <p:spPr>
          <a:xfrm>
            <a:off x="4892040" y="4069080"/>
            <a:ext cx="3703320" cy="502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1" name="Text 58"/>
          <p:cNvSpPr/>
          <p:nvPr/>
        </p:nvSpPr>
        <p:spPr>
          <a:xfrm>
            <a:off x="5056632" y="4215384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Графік праворуч</a:t>
            </a:r>
            <a:endParaRPr lang="en-US" sz="1350" dirty="0"/>
          </a:p>
        </p:txBody>
      </p:sp>
      <p:sp>
        <p:nvSpPr>
          <p:cNvPr id="62" name="Text 59"/>
          <p:cNvSpPr/>
          <p:nvPr/>
        </p:nvSpPr>
        <p:spPr>
          <a:xfrm>
            <a:off x="5056632" y="4572000"/>
            <a:ext cx="33741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55000" lnSpcReduction="2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точки ближче до діагоналі ідеального прогнозу, передбачення ближчі до реальних значень.</a:t>
            </a:r>
            <a:endParaRPr lang="en-US" sz="1170" dirty="0"/>
          </a:p>
        </p:txBody>
      </p:sp>
      <p:sp>
        <p:nvSpPr>
          <p:cNvPr id="63" name="Text 60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і пряма регресії</a:t>
            </a:r>
            <a:endParaRPr lang="en-US" sz="2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32688"/>
            <a:ext cx="5715000" cy="3703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46520" y="1051560"/>
            <a:ext cx="2514600" cy="13258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2"/>
          <p:cNvSpPr/>
          <p:nvPr/>
        </p:nvSpPr>
        <p:spPr>
          <a:xfrm>
            <a:off x="6446520" y="1051560"/>
            <a:ext cx="2514600" cy="50292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3"/>
          <p:cNvSpPr/>
          <p:nvPr/>
        </p:nvSpPr>
        <p:spPr>
          <a:xfrm>
            <a:off x="6611112" y="119786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Практичний код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611112" y="1554480"/>
            <a:ext cx="21854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`plt.scatter(X_one, y)` показує всі точки. `plt.plot(X_test[order], y_pred[order])` малює прогноз у правильному порядку.</a:t>
            </a:r>
            <a:endParaRPr lang="en-US" sz="1170" dirty="0"/>
          </a:p>
        </p:txBody>
      </p:sp>
      <p:sp>
        <p:nvSpPr>
          <p:cNvPr id="8" name="Shape 5"/>
          <p:cNvSpPr/>
          <p:nvPr/>
        </p:nvSpPr>
        <p:spPr>
          <a:xfrm>
            <a:off x="6446520" y="2542032"/>
            <a:ext cx="2514600" cy="1627632"/>
          </a:xfrm>
          <a:prstGeom prst="rect">
            <a:avLst/>
          </a:prstGeom>
          <a:solidFill>
            <a:srgbClr val="05080F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6"/>
          <p:cNvSpPr/>
          <p:nvPr/>
        </p:nvSpPr>
        <p:spPr>
          <a:xfrm>
            <a:off x="6446520" y="2542032"/>
            <a:ext cx="54864" cy="162763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7"/>
          <p:cNvSpPr/>
          <p:nvPr/>
        </p:nvSpPr>
        <p:spPr>
          <a:xfrm>
            <a:off x="6611112" y="2633472"/>
            <a:ext cx="22585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plt.scatter(X_one, y, </a:t>
            </a:r>
            <a:r>
              <a:rPr lang="en-US" sz="810" dirty="0">
                <a:solidFill>
                  <a:srgbClr val="FF4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alpha=</a:t>
            </a:r>
            <a:r>
              <a:rPr lang="en-US" sz="81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</a:t>
            </a: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= np.argsort(X_test[:, </a:t>
            </a:r>
            <a:r>
              <a:rPr lang="en-US" sz="81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plt.plot(X_test[order], y_pred[order], </a:t>
            </a:r>
            <a:r>
              <a:rPr lang="en-US" sz="810" dirty="0">
                <a:solidFill>
                  <a:srgbClr val="FF4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color=</a:t>
            </a:r>
            <a:r>
              <a:rPr lang="en-US" sz="810" dirty="0">
                <a:solidFill>
                  <a:srgbClr val="1F8F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'lime'</a:t>
            </a: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plt.xlabel(</a:t>
            </a:r>
            <a:r>
              <a:rPr lang="en-US" sz="810" dirty="0">
                <a:solidFill>
                  <a:srgbClr val="1F8F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'BMI'</a:t>
            </a: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</a:t>
            </a:r>
            <a:r>
              <a:rPr lang="en-US" sz="810" dirty="0">
                <a:solidFill>
                  <a:srgbClr val="1F8F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'target'</a:t>
            </a: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plt.legend([</a:t>
            </a:r>
            <a:r>
              <a:rPr lang="en-US" sz="810" dirty="0">
                <a:solidFill>
                  <a:srgbClr val="1F8F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'prediction'</a:t>
            </a: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810" dirty="0">
                <a:solidFill>
                  <a:srgbClr val="1F8F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'real'</a:t>
            </a:r>
            <a:r>
              <a:rPr lang="en-US" sz="81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810" dirty="0"/>
          </a:p>
        </p:txBody>
      </p:sp>
      <p:sp>
        <p:nvSpPr>
          <p:cNvPr id="11" name="Text 8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прогнозу як відстань між точкою і прямою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одного прикладу: error = y_true - y_pred.</a:t>
            </a:r>
            <a:endParaRPr lang="en-US" sz="12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" y="1083564"/>
            <a:ext cx="5623560" cy="3703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1051560"/>
            <a:ext cx="2606040" cy="11430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3"/>
          <p:cNvSpPr/>
          <p:nvPr/>
        </p:nvSpPr>
        <p:spPr>
          <a:xfrm>
            <a:off x="6355080" y="1051560"/>
            <a:ext cx="2606040" cy="5029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6519672" y="1197864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Залишок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19672" y="1554480"/>
            <a:ext cx="227685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Вертикальна червона відстань між реальною точкою і прогнозом на прямій.</a:t>
            </a:r>
            <a:endParaRPr lang="en-US" sz="1170" dirty="0"/>
          </a:p>
        </p:txBody>
      </p:sp>
      <p:sp>
        <p:nvSpPr>
          <p:cNvPr id="9" name="Shape 6"/>
          <p:cNvSpPr/>
          <p:nvPr/>
        </p:nvSpPr>
        <p:spPr>
          <a:xfrm>
            <a:off x="6355080" y="2423160"/>
            <a:ext cx="260604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6355080" y="2423160"/>
            <a:ext cx="260604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6519672" y="2569464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не сумуємо знаки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519672" y="2926080"/>
            <a:ext cx="227685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Додатні й від'ємні помилки можуть взаємно погаситися. Тому беремо модуль або квадрат.</a:t>
            </a:r>
            <a:endParaRPr lang="en-US" sz="1170" dirty="0"/>
          </a:p>
        </p:txBody>
      </p:sp>
      <p:sp>
        <p:nvSpPr>
          <p:cNvPr id="13" name="Text 10"/>
          <p:cNvSpPr/>
          <p:nvPr/>
        </p:nvSpPr>
        <p:spPr>
          <a:xfrm>
            <a:off x="6355080" y="40416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2B0"/>
                </a:solidFill>
              </a:rPr>
              <a:t>Метрики регресії - це різні способи агрегувати такі відстані по всій тестовій вибірці.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 середня абсолютна помилка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показує середній розмір помилки в одиницях цільової змінної.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1051560"/>
            <a:ext cx="7772400" cy="96012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685800" y="131673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MAE = mean(|y_true - y_pred|)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2423160"/>
            <a:ext cx="1207008" cy="47548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950976" y="246888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y_true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21408" y="2423160"/>
            <a:ext cx="1207008" cy="47548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157984" y="246888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y_pred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28416" y="2423160"/>
            <a:ext cx="1243584" cy="47548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364992" y="246888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|помилка|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14400" y="2898648"/>
            <a:ext cx="1207008" cy="47548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950976" y="2944368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2121408" y="2898648"/>
            <a:ext cx="1207008" cy="47548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2157984" y="2944368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3328416" y="2898648"/>
            <a:ext cx="1243584" cy="47548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3364992" y="2944368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914400" y="3374136"/>
            <a:ext cx="1207008" cy="47548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950976" y="3419856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2121408" y="3374136"/>
            <a:ext cx="1207008" cy="47548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2157984" y="3419856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3328416" y="3374136"/>
            <a:ext cx="1243584" cy="47548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364992" y="341985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914400" y="3849624"/>
            <a:ext cx="1207008" cy="47548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950976" y="3895344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2121408" y="3849624"/>
            <a:ext cx="1207008" cy="47548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2157984" y="3895344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3328416" y="3849624"/>
            <a:ext cx="1243584" cy="47548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3364992" y="3895344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0" y="2423160"/>
            <a:ext cx="324612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Shape 29"/>
          <p:cNvSpPr/>
          <p:nvPr/>
        </p:nvSpPr>
        <p:spPr>
          <a:xfrm>
            <a:off x="5120640" y="2423160"/>
            <a:ext cx="324612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5285232" y="2569464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Інтерпретація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285232" y="2926080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MAE = 12, модель у середньому помиляється приблизно на 12 одиниць target.</a:t>
            </a:r>
            <a:endParaRPr lang="en-US" sz="1170" dirty="0"/>
          </a:p>
        </p:txBody>
      </p:sp>
      <p:sp>
        <p:nvSpPr>
          <p:cNvPr id="34" name="Shape 32"/>
          <p:cNvSpPr/>
          <p:nvPr/>
        </p:nvSpPr>
        <p:spPr>
          <a:xfrm>
            <a:off x="5120640" y="3493008"/>
            <a:ext cx="324612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5" name="Shape 33"/>
          <p:cNvSpPr/>
          <p:nvPr/>
        </p:nvSpPr>
        <p:spPr>
          <a:xfrm>
            <a:off x="5120640" y="3493008"/>
            <a:ext cx="3246120" cy="502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6" name="Text 34"/>
          <p:cNvSpPr/>
          <p:nvPr/>
        </p:nvSpPr>
        <p:spPr>
          <a:xfrm>
            <a:off x="5285232" y="3639312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Перевага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285232" y="3995928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 пояснити, </a:t>
            </a:r>
            <a:r>
              <a:rPr lang="uk-UA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 </a:t>
            </a: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одиниці</a:t>
            </a:r>
            <a:r>
              <a:rPr lang="uk-UA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вимірювання</a:t>
            </a: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такі самі, як </a:t>
            </a:r>
            <a:r>
              <a:rPr lang="uk-UA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</a:t>
            </a: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`y`.</a:t>
            </a:r>
            <a:endParaRPr lang="en-US" sz="1170" dirty="0"/>
          </a:p>
        </p:txBody>
      </p:sp>
      <p:sp>
        <p:nvSpPr>
          <p:cNvPr id="38" name="Text 36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і RMSE: великі помилки караються сильніше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Квадрат помилки робить великі промахи набагато дорожчими.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31520" y="1170432"/>
            <a:ext cx="1228954" cy="56692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68096" y="1216152"/>
            <a:ext cx="115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960474" y="1170432"/>
            <a:ext cx="1228954" cy="56692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1997050" y="1216152"/>
            <a:ext cx="115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|error|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89427" y="1170432"/>
            <a:ext cx="1382573" cy="56692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226003" y="1216152"/>
            <a:ext cx="130942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1737360"/>
            <a:ext cx="1228954" cy="56692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768096" y="1783080"/>
            <a:ext cx="115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960474" y="1737360"/>
            <a:ext cx="1228954" cy="56692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1997050" y="1783080"/>
            <a:ext cx="115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3189427" y="1737360"/>
            <a:ext cx="1382573" cy="56692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3226003" y="1783080"/>
            <a:ext cx="130942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731520" y="2304288"/>
            <a:ext cx="1228954" cy="56692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768096" y="2350008"/>
            <a:ext cx="115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1960474" y="2304288"/>
            <a:ext cx="1228954" cy="56692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1997050" y="2350008"/>
            <a:ext cx="115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3189427" y="2304288"/>
            <a:ext cx="1382573" cy="56692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226003" y="2350008"/>
            <a:ext cx="130942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731520" y="2871216"/>
            <a:ext cx="1228954" cy="56692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768096" y="2916936"/>
            <a:ext cx="115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1960474" y="2871216"/>
            <a:ext cx="1228954" cy="56692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1997050" y="2916936"/>
            <a:ext cx="115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3189427" y="2871216"/>
            <a:ext cx="1382573" cy="56692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3226003" y="2916936"/>
            <a:ext cx="130942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5074920" y="1170432"/>
            <a:ext cx="3291840" cy="96012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257800" y="135331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MSE = mean((y_true - y_pred)^2)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25780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 = sqrt(MSE)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74920" y="2514600"/>
            <a:ext cx="329184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Shape 30"/>
          <p:cNvSpPr/>
          <p:nvPr/>
        </p:nvSpPr>
        <p:spPr>
          <a:xfrm>
            <a:off x="5074920" y="2514600"/>
            <a:ext cx="329184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5239512" y="2660904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дивитися MSE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239512" y="3017520"/>
            <a:ext cx="2962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великі помилки критичні й їх треба явно штрафувати.</a:t>
            </a:r>
            <a:endParaRPr lang="en-US" sz="1170" dirty="0"/>
          </a:p>
        </p:txBody>
      </p:sp>
      <p:sp>
        <p:nvSpPr>
          <p:cNvPr id="35" name="Shape 33"/>
          <p:cNvSpPr/>
          <p:nvPr/>
        </p:nvSpPr>
        <p:spPr>
          <a:xfrm>
            <a:off x="5074920" y="3529584"/>
            <a:ext cx="3291840" cy="900684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6" name="Shape 34"/>
          <p:cNvSpPr/>
          <p:nvPr/>
        </p:nvSpPr>
        <p:spPr>
          <a:xfrm>
            <a:off x="5074920" y="3529584"/>
            <a:ext cx="3291840" cy="502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5239512" y="367588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дивитися RMSE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5239512" y="4032504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хочемо повернутися до одиниць, ближчих до одиниць цільової змінної.</a:t>
            </a:r>
            <a:endParaRPr lang="en-US" sz="1170" dirty="0"/>
          </a:p>
        </p:txBody>
      </p:sp>
      <p:sp>
        <p:nvSpPr>
          <p:cNvPr id="39" name="Text 37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рахувати R2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порівнює помилку моделі з baseline, який завжди прогнозує середнє значення y.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02336" y="1092708"/>
            <a:ext cx="4553712" cy="656097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3"/>
          <p:cNvSpPr/>
          <p:nvPr/>
        </p:nvSpPr>
        <p:spPr>
          <a:xfrm>
            <a:off x="585216" y="1180952"/>
            <a:ext cx="4187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1 - SSE_model / SST_baseline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585216" y="1491848"/>
            <a:ext cx="4187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те саме у середніх квадратах: R2 = 1 - MSE_model / MSE_baseline</a:t>
            </a:r>
            <a:endParaRPr lang="en-US" sz="980" dirty="0"/>
          </a:p>
        </p:txBody>
      </p:sp>
      <p:sp>
        <p:nvSpPr>
          <p:cNvPr id="8" name="Shape 5"/>
          <p:cNvSpPr/>
          <p:nvPr/>
        </p:nvSpPr>
        <p:spPr>
          <a:xfrm>
            <a:off x="513116" y="3319455"/>
            <a:ext cx="1417320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6"/>
          <p:cNvSpPr/>
          <p:nvPr/>
        </p:nvSpPr>
        <p:spPr>
          <a:xfrm>
            <a:off x="513116" y="3319455"/>
            <a:ext cx="141732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7"/>
          <p:cNvSpPr/>
          <p:nvPr/>
        </p:nvSpPr>
        <p:spPr>
          <a:xfrm>
            <a:off x="659420" y="3456615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Baseline</a:t>
            </a:r>
            <a:endParaRPr lang="en-US" sz="1280" dirty="0"/>
          </a:p>
        </p:txBody>
      </p:sp>
      <p:sp>
        <p:nvSpPr>
          <p:cNvPr id="11" name="Text 8"/>
          <p:cNvSpPr/>
          <p:nvPr/>
        </p:nvSpPr>
        <p:spPr>
          <a:xfrm>
            <a:off x="659420" y="3776655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Спочатку беремо простий прогноз: для кожного рядка передбачити середнє `y_mean` з тестової вибірки.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2003588" y="3319455"/>
            <a:ext cx="1417320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0"/>
          <p:cNvSpPr/>
          <p:nvPr/>
        </p:nvSpPr>
        <p:spPr>
          <a:xfrm>
            <a:off x="2003588" y="3319455"/>
            <a:ext cx="1417320" cy="50292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1"/>
          <p:cNvSpPr/>
          <p:nvPr/>
        </p:nvSpPr>
        <p:spPr>
          <a:xfrm>
            <a:off x="2149892" y="3456615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Помилка baseline</a:t>
            </a:r>
            <a:endParaRPr lang="en-US" sz="1280" dirty="0"/>
          </a:p>
        </p:txBody>
      </p:sp>
      <p:sp>
        <p:nvSpPr>
          <p:cNvPr id="15" name="Text 12"/>
          <p:cNvSpPr/>
          <p:nvPr/>
        </p:nvSpPr>
        <p:spPr>
          <a:xfrm>
            <a:off x="2149892" y="3776655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Рахуємо, наскільки реальні `y_test` відхиляються від цього середнього: це SST.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3494060" y="3319455"/>
            <a:ext cx="1417320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4"/>
          <p:cNvSpPr/>
          <p:nvPr/>
        </p:nvSpPr>
        <p:spPr>
          <a:xfrm>
            <a:off x="3494060" y="3319455"/>
            <a:ext cx="141732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5"/>
          <p:cNvSpPr/>
          <p:nvPr/>
        </p:nvSpPr>
        <p:spPr>
          <a:xfrm>
            <a:off x="3640364" y="3456615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Помилка моделі</a:t>
            </a:r>
            <a:endParaRPr lang="en-US" sz="1280" dirty="0"/>
          </a:p>
        </p:txBody>
      </p:sp>
      <p:sp>
        <p:nvSpPr>
          <p:cNvPr id="19" name="Text 16"/>
          <p:cNvSpPr/>
          <p:nvPr/>
        </p:nvSpPr>
        <p:spPr>
          <a:xfrm>
            <a:off x="3640364" y="3776655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Рахуємо, наскільки `y_test` відхиляються від `y_pred`: це SSE.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35225" y="1874520"/>
            <a:ext cx="1248156" cy="329184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8"/>
          <p:cNvSpPr/>
          <p:nvPr/>
        </p:nvSpPr>
        <p:spPr>
          <a:xfrm>
            <a:off x="671801" y="1920240"/>
            <a:ext cx="11750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Величина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1883381" y="1874520"/>
            <a:ext cx="915314" cy="329184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0"/>
          <p:cNvSpPr/>
          <p:nvPr/>
        </p:nvSpPr>
        <p:spPr>
          <a:xfrm>
            <a:off x="1919957" y="1920240"/>
            <a:ext cx="842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Значення</a:t>
            </a:r>
            <a:endParaRPr lang="en-US" sz="880" dirty="0"/>
          </a:p>
        </p:txBody>
      </p:sp>
      <p:sp>
        <p:nvSpPr>
          <p:cNvPr id="24" name="Shape 21"/>
          <p:cNvSpPr/>
          <p:nvPr/>
        </p:nvSpPr>
        <p:spPr>
          <a:xfrm>
            <a:off x="2798695" y="1874520"/>
            <a:ext cx="1997050" cy="329184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2"/>
          <p:cNvSpPr/>
          <p:nvPr/>
        </p:nvSpPr>
        <p:spPr>
          <a:xfrm>
            <a:off x="2835271" y="1920240"/>
            <a:ext cx="19238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Сенс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635225" y="2203704"/>
            <a:ext cx="1248156" cy="329184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4"/>
          <p:cNvSpPr/>
          <p:nvPr/>
        </p:nvSpPr>
        <p:spPr>
          <a:xfrm>
            <a:off x="671801" y="2249424"/>
            <a:ext cx="11750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baseline</a:t>
            </a:r>
            <a:endParaRPr lang="en-US" sz="880" dirty="0"/>
          </a:p>
        </p:txBody>
      </p:sp>
      <p:sp>
        <p:nvSpPr>
          <p:cNvPr id="28" name="Shape 25"/>
          <p:cNvSpPr/>
          <p:nvPr/>
        </p:nvSpPr>
        <p:spPr>
          <a:xfrm>
            <a:off x="1883381" y="2203704"/>
            <a:ext cx="915314" cy="329184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6"/>
          <p:cNvSpPr/>
          <p:nvPr/>
        </p:nvSpPr>
        <p:spPr>
          <a:xfrm>
            <a:off x="1919957" y="2249424"/>
            <a:ext cx="842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5298.2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2798695" y="2203704"/>
            <a:ext cx="1997050" cy="329184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8"/>
          <p:cNvSpPr/>
          <p:nvPr/>
        </p:nvSpPr>
        <p:spPr>
          <a:xfrm>
            <a:off x="2835271" y="2249424"/>
            <a:ext cx="19238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прогнозу середнім</a:t>
            </a:r>
            <a:endParaRPr lang="en-US" sz="880" dirty="0"/>
          </a:p>
        </p:txBody>
      </p:sp>
      <p:sp>
        <p:nvSpPr>
          <p:cNvPr id="32" name="Shape 29"/>
          <p:cNvSpPr/>
          <p:nvPr/>
        </p:nvSpPr>
        <p:spPr>
          <a:xfrm>
            <a:off x="635225" y="2532888"/>
            <a:ext cx="1248156" cy="329184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0"/>
          <p:cNvSpPr/>
          <p:nvPr/>
        </p:nvSpPr>
        <p:spPr>
          <a:xfrm>
            <a:off x="671801" y="2578608"/>
            <a:ext cx="11750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model</a:t>
            </a:r>
            <a:endParaRPr lang="en-US" sz="880" dirty="0"/>
          </a:p>
        </p:txBody>
      </p:sp>
      <p:sp>
        <p:nvSpPr>
          <p:cNvPr id="34" name="Shape 31"/>
          <p:cNvSpPr/>
          <p:nvPr/>
        </p:nvSpPr>
        <p:spPr>
          <a:xfrm>
            <a:off x="1883381" y="2532888"/>
            <a:ext cx="915314" cy="329184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5" name="Text 32"/>
          <p:cNvSpPr/>
          <p:nvPr/>
        </p:nvSpPr>
        <p:spPr>
          <a:xfrm>
            <a:off x="1919957" y="2578608"/>
            <a:ext cx="842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4061.8</a:t>
            </a:r>
            <a:endParaRPr lang="en-US" sz="880" dirty="0"/>
          </a:p>
        </p:txBody>
      </p:sp>
      <p:sp>
        <p:nvSpPr>
          <p:cNvPr id="36" name="Shape 33"/>
          <p:cNvSpPr/>
          <p:nvPr/>
        </p:nvSpPr>
        <p:spPr>
          <a:xfrm>
            <a:off x="2798695" y="2532888"/>
            <a:ext cx="1997050" cy="329184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4"/>
          <p:cNvSpPr/>
          <p:nvPr/>
        </p:nvSpPr>
        <p:spPr>
          <a:xfrm>
            <a:off x="2835271" y="2578608"/>
            <a:ext cx="19238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LinearRegression</a:t>
            </a:r>
            <a:endParaRPr lang="en-US" sz="880" dirty="0"/>
          </a:p>
        </p:txBody>
      </p:sp>
      <p:sp>
        <p:nvSpPr>
          <p:cNvPr id="38" name="Shape 35"/>
          <p:cNvSpPr/>
          <p:nvPr/>
        </p:nvSpPr>
        <p:spPr>
          <a:xfrm>
            <a:off x="635225" y="2862072"/>
            <a:ext cx="1248156" cy="329184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Text 36"/>
          <p:cNvSpPr/>
          <p:nvPr/>
        </p:nvSpPr>
        <p:spPr>
          <a:xfrm>
            <a:off x="671801" y="2907792"/>
            <a:ext cx="11750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880" dirty="0"/>
          </a:p>
        </p:txBody>
      </p:sp>
      <p:sp>
        <p:nvSpPr>
          <p:cNvPr id="40" name="Shape 37"/>
          <p:cNvSpPr/>
          <p:nvPr/>
        </p:nvSpPr>
        <p:spPr>
          <a:xfrm>
            <a:off x="1883381" y="2862072"/>
            <a:ext cx="915314" cy="329184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1" name="Text 38"/>
          <p:cNvSpPr/>
          <p:nvPr/>
        </p:nvSpPr>
        <p:spPr>
          <a:xfrm>
            <a:off x="1919957" y="2907792"/>
            <a:ext cx="842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0.233</a:t>
            </a:r>
            <a:endParaRPr lang="en-US" sz="880" dirty="0"/>
          </a:p>
        </p:txBody>
      </p:sp>
      <p:sp>
        <p:nvSpPr>
          <p:cNvPr id="42" name="Shape 39"/>
          <p:cNvSpPr/>
          <p:nvPr/>
        </p:nvSpPr>
        <p:spPr>
          <a:xfrm>
            <a:off x="2798695" y="2862072"/>
            <a:ext cx="1997050" cy="329184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Text 40"/>
          <p:cNvSpPr/>
          <p:nvPr/>
        </p:nvSpPr>
        <p:spPr>
          <a:xfrm>
            <a:off x="2835271" y="2907792"/>
            <a:ext cx="19238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пояснює 23.3% варіативності</a:t>
            </a:r>
            <a:endParaRPr lang="en-US" sz="880" dirty="0"/>
          </a:p>
        </p:txBody>
      </p:sp>
      <p:sp>
        <p:nvSpPr>
          <p:cNvPr id="44" name="Shape 41"/>
          <p:cNvSpPr/>
          <p:nvPr/>
        </p:nvSpPr>
        <p:spPr>
          <a:xfrm>
            <a:off x="5271152" y="1092708"/>
            <a:ext cx="3611880" cy="3314700"/>
          </a:xfrm>
          <a:prstGeom prst="rect">
            <a:avLst/>
          </a:prstGeom>
          <a:solidFill>
            <a:srgbClr val="05080F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 dirty="0"/>
          </a:p>
        </p:txBody>
      </p:sp>
      <p:sp>
        <p:nvSpPr>
          <p:cNvPr id="45" name="Shape 42"/>
          <p:cNvSpPr/>
          <p:nvPr/>
        </p:nvSpPr>
        <p:spPr>
          <a:xfrm>
            <a:off x="5216288" y="1094370"/>
            <a:ext cx="54864" cy="3313037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6" name="Text 43"/>
          <p:cNvSpPr/>
          <p:nvPr/>
        </p:nvSpPr>
        <p:spPr>
          <a:xfrm>
            <a:off x="5435744" y="1184148"/>
            <a:ext cx="3355848" cy="2421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sklearn.metrics import r2_score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baseline = y_test.mean()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sse = ((y_test - y_pred) ** 2).sum()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sst = ((y_test - baseline) ** 2).sum()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1 - sse / sst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print(r2_score(y_test, y_pred))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557784" y="468172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8892B0"/>
                </a:solidFill>
              </a:rPr>
              <a:t>Якщо R2 = 0, модель приблизно як прогноз середнім. Якщо R2 &lt; 0, модель гірша за цей baseline.</a:t>
            </a:r>
            <a:endParaRPr lang="en-US" sz="1120" dirty="0"/>
          </a:p>
        </p:txBody>
      </p:sp>
      <p:sp>
        <p:nvSpPr>
          <p:cNvPr id="48" name="Text 45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uk-UA" sz="850" dirty="0">
                <a:solidFill>
                  <a:srgbClr val="484F58"/>
                </a:solidFill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1460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скільки варіативності пояснює модель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78992"/>
            <a:ext cx="4206240" cy="3246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92040" y="1234440"/>
            <a:ext cx="3383280" cy="8046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3"/>
          <p:cNvSpPr/>
          <p:nvPr/>
        </p:nvSpPr>
        <p:spPr>
          <a:xfrm>
            <a:off x="4892040" y="1234440"/>
            <a:ext cx="338328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5056632" y="138074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близько до 1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056632" y="1737360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пояснює значну частину змін у target.</a:t>
            </a:r>
            <a:endParaRPr lang="en-US" sz="1170" dirty="0"/>
          </a:p>
        </p:txBody>
      </p:sp>
      <p:sp>
        <p:nvSpPr>
          <p:cNvPr id="9" name="Shape 6"/>
          <p:cNvSpPr/>
          <p:nvPr/>
        </p:nvSpPr>
        <p:spPr>
          <a:xfrm>
            <a:off x="4892040" y="2240280"/>
            <a:ext cx="3383280" cy="8046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4892040" y="2240280"/>
            <a:ext cx="3383280" cy="5029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5056632" y="238658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близько до 0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056632" y="2743200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 краща за прогноз середнього значення.</a:t>
            </a:r>
            <a:endParaRPr lang="en-US" sz="1170" dirty="0"/>
          </a:p>
        </p:txBody>
      </p:sp>
      <p:sp>
        <p:nvSpPr>
          <p:cNvPr id="13" name="Shape 10"/>
          <p:cNvSpPr/>
          <p:nvPr/>
        </p:nvSpPr>
        <p:spPr>
          <a:xfrm>
            <a:off x="4892040" y="3246120"/>
            <a:ext cx="3383280" cy="9601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1"/>
          <p:cNvSpPr/>
          <p:nvPr/>
        </p:nvSpPr>
        <p:spPr>
          <a:xfrm>
            <a:off x="4892040" y="3246120"/>
            <a:ext cx="3383280" cy="5029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2"/>
          <p:cNvSpPr/>
          <p:nvPr/>
        </p:nvSpPr>
        <p:spPr>
          <a:xfrm>
            <a:off x="5056632" y="339242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може бути нижче 0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056632" y="3749040"/>
            <a:ext cx="30540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тесті модель гірша за простий baseline. Це сигнал перевірити дані, ознаки або split.</a:t>
            </a:r>
            <a:endParaRPr lang="en-US" sz="1170" dirty="0"/>
          </a:p>
        </p:txBody>
      </p:sp>
      <p:sp>
        <p:nvSpPr>
          <p:cNvPr id="17" name="Text 14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Порівняння метрик в одній таблиці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1302106" cy="65836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539496" y="1097280"/>
            <a:ext cx="1228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</a:t>
            </a:r>
            <a:endParaRPr lang="en-US" sz="1080" dirty="0"/>
          </a:p>
        </p:txBody>
      </p:sp>
      <p:sp>
        <p:nvSpPr>
          <p:cNvPr id="5" name="Shape 3"/>
          <p:cNvSpPr/>
          <p:nvPr/>
        </p:nvSpPr>
        <p:spPr>
          <a:xfrm>
            <a:off x="1805026" y="1051560"/>
            <a:ext cx="2929738" cy="65836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1841602" y="1097280"/>
            <a:ext cx="28565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показує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734763" y="1051560"/>
            <a:ext cx="3906317" cy="65836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771339" y="1097280"/>
            <a:ext cx="3833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пояснювати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02920" y="1709928"/>
            <a:ext cx="1302106" cy="65836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39496" y="1755648"/>
            <a:ext cx="1228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1805026" y="1709928"/>
            <a:ext cx="2929738" cy="65836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1841602" y="1755648"/>
            <a:ext cx="28565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модуль помилки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734763" y="1709928"/>
            <a:ext cx="3906317" cy="65836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771339" y="1755648"/>
            <a:ext cx="3833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скільки одиниць помиляємось у середньому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502920" y="2368296"/>
            <a:ext cx="1302106" cy="65836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39496" y="2414016"/>
            <a:ext cx="1228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1805026" y="2368296"/>
            <a:ext cx="2929738" cy="65836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1841602" y="2414016"/>
            <a:ext cx="28565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квадрат помилки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734763" y="2368296"/>
            <a:ext cx="3906317" cy="65836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4771339" y="2414016"/>
            <a:ext cx="3833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великі промахи отримують сильний штраф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02920" y="3026664"/>
            <a:ext cx="1302106" cy="65836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39496" y="3072384"/>
            <a:ext cx="1228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1805026" y="3026664"/>
            <a:ext cx="2929738" cy="65836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1841602" y="3072384"/>
            <a:ext cx="28565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корінь із MSE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734763" y="3026664"/>
            <a:ext cx="3906317" cy="65836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4771339" y="3072384"/>
            <a:ext cx="3833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штрафує великі помилки, але ближча до одиниць y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502920" y="3685032"/>
            <a:ext cx="1302106" cy="65836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39496" y="3730752"/>
            <a:ext cx="1228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1805026" y="3685032"/>
            <a:ext cx="2929738" cy="65836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1841602" y="3730752"/>
            <a:ext cx="28565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проти baseline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4734763" y="3685032"/>
            <a:ext cx="3906317" cy="65836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4771339" y="3730752"/>
            <a:ext cx="3833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варіативності target пояснює модель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731520" y="452628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B0"/>
                </a:solidFill>
              </a:rPr>
              <a:t>Дивимося не одну метрику, а </a:t>
            </a:r>
            <a:r>
              <a:rPr lang="uk-UA" sz="1200" dirty="0">
                <a:solidFill>
                  <a:srgbClr val="8892B0"/>
                </a:solidFill>
              </a:rPr>
              <a:t>на повну </a:t>
            </a:r>
            <a:r>
              <a:rPr lang="en-US" sz="1200" dirty="0">
                <a:solidFill>
                  <a:srgbClr val="8892B0"/>
                </a:solidFill>
              </a:rPr>
              <a:t>картину: таблиця прогнозів + графік + MAE/RMSE/R2.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uk-UA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Градієнтний </a:t>
            </a: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спуск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рухаються в бік меншої помилки.</a:t>
            </a:r>
            <a:endParaRPr lang="en-US" sz="12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498348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97880" y="1097280"/>
            <a:ext cx="27432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3"/>
          <p:cNvSpPr/>
          <p:nvPr/>
        </p:nvSpPr>
        <p:spPr>
          <a:xfrm>
            <a:off x="5897880" y="1097280"/>
            <a:ext cx="2743200" cy="50292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6062472" y="124358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Рахуємо помилку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062472" y="1536192"/>
            <a:ext cx="24140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Поточні `w` і `b` дають певний loss.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97880" y="1965960"/>
            <a:ext cx="27432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5897880" y="1965960"/>
            <a:ext cx="2743200" cy="502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6062472" y="211226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Рахуємо напрям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062472" y="2436876"/>
            <a:ext cx="24140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Градієнт підказує, куди змінити параметри.</a:t>
            </a:r>
            <a:endParaRPr lang="en-US" sz="1170" dirty="0"/>
          </a:p>
        </p:txBody>
      </p:sp>
      <p:sp>
        <p:nvSpPr>
          <p:cNvPr id="13" name="Shape 10"/>
          <p:cNvSpPr/>
          <p:nvPr/>
        </p:nvSpPr>
        <p:spPr>
          <a:xfrm>
            <a:off x="5897880" y="2834640"/>
            <a:ext cx="274320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1"/>
          <p:cNvSpPr/>
          <p:nvPr/>
        </p:nvSpPr>
        <p:spPr>
          <a:xfrm>
            <a:off x="5897880" y="2834640"/>
            <a:ext cx="274320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2"/>
          <p:cNvSpPr/>
          <p:nvPr/>
        </p:nvSpPr>
        <p:spPr>
          <a:xfrm>
            <a:off x="6062472" y="298094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Робимо крок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062472" y="3337560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`w = w - lr * gradient`. Повторюємо багато разів.</a:t>
            </a:r>
            <a:endParaRPr lang="en-US" sz="1170" dirty="0"/>
          </a:p>
        </p:txBody>
      </p:sp>
      <p:sp>
        <p:nvSpPr>
          <p:cNvPr id="17" name="Text 14"/>
          <p:cNvSpPr/>
          <p:nvPr/>
        </p:nvSpPr>
        <p:spPr>
          <a:xfrm>
            <a:off x="5897880" y="4160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</a:rPr>
              <a:t>Маленькі кроки поступово зменшують loss.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градієнтний спуск і LinearRegression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uk-UA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</a:t>
            </a: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підходи шукають параметри тієї самої лінії.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3794760" cy="3017520"/>
          </a:xfrm>
          <a:prstGeom prst="rect">
            <a:avLst/>
          </a:prstGeom>
          <a:solidFill>
            <a:srgbClr val="05080F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54864" cy="301752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67512" y="1188720"/>
            <a:ext cx="3538728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0</a:t>
            </a:r>
          </a:p>
          <a:p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0</a:t>
            </a:r>
            <a:endParaRPr lang="en-US" sz="1200" dirty="0">
              <a:solidFill>
                <a:srgbClr val="FF9F4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len(X)</a:t>
            </a:r>
          </a:p>
          <a:p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 = 0.01</a:t>
            </a:r>
          </a:p>
          <a:p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epochs = 1000</a:t>
            </a:r>
          </a:p>
          <a:p>
            <a:endParaRPr lang="en-US" sz="1200" dirty="0">
              <a:solidFill>
                <a:srgbClr val="FF9F4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FF9F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epoch </a:t>
            </a:r>
            <a:r>
              <a:rPr lang="en-US" sz="1200" dirty="0">
                <a:solidFill>
                  <a:srgbClr val="FF9F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FF9F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(epochs):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y_pred = w * X + b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error = y_pred - 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dw = (</a:t>
            </a:r>
            <a:r>
              <a:rPr lang="en-US" sz="12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n) * sum(error * X)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 = (</a:t>
            </a:r>
            <a:r>
              <a:rPr lang="en-US" sz="12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n) * sum(error)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 -= lr * dw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 -= lr * db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40391" y="1097280"/>
            <a:ext cx="1199693" cy="65836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676967" y="1143000"/>
            <a:ext cx="11265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Підхід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5840084" y="1097280"/>
            <a:ext cx="1274674" cy="65836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876660" y="1143000"/>
            <a:ext cx="1201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отримуємо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14757" y="1097280"/>
            <a:ext cx="1274674" cy="658368"/>
          </a:xfrm>
          <a:prstGeom prst="rect">
            <a:avLst/>
          </a:prstGeom>
          <a:solidFill>
            <a:srgbClr val="4F9CF9">
              <a:alpha val="95000"/>
            </a:srgbClr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7151333" y="1143000"/>
            <a:ext cx="1201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50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порівнюємо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40391" y="1755648"/>
            <a:ext cx="1199693" cy="65836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676967" y="1801368"/>
            <a:ext cx="11265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LinearRegression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40084" y="1755648"/>
            <a:ext cx="1274674" cy="65836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876660" y="1801368"/>
            <a:ext cx="1201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`coef_`, `intercept_`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14757" y="1755648"/>
            <a:ext cx="1274674" cy="658368"/>
          </a:xfrm>
          <a:prstGeom prst="rect">
            <a:avLst/>
          </a:prstGeom>
          <a:solidFill>
            <a:srgbClr val="1C2333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7151333" y="1801368"/>
            <a:ext cx="1201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на test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40391" y="2414016"/>
            <a:ext cx="1199693" cy="65836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4676967" y="2459736"/>
            <a:ext cx="11265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descent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40084" y="2414016"/>
            <a:ext cx="1274674" cy="65836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876660" y="2459736"/>
            <a:ext cx="1201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`w`, `b` після епох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14757" y="2414016"/>
            <a:ext cx="1274674" cy="658368"/>
          </a:xfrm>
          <a:prstGeom prst="rect">
            <a:avLst/>
          </a:prstGeom>
          <a:solidFill>
            <a:srgbClr val="161B22"/>
          </a:solidFill>
          <a:ln w="762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7151333" y="2459736"/>
            <a:ext cx="1201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на test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40391" y="3337560"/>
            <a:ext cx="374904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4640391" y="3337560"/>
            <a:ext cx="374904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4804983" y="3563874"/>
            <a:ext cx="3419856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learning rate і кількість епох підібрані нормально, власна реалізація має дати схожу лінію і схожу помилку.</a:t>
            </a:r>
            <a:endParaRPr lang="en-US" sz="1170" dirty="0"/>
          </a:p>
        </p:txBody>
      </p:sp>
      <p:sp>
        <p:nvSpPr>
          <p:cNvPr id="29" name="Text 27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 і типові помилки навчання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69494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`learning_rate` визначає розмір кроку в градієнтному спуску.</a:t>
            </a:r>
            <a:endParaRPr lang="en-US" sz="12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03554"/>
            <a:ext cx="8001000" cy="2852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3977640"/>
            <a:ext cx="2514600" cy="88696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3"/>
          <p:cNvSpPr/>
          <p:nvPr/>
        </p:nvSpPr>
        <p:spPr>
          <a:xfrm>
            <a:off x="640080" y="3977640"/>
            <a:ext cx="2514600" cy="50292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804672" y="412394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Замалий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4480559"/>
            <a:ext cx="2185416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зменшується, але дуже повільно</a:t>
            </a:r>
            <a:endParaRPr lang="en-US" sz="1170" dirty="0"/>
          </a:p>
        </p:txBody>
      </p:sp>
      <p:sp>
        <p:nvSpPr>
          <p:cNvPr id="9" name="Shape 6"/>
          <p:cNvSpPr/>
          <p:nvPr/>
        </p:nvSpPr>
        <p:spPr>
          <a:xfrm>
            <a:off x="3429000" y="3977640"/>
            <a:ext cx="2514600" cy="88696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3429000" y="3977640"/>
            <a:ext cx="2514600" cy="502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3593592" y="412394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Нормальний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593592" y="4480559"/>
            <a:ext cx="2185416" cy="274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стабільно йде вниз</a:t>
            </a:r>
            <a:endParaRPr lang="en-US" sz="1170" dirty="0"/>
          </a:p>
        </p:txBody>
      </p:sp>
      <p:sp>
        <p:nvSpPr>
          <p:cNvPr id="13" name="Shape 10"/>
          <p:cNvSpPr/>
          <p:nvPr/>
        </p:nvSpPr>
        <p:spPr>
          <a:xfrm>
            <a:off x="6217920" y="3977640"/>
            <a:ext cx="2514600" cy="88696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1"/>
          <p:cNvSpPr/>
          <p:nvPr/>
        </p:nvSpPr>
        <p:spPr>
          <a:xfrm>
            <a:off x="6217920" y="3977640"/>
            <a:ext cx="2514600" cy="5029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2"/>
          <p:cNvSpPr/>
          <p:nvPr/>
        </p:nvSpPr>
        <p:spPr>
          <a:xfrm>
            <a:off x="6382512" y="412394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Завеликий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382512" y="4480560"/>
            <a:ext cx="2185416" cy="2743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стрибає або росте</a:t>
            </a:r>
            <a:endParaRPr lang="en-US" sz="1170" dirty="0"/>
          </a:p>
        </p:txBody>
      </p:sp>
      <p:sp>
        <p:nvSpPr>
          <p:cNvPr id="17" name="Text 14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Практичний чекліст побудови регресійної моделі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94360" y="960120"/>
            <a:ext cx="379476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22376" y="1124712"/>
            <a:ext cx="530352" cy="530352"/>
          </a:xfrm>
          <a:prstGeom prst="ellipse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22376" y="1156716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80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80744" y="10881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00D4FF"/>
                </a:solidFill>
              </a:rPr>
              <a:t>Завантажити дані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1380744" y="13990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8892B0"/>
                </a:solidFill>
              </a:rPr>
              <a:t>load_diabetes() або DataFrame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754880" y="960120"/>
            <a:ext cx="379476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882896" y="1124712"/>
            <a:ext cx="530352" cy="530352"/>
          </a:xfrm>
          <a:prstGeom prst="ellipse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882896" y="1156716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80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541264" y="10881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00D4FF"/>
                </a:solidFill>
              </a:rPr>
              <a:t>Відокремити X і y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5541264" y="13990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8892B0"/>
                </a:solidFill>
              </a:rPr>
              <a:t>X - ознаки, y - числова ціль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94360" y="2103120"/>
            <a:ext cx="379476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722376" y="2267712"/>
            <a:ext cx="530352" cy="5303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722376" y="2299716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80F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80744" y="22311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00D4FF"/>
                </a:solidFill>
              </a:rPr>
              <a:t>Зробити train/test split</a:t>
            </a:r>
            <a:endParaRPr lang="en-US" sz="1280" dirty="0"/>
          </a:p>
        </p:txBody>
      </p:sp>
      <p:sp>
        <p:nvSpPr>
          <p:cNvPr id="17" name="Text 15"/>
          <p:cNvSpPr/>
          <p:nvPr/>
        </p:nvSpPr>
        <p:spPr>
          <a:xfrm>
            <a:off x="1380744" y="25420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8892B0"/>
                </a:solidFill>
              </a:rPr>
              <a:t>test_size=0.2, random_state=42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754880" y="2103120"/>
            <a:ext cx="379476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4882896" y="2267712"/>
            <a:ext cx="530352" cy="530352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4882896" y="2299716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80F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541264" y="22311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00D4FF"/>
                </a:solidFill>
              </a:rPr>
              <a:t>Навчити модель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5541264" y="25420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8892B0"/>
                </a:solidFill>
              </a:rPr>
              <a:t>model.fit(X_train, y_train)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594360" y="3246120"/>
            <a:ext cx="379476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722376" y="3410712"/>
            <a:ext cx="530352" cy="5303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722376" y="3442716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80F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80744" y="33741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00D4FF"/>
                </a:solidFill>
              </a:rPr>
              <a:t>Отримати прогноз</a:t>
            </a:r>
            <a:endParaRPr lang="en-US" sz="1280" dirty="0"/>
          </a:p>
        </p:txBody>
      </p:sp>
      <p:sp>
        <p:nvSpPr>
          <p:cNvPr id="27" name="Text 25"/>
          <p:cNvSpPr/>
          <p:nvPr/>
        </p:nvSpPr>
        <p:spPr>
          <a:xfrm>
            <a:off x="1380744" y="36850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8892B0"/>
                </a:solidFill>
              </a:rPr>
              <a:t>model.predict(X_test)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4754880" y="3246120"/>
            <a:ext cx="379476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4882896" y="3410712"/>
            <a:ext cx="530352" cy="530352"/>
          </a:xfrm>
          <a:prstGeom prst="ellipse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4882896" y="3442716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80F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41264" y="33741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00D4FF"/>
                </a:solidFill>
              </a:rPr>
              <a:t>Оцінити якість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541264" y="36850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8892B0"/>
                </a:solidFill>
              </a:rPr>
              <a:t>таблиця, графік, MAE/MSE/RMSE/R2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777240" y="452628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B0"/>
                </a:solidFill>
              </a:rPr>
              <a:t>Цей цикл повторюється майже в кожній supervised learning задачі, навіть коли модель складніша.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" y="166878"/>
            <a:ext cx="9144000" cy="514350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F9CF9"/>
                </a:solidFill>
              </a:rPr>
              <a:t>Підсумок заняття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3000" b="1" dirty="0">
                <a:solidFill>
                  <a:srgbClr val="E0E8FF"/>
                </a:solidFill>
              </a:rPr>
              <a:t>Сьогодні розглянули як: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402336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502920" y="1389888"/>
            <a:ext cx="54864" cy="77724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731520" y="149961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</a:rPr>
              <a:t>Формулювати регресійну задачу і відрізняти її від класифікації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350008"/>
            <a:ext cx="402336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502920" y="2350008"/>
            <a:ext cx="54864" cy="777240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731520" y="245973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</a:rPr>
              <a:t>Готувати X і y, робити train/test split і навчати LinearRegression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310128"/>
            <a:ext cx="402336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502920" y="3310128"/>
            <a:ext cx="54864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731520" y="341985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</a:rPr>
              <a:t>Будувати scatter plot, пряму регресії і таблицю прогнозів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18888" y="1389888"/>
            <a:ext cx="402336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818888" y="1389888"/>
            <a:ext cx="54864" cy="77724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047488" y="149961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</a:rPr>
              <a:t>Пояснювати MAE, MSE, RMSE і R2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18888" y="2350008"/>
            <a:ext cx="402336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4818888" y="2350008"/>
            <a:ext cx="54864" cy="7772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047488" y="245973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sz="1200" dirty="0">
                <a:solidFill>
                  <a:srgbClr val="E0E8FF"/>
                </a:solidFill>
              </a:rPr>
              <a:t>Г</a:t>
            </a:r>
            <a:r>
              <a:rPr lang="en-US" sz="1200" dirty="0">
                <a:solidFill>
                  <a:srgbClr val="E0E8FF"/>
                </a:solidFill>
              </a:rPr>
              <a:t>радієнтний спуск поступово зменшує помилку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18888" y="3310128"/>
            <a:ext cx="402336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4818888" y="3310128"/>
            <a:ext cx="54864" cy="7772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5047488" y="341985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</a:rPr>
              <a:t>Перевіряти модель через графік, таблицю і метрики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84F58"/>
                </a:solidFill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2891</TotalTime>
  <Words>2224</Words>
  <Application>Microsoft Macintosh PowerPoint</Application>
  <PresentationFormat>On-screen Show (16:9)</PresentationFormat>
  <Paragraphs>406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Курс Створення AI додатків з використанням Python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Базова регресія</dc:title>
  <dc:subject>Регресія, метрики і градієнтний спуск</dc:subject>
  <dc:creator>Data Science Course</dc:creator>
  <cp:lastModifiedBy>Штефан Дмитро</cp:lastModifiedBy>
  <cp:revision>10</cp:revision>
  <dcterms:created xsi:type="dcterms:W3CDTF">2026-06-07T16:52:56Z</dcterms:created>
  <dcterms:modified xsi:type="dcterms:W3CDTF">2026-06-11T19:37:39Z</dcterms:modified>
</cp:coreProperties>
</file>