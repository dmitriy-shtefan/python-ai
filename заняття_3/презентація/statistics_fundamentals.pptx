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5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906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2899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Курс: Створення AI додатків з використанням 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Основи статистики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аналізу даних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4572000" cy="36576"/>
          </a:xfrm>
          <a:prstGeom prst="rect">
            <a:avLst/>
          </a:prstGeom>
          <a:solidFill>
            <a:srgbClr val="4F9CF9">
              <a:alpha val="60000"/>
            </a:srgbClr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4F9CF9">
              <a:alpha val="25000"/>
            </a:srgbClr>
          </a:solidFill>
          <a:ln w="1905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11680" y="29260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0D4FF">
              <a:alpha val="25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201168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0" y="29260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A855F7">
              <a:alpha val="25000"/>
            </a:srgbClr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0" y="292608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0FF9F">
              <a:alpha val="25000"/>
            </a:srgbClr>
          </a:solidFill>
          <a:ln w="1905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120640" y="2926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вже вивчили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260604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260604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Минулого разу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Відкривали таблицю в pandas, робили первинний технічний огляд: head(), info(), shape, columns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0604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060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200400" y="1170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1664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0574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Вчимося читати числовий зміст таблиці та описову статистику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1051560"/>
            <a:ext cx="260604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989320" y="1051560"/>
            <a:ext cx="26060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89320" y="1170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89320" y="16642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питання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05740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кількома статистиками описати колонку і не зробити хибний висновок?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статистика в Data Science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881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дані без перегляду кожного рядка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624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рядків — не переглянеш вручну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051560"/>
            <a:ext cx="54864" cy="62179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11480" y="1764792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48640" y="176479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1801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 проблеми до побудови моделі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0756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Викиди, пропуски, неправильні типи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1764792"/>
            <a:ext cx="54864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11480" y="2478024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48640" y="2478024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514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припущення алгоритмів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788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Лінійна регресія вимагає нормальності залишків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1480" y="2478024"/>
            <a:ext cx="54864" cy="62179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11480" y="3191256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48640" y="319125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32278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Зрозуміти зв'язки між змінними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5021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Кореляція допомагає вибрати ознаки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1480" y="3191256"/>
            <a:ext cx="54864" cy="6217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411480" y="3904488"/>
            <a:ext cx="832104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48640" y="390448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88720" y="39410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Комунікувати знахідки бізнесу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421538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«Середня зарплата у вибірці — 55 тис.»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904488"/>
            <a:ext cx="54864" cy="6217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Випадкова величина як колонка DataFrame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числова колонка — це вибірка з деякого розподілу. Ми аналізуємо цю вибірку, щоб зробити висновки.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114800" cy="34747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54864" cy="3474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6072" y="1207008"/>
            <a:ext cx="3858768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pd.read_csv('titanic.csv')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Колонка age — це вибірка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 = df['age']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describe() — перший статистичний огляд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print(ages.describe())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count, mean, std, min, 25%, 50%, 75%, max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06908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80060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Виведення describe():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0" y="1600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714.000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901952"/>
            <a:ext cx="406908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00600" y="19293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5120" y="19293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29.699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2231136"/>
            <a:ext cx="406908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4800600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22585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14.526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406908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4800600" y="2587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75120" y="2587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0.420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2889504"/>
            <a:ext cx="406908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800600" y="29169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75120" y="2916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20.125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63440" y="3218688"/>
            <a:ext cx="406908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80060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75120" y="3246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28.000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63440" y="3547872"/>
            <a:ext cx="4069080" cy="310896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4800600" y="3575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75%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75120" y="35753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38.000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63440" y="3877056"/>
            <a:ext cx="4069080" cy="310896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Text 31"/>
          <p:cNvSpPr/>
          <p:nvPr/>
        </p:nvSpPr>
        <p:spPr>
          <a:xfrm>
            <a:off x="4800600" y="3904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675120" y="39044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4F9C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80.000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Середнє: ідея, код, обмеження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02336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1115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x̄ = (x₁ + x₂ + ... + xₙ) / 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4023360" cy="2834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54864" cy="283464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76072" y="2148840"/>
            <a:ext cx="376732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Середнє значення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mean_age = df['age'].mean()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print(f'Середній вік: {mean_age:.1f}')  # 29.7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Аналог через numpy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np.mean(df['age'].dropna())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Для групи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df.groupby('sex')['age'].mean()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41148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Обмеження середнього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Чутливе до викидів (outliers)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великий 500 000 «тягне» середнє вгору і воно вже не відображає типовий рівень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підходить для категорій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926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Середня 'стать' — безглузда. Середня 'оцінка' — сумнівна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Складні розподіли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бімодальному розподілі середнє може бути там, де взагалі немає спостережень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17720" y="4572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Середнє завжди треба перевіряти медіаною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Медіана: типове значення при викидах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Медіана — значення, яке ділить вибірку навпіл після сортування. 50% спостережень — нижче, 50% — вище.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1078992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1078992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600200" y="1115568"/>
            <a:ext cx="1078992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1600200" y="1115568"/>
            <a:ext cx="1078992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160020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88920" y="1115568"/>
            <a:ext cx="1078992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2788920" y="1115568"/>
            <a:ext cx="1078992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278892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977640" y="1115568"/>
            <a:ext cx="1078992" cy="594360"/>
          </a:xfrm>
          <a:prstGeom prst="rect">
            <a:avLst/>
          </a:prstGeom>
          <a:solidFill>
            <a:srgbClr val="1A2E1A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3977640" y="1115568"/>
            <a:ext cx="1078992" cy="4572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397764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166360" y="1115568"/>
            <a:ext cx="1078992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166360" y="1115568"/>
            <a:ext cx="1078992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16636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1115568"/>
            <a:ext cx="1078992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6355080" y="1115568"/>
            <a:ext cx="1078992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35508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543800" y="1115568"/>
            <a:ext cx="1078992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7543800" y="1115568"/>
            <a:ext cx="1078992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7543800" y="1188720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500,000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977640" y="17556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медіана = 40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" y="2148840"/>
            <a:ext cx="411480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411480" y="2148840"/>
            <a:ext cx="54864" cy="27432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76072" y="2240280"/>
            <a:ext cx="3858768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median_age = df['age'].median()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print(f'Медіана: {median_age}')  # 28.0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Порівняння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mean_v   = df['age'].mean()    # 29.7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median_v = df['age'].median()  # 28.0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= abs(mean_v - median_v)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print(f'Різниця: {diff:.1f}')  # 1.7 — ок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663440" y="2148840"/>
            <a:ext cx="406908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800600" y="22677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медіана краща?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Є викиди (нерухомість, зарплати, транзакції)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00600" y="3054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Сильно скошений розподіл (доходи населення)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00600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Є пропуски — медіана стійкіша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00600" y="3858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Ранговий аналіз, рейтинги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800600" y="4261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Нормальний розподіл без викидів — середнє ефективніше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Середнє проти медіани: що відбувається при викиді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51560"/>
            <a:ext cx="832104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запис 500 000 грн. — і середнє зростає з 44k до 90k. Медіана </a:t>
            </a:r>
            <a:r>
              <a:rPr lang="en-US" sz="1250" i="1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змінилась</a:t>
            </a:r>
            <a:r>
              <a:rPr lang="en-US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мінімально</a:t>
            </a:r>
            <a:r>
              <a:rPr lang="en-US" sz="12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Мода: найчастіше значення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38912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4864" cy="39319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76072" y="1143000"/>
            <a:ext cx="413308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Мода числової колонки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mode_pclass = df['pclass'].mode()[0]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print(f'Найчастіший клас: {mode_pclass}')  # 3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Мода категоріальної колонки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mode_embark = df['embarked'].mode()[0]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print(f'Порт: {mode_embark}')  # S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Підрахунок частот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df['pclass'].value_counts()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   491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   216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   184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983480" y="1051560"/>
            <a:ext cx="374904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120640" y="1170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використовувати моду?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83480" y="1600200"/>
            <a:ext cx="54864" cy="8686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5138928" y="16367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Категоріальні дані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38928" y="19293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Стать, країна, тип продукту — мода показує домінуючу групу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83480" y="2697480"/>
            <a:ext cx="54864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138928" y="2734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Заповнення пропусків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38928" y="30266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df['embarked'].fillna(mode_embark) — популярний спосіб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83480" y="3794760"/>
            <a:ext cx="54864" cy="868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138928" y="3831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Бімодальні розподіли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38928" y="412394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моди — сигнал про дві різні групи в даних!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Мінімум, максимум, range і перші підозри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92024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1920240" cy="457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Мінімум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92024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192024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2514600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051560"/>
            <a:ext cx="192024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192024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617720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79.58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051560"/>
            <a:ext cx="1920240" cy="91440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6720840" y="1051560"/>
            <a:ext cx="1920240" cy="4572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720840" y="1161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20840" y="1581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121408"/>
            <a:ext cx="457200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22" name="Shape 20"/>
          <p:cNvSpPr/>
          <p:nvPr/>
        </p:nvSpPr>
        <p:spPr>
          <a:xfrm>
            <a:off x="411480" y="2121408"/>
            <a:ext cx="54864" cy="260604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76072" y="2212848"/>
            <a:ext cx="431596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= df['age']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print(col.min())   # 0.42 — немовля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print(col.max())   # 80.0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print(col.max() - col.min())  # 79.58</a:t>
            </a:r>
          </a:p>
          <a:p>
            <a:pPr marL="0" indent="0">
              <a:buNone/>
            </a:pPr>
            <a:endParaRPr lang="en-US" sz="125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IQR – interquartile range</a:t>
            </a:r>
            <a:endParaRPr lang="en-US" sz="125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print(col.quantile(0.75) – col.quantile(0.25))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Підозрілі значення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print(df[col &lt; 1])   # 5 записів — немовлята?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print(df[col &gt; </a:t>
            </a:r>
            <a:r>
              <a:rPr lang="uk-UA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5])  # 2 записи — реально?</a:t>
            </a:r>
          </a:p>
          <a:p>
            <a:endParaRPr lang="en-US" sz="125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66360" y="2121408"/>
            <a:ext cx="356616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303520" y="2240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На що звертати увагу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26517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Min &lt; 0 — якщо очікуємо позитивні (вік, ціна)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314553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Max дуже великий — можливий викид або помилка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6393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Range &gt;&gt; IQR — є «хвіст» розподілу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413308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Min == Max — колонка константна (непотрібна)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Дисперсія і стандартне відхилення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13232"/>
            <a:ext cx="50292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713232"/>
            <a:ext cx="3154680" cy="12344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5715000" y="804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Дисперсія (var):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0" y="1078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 = Σ(xᵢ − x̄ )² / 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577840" y="2039112"/>
            <a:ext cx="3154680" cy="12344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5715000" y="2130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Стд. відхилення (std):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0" y="2404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√σ² = √var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1480" y="3534306"/>
            <a:ext cx="5029200" cy="138531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13" name="Shape 10"/>
          <p:cNvSpPr/>
          <p:nvPr/>
        </p:nvSpPr>
        <p:spPr>
          <a:xfrm>
            <a:off x="411480" y="3534306"/>
            <a:ext cx="73152" cy="1385315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576072" y="3534306"/>
            <a:ext cx="4773168" cy="138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col.var()   # 211.02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col.std()   # 14.53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std — в одних одиницях з 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 — </a:t>
            </a:r>
            <a:r>
              <a:rPr lang="uk-UA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 </a:t>
            </a: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квадрат</a:t>
            </a:r>
            <a:r>
              <a:rPr lang="uk-UA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них</a:t>
            </a: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uk-UA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одиницях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Правило 68-95-99.7: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μ±1σ ~ 68% даних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μ±2σ ~ 95% даних</a:t>
            </a:r>
            <a:endParaRPr lang="uk-UA" sz="1100" dirty="0">
              <a:solidFill>
                <a:srgbClr val="8892B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1100" dirty="0">
                <a:solidFill>
                  <a:srgbClr val="8892B0"/>
                </a:solidFill>
                <a:latin typeface="Consolas" pitchFamily="34" charset="0"/>
                <a:cs typeface="Consolas" pitchFamily="34" charset="-120"/>
              </a:rPr>
              <a:t># </a:t>
            </a: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μ±3σ ~ 99.7% даних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577840" y="3319272"/>
            <a:ext cx="31546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5715000" y="3410712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Інтерпретація std=14.5: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Середній відступ від середнього 29.7 складає ~14.5 років → вікова группа дуже різноманітна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Квартилі, percentiles і boxplot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577839" y="1005840"/>
            <a:ext cx="3475477" cy="3108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4"/>
          <p:cNvSpPr/>
          <p:nvPr/>
        </p:nvSpPr>
        <p:spPr>
          <a:xfrm>
            <a:off x="5577840" y="1005840"/>
            <a:ext cx="54864" cy="310896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5742432" y="1097280"/>
            <a:ext cx="353759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Квартилі вручну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= df['age'].quantile(0.25)  # 20.1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= df['age'].quantile(0.75)  # 38.0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q3 - q1                  # 17.9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Boxplot через pandas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df.boxplot(column='age',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by='pclass')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42062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= Q1 + медіана + Q3 + вуса (±1.5·IQR) + викиди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92A09C-08AB-1D1E-D5DE-15324D4BF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98" y="741784"/>
            <a:ext cx="5056631" cy="34644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Викиди: помилка чи важливий сигнал?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069080" cy="344487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406908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Помилки даних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Вік = -5 або 999 (помилка введення)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2075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Ціна = 0 (відсутнє значення замасковане нулем)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Зарплата = 9999999 (помилка в скрипті)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081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Дата народження у майбутньому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Виправити або видалити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069080" cy="344487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069080" cy="54864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800600" y="1170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Реальні аномалії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15727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Шахрайська транзакція (fraud detection)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00600" y="2075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Унікальний клієнт з великим чеком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25786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Несправне обладнання (IoT anomaly)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0600" y="308152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Хворий пацієнт з критичними показниками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0060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Зберегти і дослідити!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IQR-правило: викид якщо x &lt; Q1 − 1.5·IQR  або  x &gt; Q3 + 1.5·IQR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і гістограма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114800" cy="393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54864" cy="393192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76072" y="1143000"/>
            <a:ext cx="385876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df['age'].hist(bins=20,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color='#4f9cf9',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edgecolor='white')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plt.title('Розподіл віку')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plt.xlabel('Вік')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plt.ylabel('Кількість пасажирів')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Або через pandas + seaborn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sns.histplot(df['age'], kde=True)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6908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4800600" y="11704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розкаже гістограма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54864" cy="68580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828032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Симетричність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856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Рівноважний vs скошений (skewed) розподіл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350008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28032" y="2368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Пік / мода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більшість значень? Є кілька піків?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145536"/>
            <a:ext cx="54864" cy="6858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28032" y="3163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Хвіст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3447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Хвіст праворуч = позитивна скошеність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941064"/>
            <a:ext cx="54864" cy="685800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828032" y="3959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Прогалини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42428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Порожні bin-и можуть бути помилками або природними межами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Рівномірний, нормальний і Пуассона: порівняння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05840"/>
            <a:ext cx="832104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3657600"/>
            <a:ext cx="2606040" cy="952185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50292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Рівномірний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4041648"/>
            <a:ext cx="2423160" cy="50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Кидання кубика, номери лотереї, random.random()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3657600"/>
            <a:ext cx="2606040" cy="952185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329184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Нормальний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91840" y="4041648"/>
            <a:ext cx="2423160" cy="50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Зріст, вага, похибки вимірювань — основа класичної статистики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89320" y="3657600"/>
            <a:ext cx="2606040" cy="952185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6080760" y="37490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Пуассона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080760" y="4041648"/>
            <a:ext cx="2423160" cy="507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замовлень/годину, кліки по рекламі, кількість помилок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Знати тип розподілу важливо при виборі статистичного тесту або моделі ML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Коваріація: напрям спільної зміни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77724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cov(X,Y) = Σ(xᵢ − x̄</a:t>
            </a:r>
            <a:r>
              <a:rPr lang="uk-UA" sz="18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)(yᵢ − ȳ) / (n − 1)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920239"/>
            <a:ext cx="4114800" cy="2538405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54864" cy="24688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76072" y="2011680"/>
            <a:ext cx="3858768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Матриця коваріацій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cov_matrix = df[['age','fare']].cov()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print(cov_matrix)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Одна пара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cov_val = df['age'].cov(df['fare'])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print(f'cov(age,fare) = {cov_val:.2f}')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69080" cy="253840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800600" y="2057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коваріації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2423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 &gt; 0 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60720" y="24231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↑ → Y ↑ (позитивний зв'язок)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00600" y="2926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 &lt; 0 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60720" y="2926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↑ → Y ↓ (негативний зв'язок)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3429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 = 0 —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760720" y="3429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Лінійного зв'язку немає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3931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Проблема! —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760720" y="39319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Розмір cov залежить від одиниць. Порівняти cov(age,fare) і cov(height_cm,weight) неможливо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Рішення: нормалізувати коваріацію = кореляція Пірсона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Кореляція: шкала від −1 до +1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1341120" cy="502920"/>
          </a:xfrm>
          <a:prstGeom prst="rect">
            <a:avLst/>
          </a:prstGeom>
          <a:solidFill>
            <a:srgbClr val="FF4757">
              <a:alpha val="6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889760" y="1005840"/>
            <a:ext cx="1341120" cy="502920"/>
          </a:xfrm>
          <a:prstGeom prst="rect">
            <a:avLst/>
          </a:prstGeom>
          <a:solidFill>
            <a:srgbClr val="FF6B4A">
              <a:alpha val="6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3230880" y="1005840"/>
            <a:ext cx="1341120" cy="502920"/>
          </a:xfrm>
          <a:prstGeom prst="rect">
            <a:avLst/>
          </a:prstGeom>
          <a:solidFill>
            <a:srgbClr val="FF9A5C">
              <a:alpha val="6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1341120" cy="502920"/>
          </a:xfrm>
          <a:prstGeom prst="rect">
            <a:avLst/>
          </a:prstGeom>
          <a:solidFill>
            <a:srgbClr val="F0C040">
              <a:alpha val="6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913120" y="1005840"/>
            <a:ext cx="1341120" cy="502920"/>
          </a:xfrm>
          <a:prstGeom prst="rect">
            <a:avLst/>
          </a:prstGeom>
          <a:solidFill>
            <a:srgbClr val="AAD45A">
              <a:alpha val="6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7254240" y="1005840"/>
            <a:ext cx="1341120" cy="502920"/>
          </a:xfrm>
          <a:prstGeom prst="rect">
            <a:avLst/>
          </a:prstGeom>
          <a:solidFill>
            <a:srgbClr val="00FF9F">
              <a:alpha val="6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6576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0688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4800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3024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7136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1554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1115568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 негат.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35480" y="1115568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Помірна негат.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76600" y="1115568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Слабка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1115568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Слабка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58840" y="1115568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Помірна позит.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99960" y="1115568"/>
            <a:ext cx="124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 позит.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1920240"/>
            <a:ext cx="411480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11480" y="1920240"/>
            <a:ext cx="54864" cy="292608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576072" y="2011680"/>
            <a:ext cx="3858768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Кореляція Пірсона (лінійний зв'язок)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df['age'].corr(df['fare'])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 = {r:.3f}')  # 0.096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Матриця кореляцій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corr_matrix = df[nums].corr()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Спірмена (монотонний, без норм.)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r_s = df['age'].corr(df['fare'],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method='spearman')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3440" y="1920240"/>
            <a:ext cx="406908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800600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інтерпретації |r|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2450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0.3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52160" y="24505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Слабкий зв'язок (або його немає)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800600" y="29077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0.3–0.5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52160" y="2907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Помірний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00600" y="33649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0.5–0.7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852160" y="3364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Середній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00600" y="38221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0.7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852160" y="3822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Сильний зв'язок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800600" y="42793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852160" y="42793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Ідеальна лінійна залежність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і heatmap як візуальна перевірка кореляції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47" y="1328166"/>
            <a:ext cx="8321040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Кореляція не означає причинність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749808"/>
          </a:xfrm>
          <a:prstGeom prst="rect">
            <a:avLst/>
          </a:prstGeom>
          <a:solidFill>
            <a:srgbClr val="1A0D0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8321040" cy="54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 = 0.95  ≠  X спричиняє 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83210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54864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"Продажі морозива"  ↔  "Кількість потоплень"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50545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Прихована змінна: жара/літо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99232"/>
            <a:ext cx="83210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11480" y="2999232"/>
            <a:ext cx="54864" cy="8046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94360" y="305409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"Кількість фільмів Ніколаса Кейджа"  ↔  "Смерті від падіння у басейн"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4015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Spurious correlation (псевдокореляція)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895344"/>
            <a:ext cx="832104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411480" y="3895344"/>
            <a:ext cx="54864" cy="80467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94360" y="395020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"Кількість пожарників на місці"  ↔  "Збитки від пожежі"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297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Зворотна причинність: більша пожежа → більше пожарників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Кореляція — це стартова точка розслідування, а не відповідь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Практичний чекліст статистичного огляду в pandas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1480" cy="512064"/>
          </a:xfrm>
          <a:prstGeom prst="rect">
            <a:avLst/>
          </a:prstGeom>
          <a:solidFill>
            <a:srgbClr val="4F9CF9">
              <a:alpha val="60000"/>
            </a:srgbClr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7260" y="11155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Завантажити і подивитись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9080" y="106070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df.shape, df.dtypes, df.head()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581912"/>
            <a:ext cx="832104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11480" y="1581912"/>
            <a:ext cx="411480" cy="512064"/>
          </a:xfrm>
          <a:prstGeom prst="rect">
            <a:avLst/>
          </a:prstGeom>
          <a:solidFill>
            <a:srgbClr val="FF6B35">
              <a:alpha val="6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11480" y="158191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7260" y="168505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16367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df.isnull().sum(), df.isnull().mean()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157984"/>
            <a:ext cx="832104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11480" y="2157984"/>
            <a:ext cx="411480" cy="512064"/>
          </a:xfrm>
          <a:prstGeom prst="rect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11480" y="215798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7260" y="226771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Описова статистика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69080" y="221284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734056"/>
            <a:ext cx="832104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411480" y="2734056"/>
            <a:ext cx="411480" cy="512064"/>
          </a:xfrm>
          <a:prstGeom prst="rect">
            <a:avLst/>
          </a:prstGeom>
          <a:solidFill>
            <a:srgbClr val="00FF9F">
              <a:alpha val="60000"/>
            </a:srgbClr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11480" y="27340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7260" y="28346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числових колонок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69080" y="278892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df[col].hist(bins=30), sns.histplot()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310128"/>
            <a:ext cx="832104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11480" y="3310128"/>
            <a:ext cx="411480" cy="512064"/>
          </a:xfrm>
          <a:prstGeom prst="rect">
            <a:avLst/>
          </a:prstGeom>
          <a:solidFill>
            <a:srgbClr val="A855F7">
              <a:alpha val="6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11480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34472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Викиди (IQR rule)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69080" y="336499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q1,q3 = df[col].quantile([.25,.75]); iqr=q3-q1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886200"/>
            <a:ext cx="8321040" cy="51206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411480" y="3886200"/>
            <a:ext cx="411480" cy="512064"/>
          </a:xfrm>
          <a:prstGeom prst="rect">
            <a:avLst/>
          </a:prstGeom>
          <a:solidFill>
            <a:srgbClr val="F0C040">
              <a:alpha val="60000"/>
            </a:srgbClr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Text 30"/>
          <p:cNvSpPr/>
          <p:nvPr/>
        </p:nvSpPr>
        <p:spPr>
          <a:xfrm>
            <a:off x="411480" y="38862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7260" y="40325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Кореляційна матриця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069080" y="394106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sns.heatmap(df.corr(), annot=True)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4462272"/>
            <a:ext cx="8321040" cy="51206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6" name="Shape 34"/>
          <p:cNvSpPr/>
          <p:nvPr/>
        </p:nvSpPr>
        <p:spPr>
          <a:xfrm>
            <a:off x="411480" y="4462272"/>
            <a:ext cx="411480" cy="512064"/>
          </a:xfrm>
          <a:prstGeom prst="rect">
            <a:avLst/>
          </a:prstGeom>
          <a:solidFill>
            <a:srgbClr val="FF6B35">
              <a:alpha val="60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411480" y="44622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0120" y="45628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Категоріальні колонки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069080" y="451713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df[cat_col].value_counts(normalize=True)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868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 інтерпретації на Titanic dataset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13232"/>
            <a:ext cx="530352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713232"/>
            <a:ext cx="283464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4"/>
          <p:cNvSpPr/>
          <p:nvPr/>
        </p:nvSpPr>
        <p:spPr>
          <a:xfrm>
            <a:off x="6035040" y="822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висновки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170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клас: 63% виживань проти 24% у 3-му → сильна кореляція класу і виживання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16642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в 1-му класі — сильний викид вгору (VIP пасажири)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215798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pclass і fare: r ≈ −0.55 → сильна негативна кореляція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26517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Вік і виживання: r ≈ −0.08 (слабкий зв'язок)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3364992"/>
            <a:ext cx="5303520" cy="1691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13" name="Shape 10"/>
          <p:cNvSpPr/>
          <p:nvPr/>
        </p:nvSpPr>
        <p:spPr>
          <a:xfrm>
            <a:off x="411480" y="3364992"/>
            <a:ext cx="73152" cy="1691640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576072" y="3456432"/>
            <a:ext cx="5047488" cy="150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Повний аналіз за чеклістом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pd.read_csv('titanic.csv')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print(df.describe())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print(df.isnull().sum())</a:t>
            </a:r>
            <a:endParaRPr lang="uk-UA" sz="1100" dirty="0">
              <a:solidFill>
                <a:srgbClr val="00D4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Кореляція з target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['survived','pclass','age','sibsp','parch','fare']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FF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df[nums].corr()['survived</a:t>
            </a:r>
            <a:r>
              <a:rPr lang="en-US" sz="1100" dirty="0">
                <a:solidFill>
                  <a:srgbClr val="00FF9F"/>
                </a:solidFill>
                <a:latin typeface="Consolas" pitchFamily="34" charset="0"/>
                <a:cs typeface="Consolas" pitchFamily="34" charset="-120"/>
              </a:rPr>
              <a:t>'].sort_values(ascending=False)</a:t>
            </a:r>
          </a:p>
        </p:txBody>
      </p:sp>
      <p:sp>
        <p:nvSpPr>
          <p:cNvPr id="15" name="Text 12"/>
          <p:cNvSpPr/>
          <p:nvPr/>
        </p:nvSpPr>
        <p:spPr>
          <a:xfrm>
            <a:off x="5897880" y="37307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pclass: −0.34  |  fare: +0.26  |  age: −0.08  |  sibsp: −0.04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97880" y="42336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Клас квитка — найсильніший предиктор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 заняття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uk-UA" sz="3000" b="1" dirty="0">
                <a:solidFill>
                  <a:srgbClr val="E0E8FF"/>
                </a:solidFill>
                <a:latin typeface="Calibri" pitchFamily="34" charset="0"/>
                <a:cs typeface="Calibri" pitchFamily="34" charset="-120"/>
              </a:rPr>
              <a:t>Що розглянули сьогодні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54864" cy="896112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353312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Розраховувати mean, median, mode, std, quantile в pandas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54864" cy="8961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2322576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377440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Читати boxplot і знаходити викиди за IQR-правилом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346704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54864" cy="896112"/>
          </a:xfrm>
          <a:prstGeom prst="rect">
            <a:avLst/>
          </a:prstGeom>
          <a:solidFill>
            <a:srgbClr val="00FF9F"/>
          </a:solidFill>
          <a:ln w="12700">
            <a:solidFill>
              <a:srgbClr val="00FF9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94360" y="3346704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401568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Аналізувати гістограму і визначати тип розподілу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92040" y="1298448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892040" y="1298448"/>
            <a:ext cx="54864" cy="8961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029200" y="1298448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0" y="1353312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Будувати кореляційну матрицю і heatmap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92040" y="2322576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4892040" y="2322576"/>
            <a:ext cx="54864" cy="8961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5029200" y="2322576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0" y="2377440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Пам'ятати: кореляція ≠ причинність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92040" y="3346704"/>
            <a:ext cx="4206240" cy="89611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892040" y="3346704"/>
            <a:ext cx="54864" cy="89611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029200" y="3346704"/>
            <a:ext cx="594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69280" y="3401568"/>
            <a:ext cx="3337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Проходити статистичний чекліст перед побудовою моделі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 Matplotlib та Seaborn — повна візуалізація даних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4994</TotalTime>
  <Words>1999</Words>
  <Application>Microsoft Macintosh PowerPoint</Application>
  <PresentationFormat>On-screen Show (16:9)</PresentationFormat>
  <Paragraphs>367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Основи статистики для аналізу даних</dc:title>
  <dc:subject>PptxGenJS Presentation</dc:subject>
  <dc:creator>Data Science Course</dc:creator>
  <cp:lastModifiedBy>Штефан Дмитро</cp:lastModifiedBy>
  <cp:revision>6</cp:revision>
  <dcterms:created xsi:type="dcterms:W3CDTF">2026-06-02T19:33:15Z</dcterms:created>
  <dcterms:modified xsi:type="dcterms:W3CDTF">2026-06-06T07:11:40Z</dcterms:modified>
</cp:coreProperties>
</file>