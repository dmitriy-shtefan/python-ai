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5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843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Вітання групи. Озвучити план заняття: пройдемо шлях індустрії комп'ютерного зору — від простих цифр (MNIST) до реальної медичної задачі (Pneumonia Detection). Наголосити на практичній частині: сьогодні будемо не лише дивитись теорію, а й писати/розбирати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Пояснити на пальцях: у FC-шарі кожен піксель з'єднаний з кожним нейроном — це і дорого, і нелогічно, бо втрачається просторова структура. Питання студентам: 'що було б, якби кіт на фото зсунувся на 5 пікселів вправо?' У FC-мережі це зовсім інший вхід. У згортці — той самий фільтр його все одно знайде.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приклади зображень з обох датасетів (живий код: matplotlib grid). Підкреслити: проста CNN, що дає 99% на MNIST, на CIFAR-10 впаде до 70-75% — тому що задача принципово складніша: кольори, фон, ракурс. Це мотивує перехід до глибших архітектур.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LeNet — навчальний приклад, показати схему шарів на дошці/слайді. AlexNet — перелом: 2012 рік, ImageNet competition, мережа на GPU. Підкреслити три нововведення: ReLU, Dropout, GPU. Це підготовка до наступного слайду про проблему глибини і ResNet.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Намалювати на дошці деградацію accuracy при збільшенні глибини (графік з оригінальної ResNet-статті). Пояснити skip connection як 'обхідний шлях' для градієнта і сигналу. Формула H(x)=F(x)+x — ключова, варто записати її і пояснити кожен символ.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живий код: завантаження pretrained ResNet18, заміна останнього FC-шару. Пройти по кожному рядку. Запустити навчання на невеликому датасеті (наприклад, дві категорії), показати, як швидко зростає accuracy порівняно з навчанням CNN з нуля (слайд 3). Згадати нормалізацію вхідних даних під ImageNet mean/std — типова помилка студентів.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Питання студентам: 'що робити, якщо на фото кілька об'єктів різних класів?' Класифікація дає лише одну відповідь на все зображення — для детекції потрібен інший підхід. Це підводить до YOLO.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Пояснити grid-підхід: зображення ділиться на клітинки, кожна передбачає box+клас+confidence. Живий код: завантажити yolov8n, зробити predict на власному фото, показати результат з намальованими bounding boxes. Пояснити NMS на пальцях: 'якщо кілька клітинок 'побачили' той самий об'єкт, залишаємо тільки box з найбільшою впевненістю'.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домашнє завдання прямо використовує техніку з блоку про transfer learning (слайд 6) — тільки на медичних даних. Підкреслити складність: дисбаланс класів, тонкі візуальні відмінності, висока ціна помилки (це медицина). Обов'язково розповісти про confusion matrix і чому accuracy тут оманлива метрика — навести числовий приклад на занятті.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Підсумувати весь шлях одним слайдом. Дати студентам час на питання. Нагадати дедлайн і формат подачі домашнього завдання, посилання на датасет Pneumonia (Kaggle chest X-ray dataset) та шаблон ноутбука, якщо 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97280"/>
            <a:ext cx="109728" cy="109728"/>
          </a:xfrm>
          <a:prstGeom prst="ellipse">
            <a:avLst/>
          </a:prstGeom>
          <a:solidFill>
            <a:srgbClr val="2A3A6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2194560" y="731520"/>
            <a:ext cx="109728" cy="109728"/>
          </a:xfrm>
          <a:prstGeom prst="ellipse">
            <a:avLst/>
          </a:prstGeom>
          <a:solidFill>
            <a:srgbClr val="2A3A6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10789920" y="1280160"/>
            <a:ext cx="109728" cy="109728"/>
          </a:xfrm>
          <a:prstGeom prst="ellipse">
            <a:avLst/>
          </a:prstGeom>
          <a:solidFill>
            <a:srgbClr val="2A3A6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1338560" y="5303520"/>
            <a:ext cx="109728" cy="109728"/>
          </a:xfrm>
          <a:prstGeom prst="ellipse">
            <a:avLst/>
          </a:prstGeom>
          <a:solidFill>
            <a:srgbClr val="2A3A6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5669280"/>
            <a:ext cx="109728" cy="109728"/>
          </a:xfrm>
          <a:prstGeom prst="ellipse">
            <a:avLst/>
          </a:prstGeom>
          <a:solidFill>
            <a:srgbClr val="2A3A6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9692640" y="640080"/>
            <a:ext cx="109728" cy="109728"/>
          </a:xfrm>
          <a:prstGeom prst="ellipse">
            <a:avLst/>
          </a:prstGeom>
          <a:solidFill>
            <a:srgbClr val="2A3A6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НЕЙРОННІ МЕРЕЖІ</a:t>
            </a:r>
            <a:r>
              <a:rPr lang="uk-UA" sz="1600" b="1" kern="0" spc="300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КОМПʼЮТЕРНОМУ ЗОРІ</a:t>
            </a:r>
            <a:endParaRPr lang="en-US" sz="1600" b="1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MNIST до Pneumonia Detection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Архітектури CNN, transfer learning та object detection на практиці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0100" y="4549140"/>
            <a:ext cx="685800" cy="685800"/>
          </a:xfrm>
          <a:prstGeom prst="ellipse">
            <a:avLst/>
          </a:prstGeom>
          <a:solidFill>
            <a:srgbClr val="1D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" y="4703445"/>
            <a:ext cx="377190" cy="37719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52852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/ CIFAR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736592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948940" y="4549140"/>
            <a:ext cx="685800" cy="685800"/>
          </a:xfrm>
          <a:prstGeom prst="ellipse">
            <a:avLst/>
          </a:prstGeom>
          <a:solidFill>
            <a:srgbClr val="1D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245" y="470344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14600" y="52852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LeNet–ResNet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4736592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97780" y="4549140"/>
            <a:ext cx="685800" cy="685800"/>
          </a:xfrm>
          <a:prstGeom prst="ellipse">
            <a:avLst/>
          </a:prstGeom>
          <a:solidFill>
            <a:srgbClr val="1D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2085" y="4703445"/>
            <a:ext cx="377190" cy="3771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63440" y="52852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736592"/>
            <a:ext cx="274320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246620" y="4549140"/>
            <a:ext cx="685800" cy="685800"/>
          </a:xfrm>
          <a:prstGeom prst="ellipse">
            <a:avLst/>
          </a:prstGeom>
          <a:solidFill>
            <a:srgbClr val="1D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0925" y="4703445"/>
            <a:ext cx="377190" cy="37719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12280" y="52852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0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736592"/>
            <a:ext cx="274320" cy="27432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9395460" y="4549140"/>
            <a:ext cx="685800" cy="685800"/>
          </a:xfrm>
          <a:prstGeom prst="ellipse">
            <a:avLst/>
          </a:prstGeom>
          <a:solidFill>
            <a:srgbClr val="1D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9765" y="4703445"/>
            <a:ext cx="377190" cy="37719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961120" y="52852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Detection</a:t>
            </a:r>
            <a:endParaRPr lang="en-US" sz="1050" dirty="0"/>
          </a:p>
        </p:txBody>
      </p:sp>
      <p:sp>
        <p:nvSpPr>
          <p:cNvPr id="31" name="Text 19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CNN, а не звичайна мережа?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E8EEF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повнозв'язного шару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Зображення 224×224×3 → на вході вже 150 528 чисел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Перший FC-шар на 1000 нейронів = ~150 млн параметрів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піксель з'єднаний з кожним нейроном — просторова структура зображення повністю втрачається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перенавчання, величезна пам'ять, повільне навчання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131B3A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2737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258" y="2155698"/>
            <a:ext cx="352044" cy="3520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69480" y="2057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Рішення: згортка (Convolution)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Локальність — кожен нейрон дивиться лише на маленьку ділянку (kernel), а не на все зображення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Спільні ваги — один і той самий фільтр (детектор ознаки) ковзає по всьому зображенню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у сотні разів менше параметрів і мережа вчиться знаходити патерн незалежно від його позиції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фільтр — детектор патерну, який «шукає» одну й ту саму ознаку (край, кут, текстуру) по всьому зображенню.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MNIST vs CIFAR-10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E8EEF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4F7C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385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MNIST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24048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Рукописні цифри 0–9, 28×28, grayscale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2926080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1115568" y="2926080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1362456" y="2926080"/>
            <a:ext cx="210312" cy="210312"/>
          </a:xfrm>
          <a:prstGeom prst="rect">
            <a:avLst/>
          </a:prstGeom>
          <a:solidFill>
            <a:srgbClr val="C9D4E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1609344" y="2926080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1856232" y="2926080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2103120" y="2926080"/>
            <a:ext cx="210312" cy="210312"/>
          </a:xfrm>
          <a:prstGeom prst="rect">
            <a:avLst/>
          </a:prstGeom>
          <a:solidFill>
            <a:srgbClr val="C9D4E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2350008" y="2926080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3"/>
          <p:cNvSpPr/>
          <p:nvPr/>
        </p:nvSpPr>
        <p:spPr>
          <a:xfrm>
            <a:off x="2596896" y="2926080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4"/>
          <p:cNvSpPr/>
          <p:nvPr/>
        </p:nvSpPr>
        <p:spPr>
          <a:xfrm>
            <a:off x="868680" y="3172968"/>
            <a:ext cx="210312" cy="210312"/>
          </a:xfrm>
          <a:prstGeom prst="rect">
            <a:avLst/>
          </a:prstGeom>
          <a:solidFill>
            <a:srgbClr val="C9D4E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5"/>
          <p:cNvSpPr/>
          <p:nvPr/>
        </p:nvSpPr>
        <p:spPr>
          <a:xfrm>
            <a:off x="1115568" y="3172968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6"/>
          <p:cNvSpPr/>
          <p:nvPr/>
        </p:nvSpPr>
        <p:spPr>
          <a:xfrm>
            <a:off x="1362456" y="3172968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7"/>
          <p:cNvSpPr/>
          <p:nvPr/>
        </p:nvSpPr>
        <p:spPr>
          <a:xfrm>
            <a:off x="1609344" y="3172968"/>
            <a:ext cx="210312" cy="210312"/>
          </a:xfrm>
          <a:prstGeom prst="rect">
            <a:avLst/>
          </a:prstGeom>
          <a:solidFill>
            <a:srgbClr val="C9D4E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8"/>
          <p:cNvSpPr/>
          <p:nvPr/>
        </p:nvSpPr>
        <p:spPr>
          <a:xfrm>
            <a:off x="1856232" y="3172968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9"/>
          <p:cNvSpPr/>
          <p:nvPr/>
        </p:nvSpPr>
        <p:spPr>
          <a:xfrm>
            <a:off x="2103120" y="3172968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20"/>
          <p:cNvSpPr/>
          <p:nvPr/>
        </p:nvSpPr>
        <p:spPr>
          <a:xfrm>
            <a:off x="2350008" y="3172968"/>
            <a:ext cx="210312" cy="210312"/>
          </a:xfrm>
          <a:prstGeom prst="rect">
            <a:avLst/>
          </a:prstGeom>
          <a:solidFill>
            <a:srgbClr val="C9D4E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Shape 21"/>
          <p:cNvSpPr/>
          <p:nvPr/>
        </p:nvSpPr>
        <p:spPr>
          <a:xfrm>
            <a:off x="2596896" y="3172968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2"/>
          <p:cNvSpPr/>
          <p:nvPr/>
        </p:nvSpPr>
        <p:spPr>
          <a:xfrm>
            <a:off x="868680" y="3419856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3"/>
          <p:cNvSpPr/>
          <p:nvPr/>
        </p:nvSpPr>
        <p:spPr>
          <a:xfrm>
            <a:off x="1115568" y="3419856"/>
            <a:ext cx="210312" cy="210312"/>
          </a:xfrm>
          <a:prstGeom prst="rect">
            <a:avLst/>
          </a:prstGeom>
          <a:solidFill>
            <a:srgbClr val="C9D4E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Shape 24"/>
          <p:cNvSpPr/>
          <p:nvPr/>
        </p:nvSpPr>
        <p:spPr>
          <a:xfrm>
            <a:off x="1362456" y="3419856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Shape 25"/>
          <p:cNvSpPr/>
          <p:nvPr/>
        </p:nvSpPr>
        <p:spPr>
          <a:xfrm>
            <a:off x="1609344" y="3419856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Shape 26"/>
          <p:cNvSpPr/>
          <p:nvPr/>
        </p:nvSpPr>
        <p:spPr>
          <a:xfrm>
            <a:off x="1856232" y="3419856"/>
            <a:ext cx="210312" cy="210312"/>
          </a:xfrm>
          <a:prstGeom prst="rect">
            <a:avLst/>
          </a:prstGeom>
          <a:solidFill>
            <a:srgbClr val="C9D4E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Shape 27"/>
          <p:cNvSpPr/>
          <p:nvPr/>
        </p:nvSpPr>
        <p:spPr>
          <a:xfrm>
            <a:off x="2103120" y="3419856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Shape 28"/>
          <p:cNvSpPr/>
          <p:nvPr/>
        </p:nvSpPr>
        <p:spPr>
          <a:xfrm>
            <a:off x="2350008" y="3419856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Shape 29"/>
          <p:cNvSpPr/>
          <p:nvPr/>
        </p:nvSpPr>
        <p:spPr>
          <a:xfrm>
            <a:off x="2596896" y="3419856"/>
            <a:ext cx="210312" cy="210312"/>
          </a:xfrm>
          <a:prstGeom prst="rect">
            <a:avLst/>
          </a:prstGeom>
          <a:solidFill>
            <a:srgbClr val="C9D4E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3" name="Shape 30"/>
          <p:cNvSpPr/>
          <p:nvPr/>
        </p:nvSpPr>
        <p:spPr>
          <a:xfrm>
            <a:off x="868680" y="3666744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4" name="Shape 31"/>
          <p:cNvSpPr/>
          <p:nvPr/>
        </p:nvSpPr>
        <p:spPr>
          <a:xfrm>
            <a:off x="1115568" y="3666744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5" name="Shape 32"/>
          <p:cNvSpPr/>
          <p:nvPr/>
        </p:nvSpPr>
        <p:spPr>
          <a:xfrm>
            <a:off x="1362456" y="3666744"/>
            <a:ext cx="210312" cy="210312"/>
          </a:xfrm>
          <a:prstGeom prst="rect">
            <a:avLst/>
          </a:prstGeom>
          <a:solidFill>
            <a:srgbClr val="C9D4E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6" name="Shape 33"/>
          <p:cNvSpPr/>
          <p:nvPr/>
        </p:nvSpPr>
        <p:spPr>
          <a:xfrm>
            <a:off x="1609344" y="3666744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7" name="Shape 34"/>
          <p:cNvSpPr/>
          <p:nvPr/>
        </p:nvSpPr>
        <p:spPr>
          <a:xfrm>
            <a:off x="1856232" y="3666744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8" name="Shape 35"/>
          <p:cNvSpPr/>
          <p:nvPr/>
        </p:nvSpPr>
        <p:spPr>
          <a:xfrm>
            <a:off x="2103120" y="3666744"/>
            <a:ext cx="210312" cy="210312"/>
          </a:xfrm>
          <a:prstGeom prst="rect">
            <a:avLst/>
          </a:prstGeom>
          <a:solidFill>
            <a:srgbClr val="C9D4E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9" name="Shape 36"/>
          <p:cNvSpPr/>
          <p:nvPr/>
        </p:nvSpPr>
        <p:spPr>
          <a:xfrm>
            <a:off x="2350008" y="3666744"/>
            <a:ext cx="210312" cy="210312"/>
          </a:xfrm>
          <a:prstGeom prst="rect">
            <a:avLst/>
          </a:prstGeom>
          <a:solidFill>
            <a:srgbClr val="3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0" name="Shape 37"/>
          <p:cNvSpPr/>
          <p:nvPr/>
        </p:nvSpPr>
        <p:spPr>
          <a:xfrm>
            <a:off x="2596896" y="3666744"/>
            <a:ext cx="210312" cy="210312"/>
          </a:xfrm>
          <a:prstGeom prst="rect">
            <a:avLst/>
          </a:prstGeom>
          <a:solidFill>
            <a:srgbClr val="8A9B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1" name="Shape 38"/>
          <p:cNvSpPr/>
          <p:nvPr/>
        </p:nvSpPr>
        <p:spPr>
          <a:xfrm>
            <a:off x="6126480" y="169164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E8EEF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2" name="Shape 39"/>
          <p:cNvSpPr/>
          <p:nvPr/>
        </p:nvSpPr>
        <p:spPr>
          <a:xfrm>
            <a:off x="6400800" y="1920240"/>
            <a:ext cx="548640" cy="548640"/>
          </a:xfrm>
          <a:prstGeom prst="ellipse">
            <a:avLst/>
          </a:prstGeom>
          <a:solidFill>
            <a:srgbClr val="E061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2043684"/>
            <a:ext cx="301752" cy="30175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086600" y="19385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CIFAR-10</a:t>
            </a:r>
            <a:endParaRPr lang="en-US" sz="2000" dirty="0"/>
          </a:p>
        </p:txBody>
      </p:sp>
      <p:sp>
        <p:nvSpPr>
          <p:cNvPr id="45" name="Text 41"/>
          <p:cNvSpPr/>
          <p:nvPr/>
        </p:nvSpPr>
        <p:spPr>
          <a:xfrm>
            <a:off x="7086600" y="2404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Реальні об'єкти (кіт, авто, літак), 32×32, RGB</a:t>
            </a:r>
            <a:endParaRPr lang="en-US" sz="1250" dirty="0"/>
          </a:p>
        </p:txBody>
      </p:sp>
      <p:sp>
        <p:nvSpPr>
          <p:cNvPr id="46" name="Shape 42"/>
          <p:cNvSpPr/>
          <p:nvPr/>
        </p:nvSpPr>
        <p:spPr>
          <a:xfrm>
            <a:off x="6355080" y="2926080"/>
            <a:ext cx="210312" cy="210312"/>
          </a:xfrm>
          <a:prstGeom prst="rect">
            <a:avLst/>
          </a:prstGeom>
          <a:solidFill>
            <a:srgbClr val="8A6D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7" name="Shape 43"/>
          <p:cNvSpPr/>
          <p:nvPr/>
        </p:nvSpPr>
        <p:spPr>
          <a:xfrm>
            <a:off x="6601968" y="2926080"/>
            <a:ext cx="210312" cy="210312"/>
          </a:xfrm>
          <a:prstGeom prst="rect">
            <a:avLst/>
          </a:prstGeom>
          <a:solidFill>
            <a:srgbClr val="6B8F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8" name="Shape 44"/>
          <p:cNvSpPr/>
          <p:nvPr/>
        </p:nvSpPr>
        <p:spPr>
          <a:xfrm>
            <a:off x="6848856" y="2926080"/>
            <a:ext cx="210312" cy="210312"/>
          </a:xfrm>
          <a:prstGeom prst="rect">
            <a:avLst/>
          </a:prstGeom>
          <a:solidFill>
            <a:srgbClr val="5A6E8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9" name="Shape 45"/>
          <p:cNvSpPr/>
          <p:nvPr/>
        </p:nvSpPr>
        <p:spPr>
          <a:xfrm>
            <a:off x="7095744" y="2926080"/>
            <a:ext cx="210312" cy="210312"/>
          </a:xfrm>
          <a:prstGeom prst="rect">
            <a:avLst/>
          </a:prstGeom>
          <a:solidFill>
            <a:srgbClr val="B5895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0" name="Shape 46"/>
          <p:cNvSpPr/>
          <p:nvPr/>
        </p:nvSpPr>
        <p:spPr>
          <a:xfrm>
            <a:off x="7342632" y="2926080"/>
            <a:ext cx="210312" cy="210312"/>
          </a:xfrm>
          <a:prstGeom prst="rect">
            <a:avLst/>
          </a:prstGeom>
          <a:solidFill>
            <a:srgbClr val="7A6F8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1" name="Shape 47"/>
          <p:cNvSpPr/>
          <p:nvPr/>
        </p:nvSpPr>
        <p:spPr>
          <a:xfrm>
            <a:off x="7589520" y="2926080"/>
            <a:ext cx="210312" cy="210312"/>
          </a:xfrm>
          <a:prstGeom prst="rect">
            <a:avLst/>
          </a:prstGeom>
          <a:solidFill>
            <a:srgbClr val="98735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2" name="Shape 48"/>
          <p:cNvSpPr/>
          <p:nvPr/>
        </p:nvSpPr>
        <p:spPr>
          <a:xfrm>
            <a:off x="7836408" y="2926080"/>
            <a:ext cx="210312" cy="210312"/>
          </a:xfrm>
          <a:prstGeom prst="rect">
            <a:avLst/>
          </a:prstGeom>
          <a:solidFill>
            <a:srgbClr val="6C8C8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3" name="Shape 49"/>
          <p:cNvSpPr/>
          <p:nvPr/>
        </p:nvSpPr>
        <p:spPr>
          <a:xfrm>
            <a:off x="8083296" y="2926080"/>
            <a:ext cx="210312" cy="210312"/>
          </a:xfrm>
          <a:prstGeom prst="rect">
            <a:avLst/>
          </a:prstGeom>
          <a:solidFill>
            <a:srgbClr val="9A7A6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4" name="Shape 50"/>
          <p:cNvSpPr/>
          <p:nvPr/>
        </p:nvSpPr>
        <p:spPr>
          <a:xfrm>
            <a:off x="6355080" y="3172968"/>
            <a:ext cx="210312" cy="210312"/>
          </a:xfrm>
          <a:prstGeom prst="rect">
            <a:avLst/>
          </a:prstGeom>
          <a:solidFill>
            <a:srgbClr val="6B8F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5" name="Shape 51"/>
          <p:cNvSpPr/>
          <p:nvPr/>
        </p:nvSpPr>
        <p:spPr>
          <a:xfrm>
            <a:off x="6601968" y="3172968"/>
            <a:ext cx="210312" cy="210312"/>
          </a:xfrm>
          <a:prstGeom prst="rect">
            <a:avLst/>
          </a:prstGeom>
          <a:solidFill>
            <a:srgbClr val="5A6E8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6" name="Shape 52"/>
          <p:cNvSpPr/>
          <p:nvPr/>
        </p:nvSpPr>
        <p:spPr>
          <a:xfrm>
            <a:off x="6848856" y="3172968"/>
            <a:ext cx="210312" cy="210312"/>
          </a:xfrm>
          <a:prstGeom prst="rect">
            <a:avLst/>
          </a:prstGeom>
          <a:solidFill>
            <a:srgbClr val="B5895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7" name="Shape 53"/>
          <p:cNvSpPr/>
          <p:nvPr/>
        </p:nvSpPr>
        <p:spPr>
          <a:xfrm>
            <a:off x="7095744" y="3172968"/>
            <a:ext cx="210312" cy="210312"/>
          </a:xfrm>
          <a:prstGeom prst="rect">
            <a:avLst/>
          </a:prstGeom>
          <a:solidFill>
            <a:srgbClr val="7A6F8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8" name="Shape 54"/>
          <p:cNvSpPr/>
          <p:nvPr/>
        </p:nvSpPr>
        <p:spPr>
          <a:xfrm>
            <a:off x="7342632" y="3172968"/>
            <a:ext cx="210312" cy="210312"/>
          </a:xfrm>
          <a:prstGeom prst="rect">
            <a:avLst/>
          </a:prstGeom>
          <a:solidFill>
            <a:srgbClr val="98735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9" name="Shape 55"/>
          <p:cNvSpPr/>
          <p:nvPr/>
        </p:nvSpPr>
        <p:spPr>
          <a:xfrm>
            <a:off x="7589520" y="3172968"/>
            <a:ext cx="210312" cy="210312"/>
          </a:xfrm>
          <a:prstGeom prst="rect">
            <a:avLst/>
          </a:prstGeom>
          <a:solidFill>
            <a:srgbClr val="6C8C8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0" name="Shape 56"/>
          <p:cNvSpPr/>
          <p:nvPr/>
        </p:nvSpPr>
        <p:spPr>
          <a:xfrm>
            <a:off x="7836408" y="3172968"/>
            <a:ext cx="210312" cy="210312"/>
          </a:xfrm>
          <a:prstGeom prst="rect">
            <a:avLst/>
          </a:prstGeom>
          <a:solidFill>
            <a:srgbClr val="9A7A6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1" name="Shape 57"/>
          <p:cNvSpPr/>
          <p:nvPr/>
        </p:nvSpPr>
        <p:spPr>
          <a:xfrm>
            <a:off x="8083296" y="3172968"/>
            <a:ext cx="210312" cy="210312"/>
          </a:xfrm>
          <a:prstGeom prst="rect">
            <a:avLst/>
          </a:prstGeom>
          <a:solidFill>
            <a:srgbClr val="8A6D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2" name="Shape 58"/>
          <p:cNvSpPr/>
          <p:nvPr/>
        </p:nvSpPr>
        <p:spPr>
          <a:xfrm>
            <a:off x="6355080" y="3419856"/>
            <a:ext cx="210312" cy="210312"/>
          </a:xfrm>
          <a:prstGeom prst="rect">
            <a:avLst/>
          </a:prstGeom>
          <a:solidFill>
            <a:srgbClr val="5A6E8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3" name="Shape 59"/>
          <p:cNvSpPr/>
          <p:nvPr/>
        </p:nvSpPr>
        <p:spPr>
          <a:xfrm>
            <a:off x="6601968" y="3419856"/>
            <a:ext cx="210312" cy="210312"/>
          </a:xfrm>
          <a:prstGeom prst="rect">
            <a:avLst/>
          </a:prstGeom>
          <a:solidFill>
            <a:srgbClr val="B5895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4" name="Shape 60"/>
          <p:cNvSpPr/>
          <p:nvPr/>
        </p:nvSpPr>
        <p:spPr>
          <a:xfrm>
            <a:off x="6848856" y="3419856"/>
            <a:ext cx="210312" cy="210312"/>
          </a:xfrm>
          <a:prstGeom prst="rect">
            <a:avLst/>
          </a:prstGeom>
          <a:solidFill>
            <a:srgbClr val="7A6F8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5" name="Shape 61"/>
          <p:cNvSpPr/>
          <p:nvPr/>
        </p:nvSpPr>
        <p:spPr>
          <a:xfrm>
            <a:off x="7095744" y="3419856"/>
            <a:ext cx="210312" cy="210312"/>
          </a:xfrm>
          <a:prstGeom prst="rect">
            <a:avLst/>
          </a:prstGeom>
          <a:solidFill>
            <a:srgbClr val="98735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6" name="Shape 62"/>
          <p:cNvSpPr/>
          <p:nvPr/>
        </p:nvSpPr>
        <p:spPr>
          <a:xfrm>
            <a:off x="7342632" y="3419856"/>
            <a:ext cx="210312" cy="210312"/>
          </a:xfrm>
          <a:prstGeom prst="rect">
            <a:avLst/>
          </a:prstGeom>
          <a:solidFill>
            <a:srgbClr val="6C8C8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7" name="Shape 63"/>
          <p:cNvSpPr/>
          <p:nvPr/>
        </p:nvSpPr>
        <p:spPr>
          <a:xfrm>
            <a:off x="7589520" y="3419856"/>
            <a:ext cx="210312" cy="210312"/>
          </a:xfrm>
          <a:prstGeom prst="rect">
            <a:avLst/>
          </a:prstGeom>
          <a:solidFill>
            <a:srgbClr val="9A7A6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8" name="Shape 64"/>
          <p:cNvSpPr/>
          <p:nvPr/>
        </p:nvSpPr>
        <p:spPr>
          <a:xfrm>
            <a:off x="7836408" y="3419856"/>
            <a:ext cx="210312" cy="210312"/>
          </a:xfrm>
          <a:prstGeom prst="rect">
            <a:avLst/>
          </a:prstGeom>
          <a:solidFill>
            <a:srgbClr val="8A6D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9" name="Shape 65"/>
          <p:cNvSpPr/>
          <p:nvPr/>
        </p:nvSpPr>
        <p:spPr>
          <a:xfrm>
            <a:off x="8083296" y="3419856"/>
            <a:ext cx="210312" cy="210312"/>
          </a:xfrm>
          <a:prstGeom prst="rect">
            <a:avLst/>
          </a:prstGeom>
          <a:solidFill>
            <a:srgbClr val="6B8F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0" name="Shape 66"/>
          <p:cNvSpPr/>
          <p:nvPr/>
        </p:nvSpPr>
        <p:spPr>
          <a:xfrm>
            <a:off x="6355080" y="3666744"/>
            <a:ext cx="210312" cy="210312"/>
          </a:xfrm>
          <a:prstGeom prst="rect">
            <a:avLst/>
          </a:prstGeom>
          <a:solidFill>
            <a:srgbClr val="B5895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1" name="Shape 67"/>
          <p:cNvSpPr/>
          <p:nvPr/>
        </p:nvSpPr>
        <p:spPr>
          <a:xfrm>
            <a:off x="6601968" y="3666744"/>
            <a:ext cx="210312" cy="210312"/>
          </a:xfrm>
          <a:prstGeom prst="rect">
            <a:avLst/>
          </a:prstGeom>
          <a:solidFill>
            <a:srgbClr val="7A6F8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2" name="Shape 68"/>
          <p:cNvSpPr/>
          <p:nvPr/>
        </p:nvSpPr>
        <p:spPr>
          <a:xfrm>
            <a:off x="6848856" y="3666744"/>
            <a:ext cx="210312" cy="210312"/>
          </a:xfrm>
          <a:prstGeom prst="rect">
            <a:avLst/>
          </a:prstGeom>
          <a:solidFill>
            <a:srgbClr val="98735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3" name="Shape 69"/>
          <p:cNvSpPr/>
          <p:nvPr/>
        </p:nvSpPr>
        <p:spPr>
          <a:xfrm>
            <a:off x="7095744" y="3666744"/>
            <a:ext cx="210312" cy="210312"/>
          </a:xfrm>
          <a:prstGeom prst="rect">
            <a:avLst/>
          </a:prstGeom>
          <a:solidFill>
            <a:srgbClr val="6C8C8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4" name="Shape 70"/>
          <p:cNvSpPr/>
          <p:nvPr/>
        </p:nvSpPr>
        <p:spPr>
          <a:xfrm>
            <a:off x="7342632" y="3666744"/>
            <a:ext cx="210312" cy="210312"/>
          </a:xfrm>
          <a:prstGeom prst="rect">
            <a:avLst/>
          </a:prstGeom>
          <a:solidFill>
            <a:srgbClr val="9A7A6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5" name="Shape 71"/>
          <p:cNvSpPr/>
          <p:nvPr/>
        </p:nvSpPr>
        <p:spPr>
          <a:xfrm>
            <a:off x="7589520" y="3666744"/>
            <a:ext cx="210312" cy="210312"/>
          </a:xfrm>
          <a:prstGeom prst="rect">
            <a:avLst/>
          </a:prstGeom>
          <a:solidFill>
            <a:srgbClr val="8A6D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6" name="Shape 72"/>
          <p:cNvSpPr/>
          <p:nvPr/>
        </p:nvSpPr>
        <p:spPr>
          <a:xfrm>
            <a:off x="7836408" y="3666744"/>
            <a:ext cx="210312" cy="210312"/>
          </a:xfrm>
          <a:prstGeom prst="rect">
            <a:avLst/>
          </a:prstGeom>
          <a:solidFill>
            <a:srgbClr val="6B8F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7" name="Shape 73"/>
          <p:cNvSpPr/>
          <p:nvPr/>
        </p:nvSpPr>
        <p:spPr>
          <a:xfrm>
            <a:off x="8083296" y="3666744"/>
            <a:ext cx="210312" cy="210312"/>
          </a:xfrm>
          <a:prstGeom prst="rect">
            <a:avLst/>
          </a:prstGeom>
          <a:solidFill>
            <a:srgbClr val="5A6E8C"/>
          </a:solidFill>
          <a:ln/>
        </p:spPr>
        <p:txBody>
          <a:bodyPr/>
          <a:lstStyle/>
          <a:p>
            <a:endParaRPr lang="en-UA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51960"/>
          <a:ext cx="10881360" cy="19659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CIFAR-10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Розмір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28×28, 1 канал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32×32, 3 канали (RGB)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Класи / приклади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цифр, 60k train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об'єктів, 50k train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Складність фону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Чистий, без шуму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Реальний фон, ракурси, шум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простої CNN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~70–75%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" name="Text 74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ЕВОЛЮЦІЯ АРХІТЕКТУР · ЧАСТИНА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LeNet → AlexNet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937260" y="2034540"/>
            <a:ext cx="594360" cy="594360"/>
          </a:xfrm>
          <a:prstGeom prst="ellipse">
            <a:avLst/>
          </a:prstGeom>
          <a:solidFill>
            <a:srgbClr val="DCE6F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91" y="21682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LeNet-5</a:t>
            </a:r>
            <a:r>
              <a:rPr lang="en-US" sz="1800" dirty="0">
                <a:solidFill>
                  <a:srgbClr val="5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1998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 LeCun, розпізнавання цифр на банківських чеках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Схема: Conv → Pool → Conv → Pool → FC → FC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~60 000 параметрів — дуже мала за сучасними мірками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Працює добре на простих, чистих зображеннях (MNIST)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31B3A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6423660" y="2034540"/>
            <a:ext cx="594360" cy="594360"/>
          </a:xfrm>
          <a:prstGeom prst="ellipse">
            <a:avLst/>
          </a:prstGeom>
          <a:solidFill>
            <a:srgbClr val="E061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391" y="21682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75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AlexNet</a:t>
            </a:r>
            <a:r>
              <a:rPr lang="en-US" sz="1800" dirty="0">
                <a:solidFill>
                  <a:srgbClr val="CFD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2012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00800" y="288036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Перемога на ImageNet з величезним відривом — старт ери deep learning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замість sigmoid/tanh → швидше навчання, менше vanishing gradient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— регуляризація проти перенавчання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на GPU — вперше практично для такої глибини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580" y="36804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студентам: що станеться, якщо просту LeNet просто зробити глибшою?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ЕВОЛЮЦІЯ АРХІТЕКТУР · ЧАСТИНА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ResNet: вирішення проблеми глибини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251960"/>
          </a:xfrm>
          <a:prstGeom prst="roundRect">
            <a:avLst>
              <a:gd name="adj" fmla="val 2151"/>
            </a:avLst>
          </a:prstGeom>
          <a:solidFill>
            <a:srgbClr val="E8EEF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91540" y="1988820"/>
            <a:ext cx="594360" cy="594360"/>
          </a:xfrm>
          <a:prstGeom prst="ellipse">
            <a:avLst/>
          </a:prstGeom>
          <a:solidFill>
            <a:srgbClr val="D8E2F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71" y="21225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743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Проблема: vanishing gradient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246120"/>
            <a:ext cx="45262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Глибші мережі ≠ точніші — точність деградує після певної глибини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Градієнт «згасає», проходячи через десятки шарів при backpropagation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Мережа фактично «забуває», чому вчитися — ранні шари майже не оновлюються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1737360"/>
            <a:ext cx="5486400" cy="4251960"/>
          </a:xfrm>
          <a:prstGeom prst="roundRect">
            <a:avLst>
              <a:gd name="adj" fmla="val 2151"/>
            </a:avLst>
          </a:prstGeom>
          <a:solidFill>
            <a:srgbClr val="131B3A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630936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Рішення: skip connection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583680" y="30175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27376B"/>
          </a:solidFill>
          <a:ln w="12700">
            <a:solidFill>
              <a:srgbClr val="00D4B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6583680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ReLU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127248"/>
            <a:ext cx="292608" cy="2926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549640" y="30175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27376B"/>
          </a:solidFill>
          <a:ln w="12700">
            <a:solidFill>
              <a:srgbClr val="00D4B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1"/>
          <p:cNvSpPr/>
          <p:nvPr/>
        </p:nvSpPr>
        <p:spPr>
          <a:xfrm>
            <a:off x="8549640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ReLU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583680" y="2697480"/>
            <a:ext cx="3429000" cy="0"/>
          </a:xfrm>
          <a:prstGeom prst="line">
            <a:avLst/>
          </a:prstGeom>
          <a:noFill/>
          <a:ln w="28575">
            <a:solidFill>
              <a:srgbClr val="00D4B5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3"/>
          <p:cNvSpPr/>
          <p:nvPr/>
        </p:nvSpPr>
        <p:spPr>
          <a:xfrm>
            <a:off x="6583680" y="2697480"/>
            <a:ext cx="0" cy="320040"/>
          </a:xfrm>
          <a:prstGeom prst="line">
            <a:avLst/>
          </a:prstGeom>
          <a:noFill/>
          <a:ln w="28575">
            <a:solidFill>
              <a:srgbClr val="00D4B5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4"/>
          <p:cNvSpPr/>
          <p:nvPr/>
        </p:nvSpPr>
        <p:spPr>
          <a:xfrm>
            <a:off x="10012680" y="2697480"/>
            <a:ext cx="0" cy="320040"/>
          </a:xfrm>
          <a:prstGeom prst="line">
            <a:avLst/>
          </a:prstGeom>
          <a:noFill/>
          <a:ln w="28575">
            <a:solidFill>
              <a:srgbClr val="00D4B5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5"/>
          <p:cNvSpPr/>
          <p:nvPr/>
        </p:nvSpPr>
        <p:spPr>
          <a:xfrm>
            <a:off x="7772400" y="23957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(skip)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85800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H(x) = F(x) + x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309360" y="4069080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Мережа навчається лише різниці (корекції) до вхідного сигналу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шар не потрібен — легко вивести F(x) ≈ 0, сигнал просто проходить далі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Дозволило будувати мережі на сотні шарів (ResNet-50, -101, -152)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легше навчитись додавати невелику корекцію до сигналу, ніж відновлювати весь сигнал з нуля.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ResNet18 і Transfer Learning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Ідея: не вчити мережу «бачити» з нуля — взяти вже навчену на ImageNet і донавчити під свою задачу.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E8EEF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91540" y="2308860"/>
            <a:ext cx="502920" cy="502920"/>
          </a:xfrm>
          <a:prstGeom prst="ellipse">
            <a:avLst/>
          </a:prstGeom>
          <a:solidFill>
            <a:srgbClr val="D8E2F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97" y="24220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677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54480" y="267004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«заморожено», навчаємо лише новий FC-шар. Підходить, коли даних мало.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210312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8EEF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6377940" y="2308860"/>
            <a:ext cx="502920" cy="502920"/>
          </a:xfrm>
          <a:prstGeom prst="ellipse">
            <a:avLst/>
          </a:prstGeom>
          <a:solidFill>
            <a:srgbClr val="F7DCD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097" y="242201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2677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040880" y="267004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Розморожуємо частину/всі шари backbone і донавчаємо з малим learning rate. Підходить, коли даних достатньо.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886200"/>
            <a:ext cx="6858000" cy="2148840"/>
          </a:xfrm>
          <a:prstGeom prst="roundRect">
            <a:avLst>
              <a:gd name="adj" fmla="val 3404"/>
            </a:avLst>
          </a:prstGeom>
          <a:solidFill>
            <a:srgbClr val="0D1428"/>
          </a:solidFill>
          <a:ln w="12700">
            <a:solidFill>
              <a:srgbClr val="2A3A6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2"/>
          <p:cNvSpPr/>
          <p:nvPr/>
        </p:nvSpPr>
        <p:spPr>
          <a:xfrm>
            <a:off x="868680" y="4050792"/>
            <a:ext cx="640080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torchvision.models as models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torch.nn as nn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models.resnet18(pretrained=True)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param in model.parameters():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param.requires_grad = False  # заморозка backbone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model.fc = nn.Linear(model.fc.in_features, num_classes)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726680" y="3886200"/>
            <a:ext cx="3794760" cy="2148840"/>
          </a:xfrm>
          <a:prstGeom prst="roundRect">
            <a:avLst>
              <a:gd name="adj" fmla="val 4255"/>
            </a:avLst>
          </a:prstGeom>
          <a:solidFill>
            <a:srgbClr val="131B3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4"/>
          <p:cNvSpPr/>
          <p:nvPr/>
        </p:nvSpPr>
        <p:spPr>
          <a:xfrm>
            <a:off x="800100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на практиці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001000" y="437083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D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8001000" y="5074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вже за кілька епох — замість десятків епох навчання з нуля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класифікації до YOLO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Класифікація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88920" y="3200400"/>
            <a:ext cx="914400" cy="914400"/>
          </a:xfrm>
          <a:prstGeom prst="ellipse">
            <a:avLst/>
          </a:prstGeom>
          <a:solidFill>
            <a:srgbClr val="AFC0E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660" y="340614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63040" y="5029200"/>
            <a:ext cx="3566160" cy="502920"/>
          </a:xfrm>
          <a:prstGeom prst="roundRect">
            <a:avLst>
              <a:gd name="adj" fmla="val 54545"/>
            </a:avLst>
          </a:prstGeom>
          <a:solidFill>
            <a:srgbClr val="131B3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1463040" y="5029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клас: «кіт» · 0.94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відповідь для всього зображення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64008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Детекція об'єктів</a:t>
            </a:r>
            <a:endParaRPr lang="en-US" sz="1600" dirty="0"/>
          </a:p>
        </p:txBody>
      </p:sp>
      <p:pic>
        <p:nvPicPr>
          <p:cNvPr id="2052" name="Picture 4" descr="137,500+ Dog And Cat Stock Photos, Pictures &amp; Royalty-Free Images - iStock  | Dog and cat outside, Pets, Dog">
            <a:extLst>
              <a:ext uri="{FF2B5EF4-FFF2-40B4-BE49-F238E27FC236}">
                <a16:creationId xmlns:a16="http://schemas.microsoft.com/office/drawing/2014/main" id="{1A639E1A-D431-9E8A-0B9B-5AFD62CE3C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4" r="7541"/>
          <a:stretch>
            <a:fillRect/>
          </a:stretch>
        </p:blipFill>
        <p:spPr bwMode="auto">
          <a:xfrm>
            <a:off x="6922092" y="2584974"/>
            <a:ext cx="3948157" cy="23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hape 12"/>
          <p:cNvSpPr/>
          <p:nvPr/>
        </p:nvSpPr>
        <p:spPr>
          <a:xfrm>
            <a:off x="9070848" y="3059643"/>
            <a:ext cx="1055918" cy="1836504"/>
          </a:xfrm>
          <a:prstGeom prst="rect">
            <a:avLst/>
          </a:prstGeom>
          <a:solidFill>
            <a:srgbClr val="D9E2EF">
              <a:alpha val="0"/>
            </a:srgbClr>
          </a:solidFill>
          <a:ln w="31750">
            <a:solidFill>
              <a:srgbClr val="00D4B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9305516" y="2826161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 0.91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51036" y="2793028"/>
            <a:ext cx="1446304" cy="2053291"/>
          </a:xfrm>
          <a:prstGeom prst="rect">
            <a:avLst/>
          </a:prstGeom>
          <a:solidFill>
            <a:srgbClr val="D9E2EF">
              <a:alpha val="0"/>
            </a:srgbClr>
          </a:solidFill>
          <a:ln w="31750">
            <a:solidFill>
              <a:srgbClr val="E0613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7955280" y="256075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 0.87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00800" y="5349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об'єктів, координати + клас + впевненість</a:t>
            </a:r>
            <a:endParaRPr lang="en-US" sz="11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36118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pic>
        <p:nvPicPr>
          <p:cNvPr id="2050" name="Picture 2" descr="Six reasons why cats make great pets | Animal Humane Society">
            <a:extLst>
              <a:ext uri="{FF2B5EF4-FFF2-40B4-BE49-F238E27FC236}">
                <a16:creationId xmlns:a16="http://schemas.microsoft.com/office/drawing/2014/main" id="{EE764C30-C487-18BD-B525-E57BCC107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792" y="2590800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YOLO: принцип роботи та інференс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E8EEF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«Дивиться лише один раз» (You Only Look Once)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260604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828800" y="260604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2468880" y="260604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3108960" y="260604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188720" y="32461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1828800" y="32461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2468880" y="32461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108960" y="32461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1188720" y="388620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1828800" y="388620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2468880" y="388620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108960" y="388620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1188720" y="452628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1828800" y="452628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2468880" y="452628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108960" y="452628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1828800" y="3246120"/>
            <a:ext cx="1280160" cy="1280160"/>
          </a:xfrm>
          <a:prstGeom prst="rect">
            <a:avLst/>
          </a:prstGeom>
          <a:solidFill>
            <a:srgbClr val="E8EEFB">
              <a:alpha val="0"/>
            </a:srgbClr>
          </a:solidFill>
          <a:ln w="38100">
            <a:solidFill>
              <a:srgbClr val="00D4B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914400" y="5303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клітинка передбачає: box + клас + confidence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173736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0D1428"/>
          </a:solidFill>
          <a:ln w="12700">
            <a:solidFill>
              <a:srgbClr val="2A3A6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172200" y="1901952"/>
            <a:ext cx="51206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ultralytics import YOLO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YOLO('yolov8n.pt')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model.predict('photo.jpg')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box in results[0].boxes: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print(box.cls, box.conf, box.xyxy)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0" y="393192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131B3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217920" y="40965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Вихід моделі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443484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xyxy — координати bounding box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— впевненість моделі (0–1)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— передбачений клас об'єкта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прибирає зайві дублікати боксів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Pneumonia Detection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38460" y="662940"/>
            <a:ext cx="777240" cy="777240"/>
          </a:xfrm>
          <a:prstGeom prst="ellipse">
            <a:avLst/>
          </a:prstGeom>
          <a:solidFill>
            <a:srgbClr val="2737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339" y="83781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 рентген-знімків грудної клітини: Normal vs Pneumonia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035040" y="2011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Рекомендований підхід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35040" y="2468880"/>
            <a:ext cx="365760" cy="365760"/>
          </a:xfrm>
          <a:prstGeom prst="ellipse">
            <a:avLst/>
          </a:prstGeom>
          <a:solidFill>
            <a:srgbClr val="00D4B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60350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37960" y="2432304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Дослідити датасет: розподіл класів, розміри зображень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35040" y="3035808"/>
            <a:ext cx="365760" cy="365760"/>
          </a:xfrm>
          <a:prstGeom prst="ellipse">
            <a:avLst/>
          </a:prstGeom>
          <a:solidFill>
            <a:srgbClr val="00D4B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603504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37960" y="29992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Аугментація + нормалізація (дані мало- і незбалансовані)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35040" y="3602736"/>
            <a:ext cx="365760" cy="365760"/>
          </a:xfrm>
          <a:prstGeom prst="ellipse">
            <a:avLst/>
          </a:prstGeom>
          <a:solidFill>
            <a:srgbClr val="00D4B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6"/>
          <p:cNvSpPr/>
          <p:nvPr/>
        </p:nvSpPr>
        <p:spPr>
          <a:xfrm>
            <a:off x="6035040" y="3602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37960" y="35661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на ResNet18 (як на слайді 6)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035040" y="4169664"/>
            <a:ext cx="365760" cy="365760"/>
          </a:xfrm>
          <a:prstGeom prst="ellipse">
            <a:avLst/>
          </a:prstGeom>
          <a:solidFill>
            <a:srgbClr val="00D4B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19"/>
          <p:cNvSpPr/>
          <p:nvPr/>
        </p:nvSpPr>
        <p:spPr>
          <a:xfrm>
            <a:off x="6035040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37960" y="413308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через precision / recall / confusion matrix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D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2"/>
          <p:cNvSpPr/>
          <p:nvPr/>
        </p:nvSpPr>
        <p:spPr>
          <a:xfrm>
            <a:off x="914400" y="48646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На що звернути увагу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14400" y="5193792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може «обманювати» при незбалансованих класах — модель, що завжди каже «Pneumonia», вже матиме високу accuracy. Тому головні метрики тут: precision, recall і confusion matrix, а не сама accuracy.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pic>
        <p:nvPicPr>
          <p:cNvPr id="1026" name="Picture 2" descr="Efficient Pneumonia Detection in Chest Xray Images Using Deep Transfer  Learning">
            <a:extLst>
              <a:ext uri="{FF2B5EF4-FFF2-40B4-BE49-F238E27FC236}">
                <a16:creationId xmlns:a16="http://schemas.microsoft.com/office/drawing/2014/main" id="{26AF9DCB-F1A6-E6E7-64DA-56C9C724E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05" y="2142687"/>
            <a:ext cx="5238002" cy="2128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Шлях, який ми пройшли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2980" y="2354580"/>
            <a:ext cx="777240" cy="777240"/>
          </a:xfrm>
          <a:prstGeom prst="ellipse">
            <a:avLst/>
          </a:prstGeom>
          <a:solidFill>
            <a:srgbClr val="2737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859" y="252945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528" y="2542032"/>
            <a:ext cx="292608" cy="292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11780" y="2354580"/>
            <a:ext cx="777240" cy="777240"/>
          </a:xfrm>
          <a:prstGeom prst="ellipse">
            <a:avLst/>
          </a:prstGeom>
          <a:solidFill>
            <a:srgbClr val="2737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659" y="2529459"/>
            <a:ext cx="427482" cy="4274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2316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542032"/>
            <a:ext cx="292608" cy="29260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640580" y="2354580"/>
            <a:ext cx="777240" cy="777240"/>
          </a:xfrm>
          <a:prstGeom prst="ellipse">
            <a:avLst/>
          </a:prstGeom>
          <a:solidFill>
            <a:srgbClr val="2737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5459" y="2529459"/>
            <a:ext cx="427482" cy="42748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5196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2542032"/>
            <a:ext cx="292608" cy="29260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469380" y="2354580"/>
            <a:ext cx="777240" cy="777240"/>
          </a:xfrm>
          <a:prstGeom prst="ellipse">
            <a:avLst/>
          </a:prstGeom>
          <a:solidFill>
            <a:srgbClr val="2737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259" y="2529459"/>
            <a:ext cx="427482" cy="42748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08076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2542032"/>
            <a:ext cx="292608" cy="292608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8298180" y="2354580"/>
            <a:ext cx="777240" cy="777240"/>
          </a:xfrm>
          <a:prstGeom prst="ellipse">
            <a:avLst/>
          </a:prstGeom>
          <a:solidFill>
            <a:srgbClr val="2737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3059" y="2529459"/>
            <a:ext cx="427482" cy="427482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90956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1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2542032"/>
            <a:ext cx="292608" cy="292608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10126980" y="2354580"/>
            <a:ext cx="777240" cy="777240"/>
          </a:xfrm>
          <a:prstGeom prst="ellipse">
            <a:avLst/>
          </a:prstGeom>
          <a:solidFill>
            <a:srgbClr val="2737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1859" y="2529459"/>
            <a:ext cx="427482" cy="42748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73836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FDCF5"/>
                </a:solidFill>
                <a:latin typeface="Calibri" pitchFamily="34" charset="0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7" name="Shape 14"/>
          <p:cNvSpPr/>
          <p:nvPr/>
        </p:nvSpPr>
        <p:spPr>
          <a:xfrm>
            <a:off x="640080" y="425196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D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 15"/>
          <p:cNvSpPr/>
          <p:nvPr/>
        </p:nvSpPr>
        <p:spPr>
          <a:xfrm>
            <a:off x="91440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ідея заняття</a:t>
            </a:r>
            <a:endParaRPr lang="en-US" sz="1300" dirty="0"/>
          </a:p>
        </p:txBody>
      </p:sp>
      <p:sp>
        <p:nvSpPr>
          <p:cNvPr id="29" name="Text 16"/>
          <p:cNvSpPr/>
          <p:nvPr/>
        </p:nvSpPr>
        <p:spPr>
          <a:xfrm>
            <a:off x="914400" y="477316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архітектура вирішувала конкретну проблему попередньої: глибина (AlexNet), деградація градієнтів (ResNet), брак даних (transfer learning), кілька об'єктів на фото (YOLO). Медична задача — це той самий transfer learning, застосований там, де помилка коштує дорого.</a:t>
            </a:r>
            <a:endParaRPr lang="en-US" sz="1300" dirty="0"/>
          </a:p>
        </p:txBody>
      </p:sp>
      <p:sp>
        <p:nvSpPr>
          <p:cNvPr id="30" name="Text 17"/>
          <p:cNvSpPr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Питання та обговорення</a:t>
            </a:r>
            <a:endParaRPr lang="en-US" sz="1600" dirty="0"/>
          </a:p>
        </p:txBody>
      </p:sp>
      <p:sp>
        <p:nvSpPr>
          <p:cNvPr id="31" name="Shape 18"/>
          <p:cNvSpPr/>
          <p:nvPr/>
        </p:nvSpPr>
        <p:spPr>
          <a:xfrm>
            <a:off x="10995660" y="6012180"/>
            <a:ext cx="502920" cy="502920"/>
          </a:xfrm>
          <a:prstGeom prst="ellipse">
            <a:avLst/>
          </a:prstGeom>
          <a:solidFill>
            <a:srgbClr val="2737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08817" y="6125337"/>
            <a:ext cx="276606" cy="276606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1445</Words>
  <Application>Microsoft Macintosh PowerPoint</Application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CNN: від MNIST до медичної діагностики</dc:title>
  <dc:subject>PptxGenJS Presentation</dc:subject>
  <dc:creator>Dmytro Shtefan</dc:creator>
  <cp:lastModifiedBy>Штефан Дмитро</cp:lastModifiedBy>
  <cp:revision>3</cp:revision>
  <dcterms:created xsi:type="dcterms:W3CDTF">2026-06-25T20:31:25Z</dcterms:created>
  <dcterms:modified xsi:type="dcterms:W3CDTF">2026-06-25T22:28:27Z</dcterms:modified>
</cp:coreProperties>
</file>