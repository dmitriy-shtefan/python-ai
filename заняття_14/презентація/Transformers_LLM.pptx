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456"/>
    <a:srgbClr val="141B45"/>
    <a:srgbClr val="0B4AC3"/>
    <a:srgbClr val="0B4A98"/>
    <a:srgbClr val="0B4A30"/>
    <a:srgbClr val="0B1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5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97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141B45">
              <a:alpha val="53333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10241280" y="274320"/>
            <a:ext cx="2194560" cy="2194560"/>
          </a:xfrm>
          <a:prstGeom prst="ellipse">
            <a:avLst/>
          </a:prstGeom>
          <a:solidFill>
            <a:srgbClr val="1B2456">
              <a:alpha val="48627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kern="0" spc="3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АІ ДОДАТКІВ З ВИКОРИСТАННЯМ </a:t>
            </a:r>
            <a:r>
              <a:rPr lang="en-US" sz="1300" b="1" kern="0" spc="3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Епоха Трансформерів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Мовні Моделі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RNN до GPT: як машини навчились розуміти контекст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45655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4434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Hugging Face Transformers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ЗАНЯТТЯ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ми сьогодні розберемо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9257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46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RNN та LSTM не впорались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1122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послідовної обробки тексту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3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276697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5877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Революція Self-Attention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29535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Механізм уваги — серце трансформера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223760" y="26243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3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3608222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429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архітектури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25880" y="3794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(BERT), Decoder (GPT), Encoder-Decoder (T5)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223760" y="34655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3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548640" y="4306824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4449470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2702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LLM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25880" y="46360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Авторегресійна генерація тексту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23760" y="430682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3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" y="5290718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5111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325880" y="547725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Бібліотека transformers: класифікація та генерація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223760" y="51480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A3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8229600" y="178308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3"/>
          <p:cNvSpPr/>
          <p:nvPr/>
        </p:nvSpPr>
        <p:spPr>
          <a:xfrm>
            <a:off x="85496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заняття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549640" y="2468880"/>
            <a:ext cx="2743200" cy="154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кінця заняття ви запустите справжню мовну модель локально та зрозумієте, що відбувається «під капотом» у ChatGPT, BERT і подібних системах.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 · 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RNN та LSTM не впорались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Уявіть, що ви читаєте речення по одному слову, і щоразу, дочитуючи нове слово, ви мусите забути трохи з того, що було на початку. Це і є RNN.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додала «пам'ять» (ворота забування/збереження), але слова все одно обробляються по черзі — одне за одним, послідовно.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07" y="4142232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20240" y="39319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1920240" y="39319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сидів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407" y="414223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39319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9"/>
          <p:cNvSpPr/>
          <p:nvPr/>
        </p:nvSpPr>
        <p:spPr>
          <a:xfrm>
            <a:off x="3291840" y="39319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007" y="4142232"/>
            <a:ext cx="219456" cy="2194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63440" y="393192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1"/>
          <p:cNvSpPr/>
          <p:nvPr/>
        </p:nvSpPr>
        <p:spPr>
          <a:xfrm>
            <a:off x="4663440" y="393192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килимі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Повільно · не паралелиться · «забуває» далекий контекст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0" y="1600200"/>
            <a:ext cx="5212080" cy="3520440"/>
          </a:xfrm>
          <a:prstGeom prst="roundRect">
            <a:avLst>
              <a:gd name="adj" fmla="val 3117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4"/>
          <p:cNvSpPr/>
          <p:nvPr/>
        </p:nvSpPr>
        <p:spPr>
          <a:xfrm>
            <a:off x="6720840" y="187452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599" y="200527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1874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проблема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720840" y="260604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Послідовна обробка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щоб обробити слово №100, потрібно спочатку обробити слова 1-99.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інформація з початку довгого тексту «розмивається» і губиться.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паралелізму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неможливо ефективно використати GPU для навчання на великих текстах.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 · ПРОРИВ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людина читає речення, мозок одразу пов'язує слова між собою — не по черзі. Attention дозволяє моделі робити те саме: дивитись на ВСІ слова одночасно і визначати, які з них найважливіші.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 сидів на килимі, бо </a:t>
            </a:r>
            <a:r>
              <a:rPr lang="en-US" sz="16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він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був м'яким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що посилається «він»? Attention обчислює зв'язок цього слова з усіма іншими і «бачить» — найсильніший зв'язок з «килимі».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0920" y="1527048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872984" y="1527048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сидів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26480" y="2386584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сидів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385048" y="1527048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26480" y="289864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897112" y="1527048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килимі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26480" y="3410712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килимі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409176" y="1527048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він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0" y="3922776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він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60920" y="1874520"/>
            <a:ext cx="475488" cy="475488"/>
          </a:xfrm>
          <a:prstGeom prst="rect">
            <a:avLst/>
          </a:prstGeom>
          <a:solidFill>
            <a:srgbClr val="BB565A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7872984" y="1874520"/>
            <a:ext cx="475488" cy="475488"/>
          </a:xfrm>
          <a:prstGeom prst="rect">
            <a:avLst/>
          </a:prstGeom>
          <a:solidFill>
            <a:srgbClr val="4932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8385048" y="1874520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897112" y="1874520"/>
            <a:ext cx="475488" cy="475488"/>
          </a:xfrm>
          <a:prstGeom prst="rect">
            <a:avLst/>
          </a:prstGeom>
          <a:solidFill>
            <a:srgbClr val="8D4859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9409176" y="1874520"/>
            <a:ext cx="475488" cy="475488"/>
          </a:xfrm>
          <a:prstGeom prst="rect">
            <a:avLst/>
          </a:prstGeom>
          <a:solidFill>
            <a:srgbClr val="DD605A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7360920" y="2386584"/>
            <a:ext cx="475488" cy="475488"/>
          </a:xfrm>
          <a:prstGeom prst="rect">
            <a:avLst/>
          </a:prstGeom>
          <a:solidFill>
            <a:srgbClr val="3D2F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7872984" y="2386584"/>
            <a:ext cx="475488" cy="475488"/>
          </a:xfrm>
          <a:prstGeom prst="rect">
            <a:avLst/>
          </a:prstGeom>
          <a:solidFill>
            <a:srgbClr val="A44F59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8385048" y="2386584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8897112" y="2386584"/>
            <a:ext cx="475488" cy="475488"/>
          </a:xfrm>
          <a:prstGeom prst="rect">
            <a:avLst/>
          </a:prstGeom>
          <a:solidFill>
            <a:srgbClr val="4932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9409176" y="2386584"/>
            <a:ext cx="475488" cy="475488"/>
          </a:xfrm>
          <a:prstGeom prst="rect">
            <a:avLst/>
          </a:prstGeom>
          <a:solidFill>
            <a:srgbClr val="4932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7360920" y="2898648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7872984" y="2898648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8385048" y="2898648"/>
            <a:ext cx="475488" cy="475488"/>
          </a:xfrm>
          <a:prstGeom prst="rect">
            <a:avLst/>
          </a:prstGeom>
          <a:solidFill>
            <a:srgbClr val="8D4859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8897112" y="2898648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9409176" y="2898648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7360920" y="3410712"/>
            <a:ext cx="475488" cy="475488"/>
          </a:xfrm>
          <a:prstGeom prst="rect">
            <a:avLst/>
          </a:prstGeom>
          <a:solidFill>
            <a:srgbClr val="764058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7872984" y="3410712"/>
            <a:ext cx="475488" cy="475488"/>
          </a:xfrm>
          <a:prstGeom prst="rect">
            <a:avLst/>
          </a:prstGeom>
          <a:solidFill>
            <a:srgbClr val="4932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8385048" y="3410712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8897112" y="3410712"/>
            <a:ext cx="475488" cy="475488"/>
          </a:xfrm>
          <a:prstGeom prst="rect">
            <a:avLst/>
          </a:prstGeom>
          <a:solidFill>
            <a:srgbClr val="BB565A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9409176" y="3410712"/>
            <a:ext cx="475488" cy="475488"/>
          </a:xfrm>
          <a:prstGeom prst="rect">
            <a:avLst/>
          </a:prstGeom>
          <a:solidFill>
            <a:srgbClr val="5F3958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7360920" y="3922776"/>
            <a:ext cx="475488" cy="475488"/>
          </a:xfrm>
          <a:prstGeom prst="rect">
            <a:avLst/>
          </a:prstGeom>
          <a:solidFill>
            <a:srgbClr val="DD605A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7872984" y="3922776"/>
            <a:ext cx="475488" cy="475488"/>
          </a:xfrm>
          <a:prstGeom prst="rect">
            <a:avLst/>
          </a:prstGeom>
          <a:solidFill>
            <a:srgbClr val="3D2F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8385048" y="3922776"/>
            <a:ext cx="475488" cy="475488"/>
          </a:xfrm>
          <a:prstGeom prst="rect">
            <a:avLst/>
          </a:prstGeom>
          <a:solidFill>
            <a:srgbClr val="322B57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Shape 39"/>
          <p:cNvSpPr/>
          <p:nvPr/>
        </p:nvSpPr>
        <p:spPr>
          <a:xfrm>
            <a:off x="8897112" y="3922776"/>
            <a:ext cx="475488" cy="475488"/>
          </a:xfrm>
          <a:prstGeom prst="rect">
            <a:avLst/>
          </a:prstGeom>
          <a:solidFill>
            <a:srgbClr val="E8645B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Shape 40"/>
          <p:cNvSpPr/>
          <p:nvPr/>
        </p:nvSpPr>
        <p:spPr>
          <a:xfrm>
            <a:off x="9409176" y="3922776"/>
            <a:ext cx="475488" cy="475488"/>
          </a:xfrm>
          <a:prstGeom prst="rect">
            <a:avLst/>
          </a:prstGeom>
          <a:solidFill>
            <a:srgbClr val="8D4859"/>
          </a:solidFill>
          <a:ln w="12700">
            <a:solidFill>
              <a:srgbClr val="0B133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6126480" y="46360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Матриця уваги: чим насиченіший колір — тим сильніший зв'язок між словами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 · МЕХАНІКА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рахується увага: Query, Key, Value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працює як пошук у Google: ви вводите запит (Query), система порівнює його із заголовками документів (Key), і повертає вміст найбільш релевантних документів (Value).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39"/>
            <a:ext cx="3337560" cy="1607037"/>
          </a:xfrm>
          <a:prstGeom prst="roundRect">
            <a:avLst>
              <a:gd name="adj" fmla="val 6452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2807208"/>
            <a:ext cx="457200" cy="45720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92608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558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«Що я шукаю?» — запит від поточного слова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60520" y="2606040"/>
            <a:ext cx="3337560" cy="1607036"/>
          </a:xfrm>
          <a:prstGeom prst="roundRect">
            <a:avLst>
              <a:gd name="adj" fmla="val 6452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4434840" y="2807208"/>
            <a:ext cx="457200" cy="45720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9260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33558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(K)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34840" y="365760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«Що пропонує кожне інше слово?» — ключ-заголовок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0" y="2606040"/>
            <a:ext cx="3337560" cy="1607036"/>
          </a:xfrm>
          <a:prstGeom prst="roundRect">
            <a:avLst>
              <a:gd name="adj" fmla="val 6452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8046720" y="2807208"/>
            <a:ext cx="457200" cy="45720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29260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33558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46720" y="365760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«Який зміст у цьому слові?» — фактичний вміст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52170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6"/>
          <p:cNvSpPr/>
          <p:nvPr/>
        </p:nvSpPr>
        <p:spPr>
          <a:xfrm>
            <a:off x="548640" y="45217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× K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4668012"/>
            <a:ext cx="201168" cy="20116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291840" y="452170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18"/>
          <p:cNvSpPr/>
          <p:nvPr/>
        </p:nvSpPr>
        <p:spPr>
          <a:xfrm>
            <a:off x="3291840" y="45217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4668012"/>
            <a:ext cx="201168" cy="20116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035040" y="452170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0"/>
          <p:cNvSpPr/>
          <p:nvPr/>
        </p:nvSpPr>
        <p:spPr>
          <a:xfrm>
            <a:off x="6035040" y="45217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V</a:t>
            </a:r>
            <a:endParaRPr lang="en-US" sz="13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668012"/>
            <a:ext cx="201168" cy="20116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778240" y="452170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2"/>
          <p:cNvSpPr/>
          <p:nvPr/>
        </p:nvSpPr>
        <p:spPr>
          <a:xfrm>
            <a:off x="8778240" y="45217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 · АРХІТЕКТУРА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Transformer: цеглинки лего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— це лише один «блок». З цих блоків, як з лего, будують різні архітектури моделей.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77610" y="2304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77610" y="26700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1177610" y="26700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77610" y="344728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177610" y="34472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0450" y="2624328"/>
            <a:ext cx="3200400" cy="1554480"/>
          </a:xfrm>
          <a:prstGeom prst="roundRect">
            <a:avLst>
              <a:gd name="adj" fmla="val 5882"/>
            </a:avLst>
          </a:prstGeom>
          <a:ln w="19050">
            <a:solidFill>
              <a:srgbClr val="32D2C0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177610" y="4178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шарів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55" y="3127248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15370" y="2304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15370" y="26700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115370" y="267004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15370" y="344728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4"/>
          <p:cNvSpPr/>
          <p:nvPr/>
        </p:nvSpPr>
        <p:spPr>
          <a:xfrm>
            <a:off x="6115370" y="34472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78210" y="2624328"/>
            <a:ext cx="3200400" cy="1554480"/>
          </a:xfrm>
          <a:prstGeom prst="roundRect">
            <a:avLst>
              <a:gd name="adj" fmla="val 5882"/>
            </a:avLst>
          </a:prstGeom>
          <a:ln w="19050">
            <a:solidFill>
              <a:srgbClr val="FF6B5B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6"/>
          <p:cNvSpPr/>
          <p:nvPr/>
        </p:nvSpPr>
        <p:spPr>
          <a:xfrm>
            <a:off x="6115370" y="4178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шарів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77610" y="472744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як цеглинки лего: однакові блоки уваги можна скласти по-різному — і отримати моделі з різними «суперсилами».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 · АРХІТЕКТУРА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родини архітектур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«Читач і аналітик»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251960"/>
            <a:ext cx="2880360" cy="0"/>
          </a:xfrm>
          <a:prstGeom prst="line">
            <a:avLst/>
          </a:prstGeom>
          <a:noFill/>
          <a:ln w="12700">
            <a:solidFill>
              <a:srgbClr val="1B245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Розуміння тексту: класифікація, NER, пошук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41" y="22695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880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17720" y="3291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1772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«Оповідач»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17720" y="4251960"/>
            <a:ext cx="2880360" cy="0"/>
          </a:xfrm>
          <a:prstGeom prst="line">
            <a:avLst/>
          </a:prstGeom>
          <a:noFill/>
          <a:ln w="12700">
            <a:solidFill>
              <a:srgbClr val="1B245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5"/>
          <p:cNvSpPr/>
          <p:nvPr/>
        </p:nvSpPr>
        <p:spPr>
          <a:xfrm>
            <a:off x="4617720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тексту: чат-боти, написання текстів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46720" y="17830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7"/>
          <p:cNvSpPr/>
          <p:nvPr/>
        </p:nvSpPr>
        <p:spPr>
          <a:xfrm>
            <a:off x="8366760" y="2103120"/>
            <a:ext cx="640080" cy="64008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2269541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66760" y="28803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Encoder-Decoder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366760" y="3291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66760" y="37490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«Перекладач»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366760" y="4251960"/>
            <a:ext cx="2880360" cy="0"/>
          </a:xfrm>
          <a:prstGeom prst="line">
            <a:avLst/>
          </a:prstGeom>
          <a:noFill/>
          <a:ln w="12700">
            <a:solidFill>
              <a:srgbClr val="1B245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2"/>
          <p:cNvSpPr/>
          <p:nvPr/>
        </p:nvSpPr>
        <p:spPr>
          <a:xfrm>
            <a:off x="8366760" y="4434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Трансформація: переклад, підсумовування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4 · LLM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LLM і авторегресія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Велика мовна модель (LLM) — це Decoder-модель, навчена на величезних обсягах тексту. Вона генерує текст по одному токену, щоразу передбачаючи найімовірніше наступне слово, виходячи з усього попереднього контексту.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Сьогодні гарна </a:t>
            </a: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погода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880360"/>
            <a:ext cx="228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447288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777240" y="344728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Сьогодні гарна погода </a:t>
            </a: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630168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197096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8"/>
          <p:cNvSpPr/>
          <p:nvPr/>
        </p:nvSpPr>
        <p:spPr>
          <a:xfrm>
            <a:off x="777240" y="419709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Сьогодні гарна погода і </a:t>
            </a:r>
            <a:r>
              <a:rPr lang="en-US" sz="1300" b="1" dirty="0">
                <a:solidFill>
                  <a:srgbClr val="FF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сонячно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379976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680960" y="269748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0"/>
          <p:cNvSpPr/>
          <p:nvPr/>
        </p:nvSpPr>
        <p:spPr>
          <a:xfrm>
            <a:off x="7955280" y="2926080"/>
            <a:ext cx="502920" cy="50292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039" y="305683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95360" y="29260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Авторегресія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955280" y="3566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нове слово додається до контексту, і модель генерує наступне, дивлячись на все, що було сказано раніше. Процес повторюється, доки текст не завершено.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325073-12B2-1F43-77BD-59ADDA092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7" y="0"/>
            <a:ext cx="10265229" cy="684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396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СТАРТ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transformers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— це «магазин готових моделей». Бібліотека transformers дозволяє завантажити будь-яку з тисяч відкритих моделей буквально у 2-3 рядки коду через pipeline — готовий «рецепт» для типової задачі.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3170225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063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 — одна функція на все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30168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3737153"/>
            <a:ext cx="197510" cy="1975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6301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Тисячі моделей на hf.co/models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197096"/>
            <a:ext cx="411480" cy="41148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4304081"/>
            <a:ext cx="197510" cy="1975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197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Класифікація, генерація, переклад, Q&amp;A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16002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070B2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0"/>
          <p:cNvSpPr/>
          <p:nvPr/>
        </p:nvSpPr>
        <p:spPr>
          <a:xfrm>
            <a:off x="6400800" y="1801368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transformers </a:t>
            </a:r>
            <a:r>
              <a:rPr lang="en-US" sz="140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pipeline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Завантажуємо готовий «рецепт» задачі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pipeline(</a:t>
            </a:r>
            <a:r>
              <a:rPr lang="en-US" sz="140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"sentiment-analysis"</a:t>
            </a: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clf(</a:t>
            </a:r>
            <a:r>
              <a:rPr lang="en-US" sz="140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"Цей курс дуже цікавий!"</a:t>
            </a: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Класифікація тексту: sentiment-analysis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070B2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1984248"/>
            <a:ext cx="5486400" cy="300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transformers </a:t>
            </a:r>
            <a:r>
              <a:rPr lang="en-US" sz="135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pipeline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 = pipeline(</a:t>
            </a:r>
            <a:r>
              <a:rPr lang="en-US" sz="13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"sentiment-analysis"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 = [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"Я в захваті від цієї лекції!",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"Дуже втомився після іспитів."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35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classifier(texts):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print(r[</a:t>
            </a:r>
            <a:r>
              <a:rPr lang="en-US" sz="13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"label"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r[</a:t>
            </a:r>
            <a:r>
              <a:rPr lang="en-US" sz="13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"score"</a:t>
            </a: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1783080"/>
            <a:ext cx="4754880" cy="1463040"/>
          </a:xfrm>
          <a:prstGeom prst="roundRect">
            <a:avLst>
              <a:gd name="adj" fmla="val 6250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відбувається в кожному рядку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23317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 завантажує модель + токенізатор; classifier(text) повертає список словників з label і score (впевненість).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Очікуваний вивід: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79476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070B2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132320" y="39959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0.9986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0.9123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Генерація тексту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070B2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22960" y="1801368"/>
            <a:ext cx="5671844" cy="3385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transformers </a:t>
            </a:r>
            <a:r>
              <a:rPr lang="en-US" sz="1250" dirty="0">
                <a:solidFill>
                  <a:srgbClr val="FF8F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pipeline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 = pipeline(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"text-generation",</a:t>
            </a:r>
            <a:endParaRPr lang="en-US" sz="1250" dirty="0"/>
          </a:p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model="gpt2"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generator(</a:t>
            </a:r>
            <a:endParaRPr lang="en-US" sz="1250" dirty="0"/>
          </a:p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"Artificial intelligence can help small businesses by",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max_new_tokens=</a:t>
            </a:r>
            <a:r>
              <a:rPr lang="en-US" sz="1250" dirty="0">
                <a:solidFill>
                  <a:srgbClr val="7E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</a:t>
            </a:r>
            <a:r>
              <a:rPr lang="en-US" sz="1250" dirty="0">
                <a:solidFill>
                  <a:srgbClr val="7E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print(output[</a:t>
            </a:r>
            <a:r>
              <a:rPr lang="en-US" sz="1250" dirty="0">
                <a:solidFill>
                  <a:srgbClr val="7E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r>
              <a:rPr lang="en-US" sz="1250" dirty="0">
                <a:solidFill>
                  <a:srgbClr val="7E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"generated_text"</a:t>
            </a: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754880" cy="2228316"/>
          </a:xfrm>
          <a:prstGeom prst="roundRect">
            <a:avLst>
              <a:gd name="adj" fmla="val 4762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генерації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21488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max_new_tokens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скільки нових слів(токенів) згенерувати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«креативність»: ближче до 0 — передбачуваніше, вище — різноманітніше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88480" y="4011396"/>
            <a:ext cx="4754880" cy="1325880"/>
          </a:xfrm>
          <a:prstGeom prst="roundRect">
            <a:avLst>
              <a:gd name="adj" fmla="val 6897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117080" y="4212564"/>
            <a:ext cx="411480" cy="41148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065" y="4319549"/>
            <a:ext cx="197510" cy="19751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65720" y="4148556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сама вирішує, яке слово найімовірніше наступне — і так, токен за токеном, народжується відповідь.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0B4AC3">
              <a:alpha val="23137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ми сьогодні пройшли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856232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79776" y="169164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2779776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5623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10912" y="169164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8"/>
          <p:cNvSpPr/>
          <p:nvPr/>
        </p:nvSpPr>
        <p:spPr>
          <a:xfrm>
            <a:off x="5010912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1856232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242048" y="169164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0"/>
          <p:cNvSpPr/>
          <p:nvPr/>
        </p:nvSpPr>
        <p:spPr>
          <a:xfrm>
            <a:off x="7242048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1856232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473184" y="169164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2"/>
          <p:cNvSpPr/>
          <p:nvPr/>
        </p:nvSpPr>
        <p:spPr>
          <a:xfrm>
            <a:off x="9473184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2606040"/>
            <a:ext cx="6035040" cy="3017520"/>
          </a:xfrm>
          <a:prstGeom prst="roundRect">
            <a:avLst>
              <a:gd name="adj" fmla="val 3636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4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97728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22960" y="352044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Спробуйте інший pipeline на власному тексті: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question-answering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модель відповідає на питання за контекстом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32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sentiment-analysis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uk-UA" sz="13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 ризикованих повідомлень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858000" y="2606040"/>
            <a:ext cx="4754880" cy="3017520"/>
          </a:xfrm>
          <a:prstGeom prst="roundRect">
            <a:avLst>
              <a:gd name="adj" fmla="val 3636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en-UA" dirty="0"/>
          </a:p>
        </p:txBody>
      </p:sp>
      <p:sp>
        <p:nvSpPr>
          <p:cNvPr id="25" name="Shape 18"/>
          <p:cNvSpPr/>
          <p:nvPr/>
        </p:nvSpPr>
        <p:spPr>
          <a:xfrm>
            <a:off x="7132320" y="2834640"/>
            <a:ext cx="548640" cy="54864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297728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6384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Зроблено на занятті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13232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Зрозуміли проблему RNN/LSTM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7132320" y="39044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Розібрали механізм Self-Attention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7132320" y="42885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Порівняли BERT / GPT / T5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7132320" y="46725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Запустили sentiment-analysis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7132320" y="50566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Згенерували текст </a:t>
            </a:r>
            <a:r>
              <a:rPr lang="ru-RU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text-generation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4766</TotalTime>
  <Words>985</Words>
  <Application>Microsoft Macintosh PowerPoint</Application>
  <PresentationFormat>Widescreen</PresentationFormat>
  <Paragraphs>187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Епоха Трансформерів та Мовні Моделі</dc:title>
  <dc:subject>PptxGenJS Presentation</dc:subject>
  <dc:creator>Dmytro</dc:creator>
  <cp:lastModifiedBy>Штефан Дмитро</cp:lastModifiedBy>
  <cp:revision>7</cp:revision>
  <dcterms:created xsi:type="dcterms:W3CDTF">2026-06-28T13:42:06Z</dcterms:created>
  <dcterms:modified xsi:type="dcterms:W3CDTF">2026-07-01T21:10:35Z</dcterms:modified>
</cp:coreProperties>
</file>